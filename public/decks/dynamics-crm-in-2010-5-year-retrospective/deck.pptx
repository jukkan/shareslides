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0" r:id="rId1"/>
  </p:sldMasterIdLst>
  <p:sldIdLst>
    <p:sldId id="256" r:id="rId2"/>
    <p:sldId id="276" r:id="rId3"/>
    <p:sldId id="277" r:id="rId4"/>
    <p:sldId id="258" r:id="rId5"/>
    <p:sldId id="257" r:id="rId6"/>
    <p:sldId id="259" r:id="rId7"/>
    <p:sldId id="260" r:id="rId8"/>
    <p:sldId id="261" r:id="rId9"/>
    <p:sldId id="275" r:id="rId10"/>
    <p:sldId id="263" r:id="rId11"/>
    <p:sldId id="264" r:id="rId12"/>
    <p:sldId id="265" r:id="rId13"/>
    <p:sldId id="271" r:id="rId14"/>
    <p:sldId id="269" r:id="rId15"/>
    <p:sldId id="27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3" autoAdjust="0"/>
    <p:restoredTop sz="94660"/>
  </p:normalViewPr>
  <p:slideViewPr>
    <p:cSldViewPr snapToGrid="0">
      <p:cViewPr varScale="1">
        <p:scale>
          <a:sx n="91" d="100"/>
          <a:sy n="91" d="100"/>
        </p:scale>
        <p:origin x="39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E82810-A981-4479-9104-F55AC2C74349}" type="doc">
      <dgm:prSet loTypeId="urn:microsoft.com/office/officeart/2005/8/layout/default" loCatId="list" qsTypeId="urn:microsoft.com/office/officeart/2005/8/quickstyle/simple4" qsCatId="simple" csTypeId="urn:microsoft.com/office/officeart/2005/8/colors/accent1_2" csCatId="accent1" phldr="1"/>
      <dgm:spPr/>
      <dgm:t>
        <a:bodyPr/>
        <a:lstStyle/>
        <a:p>
          <a:endParaRPr lang="en-US"/>
        </a:p>
      </dgm:t>
    </dgm:pt>
    <dgm:pt modelId="{491EEC92-C16A-4DB1-BDA4-5FD53FBA1A18}">
      <dgm:prSet phldrT="[Text]"/>
      <dgm:spPr/>
      <dgm:t>
        <a:bodyPr/>
        <a:lstStyle/>
        <a:p>
          <a:r>
            <a:rPr lang="en-US" smtClean="0"/>
            <a:t>Cloud</a:t>
          </a:r>
          <a:endParaRPr lang="en-US"/>
        </a:p>
      </dgm:t>
    </dgm:pt>
    <dgm:pt modelId="{BFDBF5C1-9AF6-4361-AD30-09A409771E7B}" type="parTrans" cxnId="{4B3F94CD-C74C-40F1-9B00-98D91D29C21C}">
      <dgm:prSet/>
      <dgm:spPr/>
      <dgm:t>
        <a:bodyPr/>
        <a:lstStyle/>
        <a:p>
          <a:endParaRPr lang="en-US"/>
        </a:p>
      </dgm:t>
    </dgm:pt>
    <dgm:pt modelId="{CE87CA19-9800-4D2E-BBAB-AC18C1F93014}" type="sibTrans" cxnId="{4B3F94CD-C74C-40F1-9B00-98D91D29C21C}">
      <dgm:prSet/>
      <dgm:spPr/>
      <dgm:t>
        <a:bodyPr/>
        <a:lstStyle/>
        <a:p>
          <a:endParaRPr lang="en-US"/>
        </a:p>
      </dgm:t>
    </dgm:pt>
    <dgm:pt modelId="{68AC9E81-A6C8-40F5-AD3F-2B0EFACB5A02}">
      <dgm:prSet/>
      <dgm:spPr/>
      <dgm:t>
        <a:bodyPr/>
        <a:lstStyle/>
        <a:p>
          <a:r>
            <a:rPr lang="en-US" smtClean="0"/>
            <a:t>Mobile</a:t>
          </a:r>
          <a:endParaRPr lang="en-US"/>
        </a:p>
      </dgm:t>
    </dgm:pt>
    <dgm:pt modelId="{5A4766C7-E283-48A7-BB53-858F865BCC42}" type="parTrans" cxnId="{FC7E5A27-7511-49AE-8F8F-303605BAD4E8}">
      <dgm:prSet/>
      <dgm:spPr/>
      <dgm:t>
        <a:bodyPr/>
        <a:lstStyle/>
        <a:p>
          <a:endParaRPr lang="en-US"/>
        </a:p>
      </dgm:t>
    </dgm:pt>
    <dgm:pt modelId="{024B07BF-4635-49F9-932F-DA4D98AF929E}" type="sibTrans" cxnId="{FC7E5A27-7511-49AE-8F8F-303605BAD4E8}">
      <dgm:prSet/>
      <dgm:spPr/>
      <dgm:t>
        <a:bodyPr/>
        <a:lstStyle/>
        <a:p>
          <a:endParaRPr lang="en-US"/>
        </a:p>
      </dgm:t>
    </dgm:pt>
    <dgm:pt modelId="{CB426C4E-AED1-4067-B441-D03830C7985C}">
      <dgm:prSet/>
      <dgm:spPr/>
      <dgm:t>
        <a:bodyPr/>
        <a:lstStyle/>
        <a:p>
          <a:r>
            <a:rPr lang="en-US" smtClean="0"/>
            <a:t>Portals</a:t>
          </a:r>
          <a:endParaRPr lang="en-US"/>
        </a:p>
      </dgm:t>
    </dgm:pt>
    <dgm:pt modelId="{981B8605-BBFB-4BD5-A2A3-A288B9658959}" type="parTrans" cxnId="{4BAE3C95-8046-4EFD-BDE5-BFE75E3D4F3D}">
      <dgm:prSet/>
      <dgm:spPr/>
      <dgm:t>
        <a:bodyPr/>
        <a:lstStyle/>
        <a:p>
          <a:endParaRPr lang="en-US"/>
        </a:p>
      </dgm:t>
    </dgm:pt>
    <dgm:pt modelId="{4E965B16-1631-4992-BEBC-7867ED970974}" type="sibTrans" cxnId="{4BAE3C95-8046-4EFD-BDE5-BFE75E3D4F3D}">
      <dgm:prSet/>
      <dgm:spPr/>
      <dgm:t>
        <a:bodyPr/>
        <a:lstStyle/>
        <a:p>
          <a:endParaRPr lang="en-US"/>
        </a:p>
      </dgm:t>
    </dgm:pt>
    <dgm:pt modelId="{D1109DBB-F8F5-4985-BC99-FFAA3FB53459}">
      <dgm:prSet/>
      <dgm:spPr/>
      <dgm:t>
        <a:bodyPr/>
        <a:lstStyle/>
        <a:p>
          <a:r>
            <a:rPr lang="en-US" smtClean="0"/>
            <a:t>MS Office</a:t>
          </a:r>
          <a:endParaRPr lang="en-US"/>
        </a:p>
      </dgm:t>
    </dgm:pt>
    <dgm:pt modelId="{16248F61-522D-44D2-AB43-41C7CB9EED1D}" type="parTrans" cxnId="{82D17A2E-83BD-4886-805B-958DF0879B1C}">
      <dgm:prSet/>
      <dgm:spPr/>
      <dgm:t>
        <a:bodyPr/>
        <a:lstStyle/>
        <a:p>
          <a:endParaRPr lang="en-US"/>
        </a:p>
      </dgm:t>
    </dgm:pt>
    <dgm:pt modelId="{7A1AF476-15E6-431B-B4A2-175F7E04C855}" type="sibTrans" cxnId="{82D17A2E-83BD-4886-805B-958DF0879B1C}">
      <dgm:prSet/>
      <dgm:spPr/>
      <dgm:t>
        <a:bodyPr/>
        <a:lstStyle/>
        <a:p>
          <a:endParaRPr lang="en-US"/>
        </a:p>
      </dgm:t>
    </dgm:pt>
    <dgm:pt modelId="{3EC784D1-2402-421B-8D89-D053AB66F71B}">
      <dgm:prSet/>
      <dgm:spPr/>
      <dgm:t>
        <a:bodyPr/>
        <a:lstStyle/>
        <a:p>
          <a:r>
            <a:rPr lang="en-US" smtClean="0"/>
            <a:t>Social</a:t>
          </a:r>
          <a:endParaRPr lang="en-US"/>
        </a:p>
      </dgm:t>
    </dgm:pt>
    <dgm:pt modelId="{BAFC1D7E-6F81-426C-9C16-49E247CDCF96}" type="parTrans" cxnId="{85C89B72-9A9F-4490-B374-2D4E44E1896C}">
      <dgm:prSet/>
      <dgm:spPr/>
      <dgm:t>
        <a:bodyPr/>
        <a:lstStyle/>
        <a:p>
          <a:endParaRPr lang="en-US"/>
        </a:p>
      </dgm:t>
    </dgm:pt>
    <dgm:pt modelId="{4044200A-48B5-40FF-B55D-6051DD63E994}" type="sibTrans" cxnId="{85C89B72-9A9F-4490-B374-2D4E44E1896C}">
      <dgm:prSet/>
      <dgm:spPr/>
      <dgm:t>
        <a:bodyPr/>
        <a:lstStyle/>
        <a:p>
          <a:endParaRPr lang="en-US"/>
        </a:p>
      </dgm:t>
    </dgm:pt>
    <dgm:pt modelId="{09B34D69-8D21-4F08-BAF6-E805487BF760}">
      <dgm:prSet/>
      <dgm:spPr/>
      <dgm:t>
        <a:bodyPr/>
        <a:lstStyle/>
        <a:p>
          <a:r>
            <a:rPr lang="en-US" smtClean="0"/>
            <a:t>Business app development/XRM</a:t>
          </a:r>
          <a:endParaRPr lang="en-US"/>
        </a:p>
      </dgm:t>
    </dgm:pt>
    <dgm:pt modelId="{62482ABA-C75E-4BE7-A257-C3E514856F5F}" type="parTrans" cxnId="{9AE1F8BB-9BD9-4EAF-BB0F-C4C8D89FFC42}">
      <dgm:prSet/>
      <dgm:spPr/>
      <dgm:t>
        <a:bodyPr/>
        <a:lstStyle/>
        <a:p>
          <a:endParaRPr lang="en-US"/>
        </a:p>
      </dgm:t>
    </dgm:pt>
    <dgm:pt modelId="{6CBC3E51-3468-44E6-8347-481170D30775}" type="sibTrans" cxnId="{9AE1F8BB-9BD9-4EAF-BB0F-C4C8D89FFC42}">
      <dgm:prSet/>
      <dgm:spPr/>
      <dgm:t>
        <a:bodyPr/>
        <a:lstStyle/>
        <a:p>
          <a:endParaRPr lang="en-US"/>
        </a:p>
      </dgm:t>
    </dgm:pt>
    <dgm:pt modelId="{915A6196-45A5-44F5-8294-5813DED5BACB}">
      <dgm:prSet/>
      <dgm:spPr/>
      <dgm:t>
        <a:bodyPr/>
        <a:lstStyle/>
        <a:p>
          <a:r>
            <a:rPr lang="en-US" smtClean="0"/>
            <a:t>Outlook</a:t>
          </a:r>
          <a:endParaRPr lang="en-US"/>
        </a:p>
      </dgm:t>
    </dgm:pt>
    <dgm:pt modelId="{EE23706D-D930-4907-B625-1EA3B5146A90}" type="parTrans" cxnId="{EFFB7AE5-9990-4370-AC8C-580F6D931770}">
      <dgm:prSet/>
      <dgm:spPr/>
      <dgm:t>
        <a:bodyPr/>
        <a:lstStyle/>
        <a:p>
          <a:endParaRPr lang="en-US"/>
        </a:p>
      </dgm:t>
    </dgm:pt>
    <dgm:pt modelId="{C4D7A9AD-FF96-4944-8D81-88485F7373C3}" type="sibTrans" cxnId="{EFFB7AE5-9990-4370-AC8C-580F6D931770}">
      <dgm:prSet/>
      <dgm:spPr/>
      <dgm:t>
        <a:bodyPr/>
        <a:lstStyle/>
        <a:p>
          <a:endParaRPr lang="en-US"/>
        </a:p>
      </dgm:t>
    </dgm:pt>
    <dgm:pt modelId="{102246CB-F38E-4484-8151-708A6F3C69A8}">
      <dgm:prSet/>
      <dgm:spPr/>
      <dgm:t>
        <a:bodyPr/>
        <a:lstStyle/>
        <a:p>
          <a:r>
            <a:rPr lang="en-US" smtClean="0"/>
            <a:t>SharePoint</a:t>
          </a:r>
          <a:endParaRPr lang="en-US"/>
        </a:p>
      </dgm:t>
    </dgm:pt>
    <dgm:pt modelId="{C4C0FC25-F9FB-49A3-9AD3-18D4671767E6}" type="parTrans" cxnId="{3BD13FA9-2418-4852-8163-577FD72996C8}">
      <dgm:prSet/>
      <dgm:spPr/>
      <dgm:t>
        <a:bodyPr/>
        <a:lstStyle/>
        <a:p>
          <a:endParaRPr lang="en-US"/>
        </a:p>
      </dgm:t>
    </dgm:pt>
    <dgm:pt modelId="{FFF7E7B3-16A9-4A42-B9FE-4C2DB954C2A4}" type="sibTrans" cxnId="{3BD13FA9-2418-4852-8163-577FD72996C8}">
      <dgm:prSet/>
      <dgm:spPr/>
      <dgm:t>
        <a:bodyPr/>
        <a:lstStyle/>
        <a:p>
          <a:endParaRPr lang="en-US"/>
        </a:p>
      </dgm:t>
    </dgm:pt>
    <dgm:pt modelId="{D48926CE-BF87-4590-A0E6-B470D40E6469}">
      <dgm:prSet/>
      <dgm:spPr/>
      <dgm:t>
        <a:bodyPr/>
        <a:lstStyle/>
        <a:p>
          <a:r>
            <a:rPr lang="en-US" smtClean="0"/>
            <a:t>ISV ecosystem</a:t>
          </a:r>
          <a:endParaRPr lang="en-US"/>
        </a:p>
      </dgm:t>
    </dgm:pt>
    <dgm:pt modelId="{D5446D3E-0CB5-481D-B52E-6115823020D7}" type="parTrans" cxnId="{2DE5DBD6-0ED6-4FFE-B18A-BE46242BA72F}">
      <dgm:prSet/>
      <dgm:spPr/>
      <dgm:t>
        <a:bodyPr/>
        <a:lstStyle/>
        <a:p>
          <a:endParaRPr lang="en-US"/>
        </a:p>
      </dgm:t>
    </dgm:pt>
    <dgm:pt modelId="{BF787812-B230-4813-832A-DE3954910430}" type="sibTrans" cxnId="{2DE5DBD6-0ED6-4FFE-B18A-BE46242BA72F}">
      <dgm:prSet/>
      <dgm:spPr/>
      <dgm:t>
        <a:bodyPr/>
        <a:lstStyle/>
        <a:p>
          <a:endParaRPr lang="en-US"/>
        </a:p>
      </dgm:t>
    </dgm:pt>
    <dgm:pt modelId="{1008C40B-AB1F-46B2-82CA-7076CCFC9920}">
      <dgm:prSet/>
      <dgm:spPr/>
      <dgm:t>
        <a:bodyPr/>
        <a:lstStyle/>
        <a:p>
          <a:r>
            <a:rPr lang="en-US" smtClean="0"/>
            <a:t>Solution management</a:t>
          </a:r>
          <a:endParaRPr lang="en-US"/>
        </a:p>
      </dgm:t>
    </dgm:pt>
    <dgm:pt modelId="{CF4A4EB1-6FB5-4016-925A-AFD4868DD961}" type="parTrans" cxnId="{9ED222C1-9CC9-4339-B8B9-775C41F37BAC}">
      <dgm:prSet/>
      <dgm:spPr/>
      <dgm:t>
        <a:bodyPr/>
        <a:lstStyle/>
        <a:p>
          <a:endParaRPr lang="en-US"/>
        </a:p>
      </dgm:t>
    </dgm:pt>
    <dgm:pt modelId="{93BCCC9C-CD2F-4638-876A-D027BE3647FF}" type="sibTrans" cxnId="{9ED222C1-9CC9-4339-B8B9-775C41F37BAC}">
      <dgm:prSet/>
      <dgm:spPr/>
      <dgm:t>
        <a:bodyPr/>
        <a:lstStyle/>
        <a:p>
          <a:endParaRPr lang="en-US"/>
        </a:p>
      </dgm:t>
    </dgm:pt>
    <dgm:pt modelId="{958D9D89-6DF0-4AE0-9330-BAA9830F2AA4}">
      <dgm:prSet/>
      <dgm:spPr/>
      <dgm:t>
        <a:bodyPr/>
        <a:lstStyle/>
        <a:p>
          <a:r>
            <a:rPr lang="en-US" smtClean="0"/>
            <a:t>Charts &amp; dashboards</a:t>
          </a:r>
          <a:endParaRPr lang="en-US"/>
        </a:p>
      </dgm:t>
    </dgm:pt>
    <dgm:pt modelId="{A660D8EF-5184-4C3B-AE6B-B03569C9A195}" type="parTrans" cxnId="{2E1B14D9-2745-474A-824C-AD5689198C69}">
      <dgm:prSet/>
      <dgm:spPr/>
      <dgm:t>
        <a:bodyPr/>
        <a:lstStyle/>
        <a:p>
          <a:endParaRPr lang="en-US"/>
        </a:p>
      </dgm:t>
    </dgm:pt>
    <dgm:pt modelId="{2E8BC4B5-74F6-45A1-B5AC-990A4BF36F70}" type="sibTrans" cxnId="{2E1B14D9-2745-474A-824C-AD5689198C69}">
      <dgm:prSet/>
      <dgm:spPr/>
      <dgm:t>
        <a:bodyPr/>
        <a:lstStyle/>
        <a:p>
          <a:endParaRPr lang="en-US"/>
        </a:p>
      </dgm:t>
    </dgm:pt>
    <dgm:pt modelId="{314B92C3-F85E-4812-9C81-B040A8FE1585}">
      <dgm:prSet/>
      <dgm:spPr/>
      <dgm:t>
        <a:bodyPr/>
        <a:lstStyle/>
        <a:p>
          <a:r>
            <a:rPr lang="en-US" smtClean="0"/>
            <a:t>MSFT organization</a:t>
          </a:r>
          <a:endParaRPr lang="en-US"/>
        </a:p>
      </dgm:t>
    </dgm:pt>
    <dgm:pt modelId="{359A6CBF-DA9B-43EB-9C6D-8495248A9984}" type="parTrans" cxnId="{55AFD3AE-DA53-4CF2-9ED7-03934DEACD28}">
      <dgm:prSet/>
      <dgm:spPr/>
      <dgm:t>
        <a:bodyPr/>
        <a:lstStyle/>
        <a:p>
          <a:endParaRPr lang="en-US"/>
        </a:p>
      </dgm:t>
    </dgm:pt>
    <dgm:pt modelId="{8C57807A-4D28-4E84-983D-9E659D7A4710}" type="sibTrans" cxnId="{55AFD3AE-DA53-4CF2-9ED7-03934DEACD28}">
      <dgm:prSet/>
      <dgm:spPr/>
      <dgm:t>
        <a:bodyPr/>
        <a:lstStyle/>
        <a:p>
          <a:endParaRPr lang="en-US"/>
        </a:p>
      </dgm:t>
    </dgm:pt>
    <dgm:pt modelId="{4C8C0DB6-30DE-4B99-AB87-3EADD33F2E2D}" type="pres">
      <dgm:prSet presAssocID="{BCE82810-A981-4479-9104-F55AC2C74349}" presName="diagram" presStyleCnt="0">
        <dgm:presLayoutVars>
          <dgm:dir/>
          <dgm:resizeHandles val="exact"/>
        </dgm:presLayoutVars>
      </dgm:prSet>
      <dgm:spPr/>
      <dgm:t>
        <a:bodyPr/>
        <a:lstStyle/>
        <a:p>
          <a:endParaRPr lang="en-US"/>
        </a:p>
      </dgm:t>
    </dgm:pt>
    <dgm:pt modelId="{FD2496F0-3002-4513-AD93-788CAD55C8D6}" type="pres">
      <dgm:prSet presAssocID="{491EEC92-C16A-4DB1-BDA4-5FD53FBA1A18}" presName="node" presStyleLbl="node1" presStyleIdx="0" presStyleCnt="12">
        <dgm:presLayoutVars>
          <dgm:bulletEnabled val="1"/>
        </dgm:presLayoutVars>
      </dgm:prSet>
      <dgm:spPr/>
      <dgm:t>
        <a:bodyPr/>
        <a:lstStyle/>
        <a:p>
          <a:endParaRPr lang="en-US"/>
        </a:p>
      </dgm:t>
    </dgm:pt>
    <dgm:pt modelId="{906DC8A9-58A2-4ECD-B9A7-EF5253C3572D}" type="pres">
      <dgm:prSet presAssocID="{CE87CA19-9800-4D2E-BBAB-AC18C1F93014}" presName="sibTrans" presStyleCnt="0"/>
      <dgm:spPr/>
    </dgm:pt>
    <dgm:pt modelId="{00247F65-879A-42F5-83FB-D9886BFCCC6A}" type="pres">
      <dgm:prSet presAssocID="{68AC9E81-A6C8-40F5-AD3F-2B0EFACB5A02}" presName="node" presStyleLbl="node1" presStyleIdx="1" presStyleCnt="12">
        <dgm:presLayoutVars>
          <dgm:bulletEnabled val="1"/>
        </dgm:presLayoutVars>
      </dgm:prSet>
      <dgm:spPr/>
      <dgm:t>
        <a:bodyPr/>
        <a:lstStyle/>
        <a:p>
          <a:endParaRPr lang="en-US"/>
        </a:p>
      </dgm:t>
    </dgm:pt>
    <dgm:pt modelId="{1EC695B4-4EE3-4524-9D24-1168DC9F4267}" type="pres">
      <dgm:prSet presAssocID="{024B07BF-4635-49F9-932F-DA4D98AF929E}" presName="sibTrans" presStyleCnt="0"/>
      <dgm:spPr/>
    </dgm:pt>
    <dgm:pt modelId="{E11C55E4-82AC-4C22-9AA8-D284971C2DEC}" type="pres">
      <dgm:prSet presAssocID="{CB426C4E-AED1-4067-B441-D03830C7985C}" presName="node" presStyleLbl="node1" presStyleIdx="2" presStyleCnt="12">
        <dgm:presLayoutVars>
          <dgm:bulletEnabled val="1"/>
        </dgm:presLayoutVars>
      </dgm:prSet>
      <dgm:spPr/>
      <dgm:t>
        <a:bodyPr/>
        <a:lstStyle/>
        <a:p>
          <a:endParaRPr lang="en-US"/>
        </a:p>
      </dgm:t>
    </dgm:pt>
    <dgm:pt modelId="{8E6196C2-F7F1-4154-A44F-C26F9418FA36}" type="pres">
      <dgm:prSet presAssocID="{4E965B16-1631-4992-BEBC-7867ED970974}" presName="sibTrans" presStyleCnt="0"/>
      <dgm:spPr/>
    </dgm:pt>
    <dgm:pt modelId="{60A98B07-00B5-489B-9C97-5DC5745CFEC8}" type="pres">
      <dgm:prSet presAssocID="{D1109DBB-F8F5-4985-BC99-FFAA3FB53459}" presName="node" presStyleLbl="node1" presStyleIdx="3" presStyleCnt="12">
        <dgm:presLayoutVars>
          <dgm:bulletEnabled val="1"/>
        </dgm:presLayoutVars>
      </dgm:prSet>
      <dgm:spPr/>
      <dgm:t>
        <a:bodyPr/>
        <a:lstStyle/>
        <a:p>
          <a:endParaRPr lang="en-US"/>
        </a:p>
      </dgm:t>
    </dgm:pt>
    <dgm:pt modelId="{1013963B-7F20-4A8F-9064-294411112A3D}" type="pres">
      <dgm:prSet presAssocID="{7A1AF476-15E6-431B-B4A2-175F7E04C855}" presName="sibTrans" presStyleCnt="0"/>
      <dgm:spPr/>
    </dgm:pt>
    <dgm:pt modelId="{95595560-2A28-43DE-8B7A-EB1C154591AB}" type="pres">
      <dgm:prSet presAssocID="{3EC784D1-2402-421B-8D89-D053AB66F71B}" presName="node" presStyleLbl="node1" presStyleIdx="4" presStyleCnt="12">
        <dgm:presLayoutVars>
          <dgm:bulletEnabled val="1"/>
        </dgm:presLayoutVars>
      </dgm:prSet>
      <dgm:spPr/>
      <dgm:t>
        <a:bodyPr/>
        <a:lstStyle/>
        <a:p>
          <a:endParaRPr lang="en-US"/>
        </a:p>
      </dgm:t>
    </dgm:pt>
    <dgm:pt modelId="{C8AD3CA0-97EE-4860-A7FE-06091697A557}" type="pres">
      <dgm:prSet presAssocID="{4044200A-48B5-40FF-B55D-6051DD63E994}" presName="sibTrans" presStyleCnt="0"/>
      <dgm:spPr/>
    </dgm:pt>
    <dgm:pt modelId="{2F9D5ABC-2FF1-4C16-BBFE-025F7D394A2E}" type="pres">
      <dgm:prSet presAssocID="{09B34D69-8D21-4F08-BAF6-E805487BF760}" presName="node" presStyleLbl="node1" presStyleIdx="5" presStyleCnt="12">
        <dgm:presLayoutVars>
          <dgm:bulletEnabled val="1"/>
        </dgm:presLayoutVars>
      </dgm:prSet>
      <dgm:spPr/>
      <dgm:t>
        <a:bodyPr/>
        <a:lstStyle/>
        <a:p>
          <a:endParaRPr lang="en-US"/>
        </a:p>
      </dgm:t>
    </dgm:pt>
    <dgm:pt modelId="{A12A280B-1CF8-4A31-985A-090C0CC4E047}" type="pres">
      <dgm:prSet presAssocID="{6CBC3E51-3468-44E6-8347-481170D30775}" presName="sibTrans" presStyleCnt="0"/>
      <dgm:spPr/>
    </dgm:pt>
    <dgm:pt modelId="{D5C388D7-B678-4B7A-B6FA-11C5088D9E1E}" type="pres">
      <dgm:prSet presAssocID="{915A6196-45A5-44F5-8294-5813DED5BACB}" presName="node" presStyleLbl="node1" presStyleIdx="6" presStyleCnt="12">
        <dgm:presLayoutVars>
          <dgm:bulletEnabled val="1"/>
        </dgm:presLayoutVars>
      </dgm:prSet>
      <dgm:spPr/>
      <dgm:t>
        <a:bodyPr/>
        <a:lstStyle/>
        <a:p>
          <a:endParaRPr lang="en-US"/>
        </a:p>
      </dgm:t>
    </dgm:pt>
    <dgm:pt modelId="{F58F615D-BC28-4EBC-8ACB-D7F32C15718E}" type="pres">
      <dgm:prSet presAssocID="{C4D7A9AD-FF96-4944-8D81-88485F7373C3}" presName="sibTrans" presStyleCnt="0"/>
      <dgm:spPr/>
    </dgm:pt>
    <dgm:pt modelId="{1E58B7D8-7F54-4256-AE9C-9B92A75C4BE3}" type="pres">
      <dgm:prSet presAssocID="{102246CB-F38E-4484-8151-708A6F3C69A8}" presName="node" presStyleLbl="node1" presStyleIdx="7" presStyleCnt="12">
        <dgm:presLayoutVars>
          <dgm:bulletEnabled val="1"/>
        </dgm:presLayoutVars>
      </dgm:prSet>
      <dgm:spPr/>
      <dgm:t>
        <a:bodyPr/>
        <a:lstStyle/>
        <a:p>
          <a:endParaRPr lang="en-US"/>
        </a:p>
      </dgm:t>
    </dgm:pt>
    <dgm:pt modelId="{DC81537A-4E03-4AAE-B226-4AB94741933F}" type="pres">
      <dgm:prSet presAssocID="{FFF7E7B3-16A9-4A42-B9FE-4C2DB954C2A4}" presName="sibTrans" presStyleCnt="0"/>
      <dgm:spPr/>
    </dgm:pt>
    <dgm:pt modelId="{0B56F76E-EB3D-4D40-B98E-23D6559816BA}" type="pres">
      <dgm:prSet presAssocID="{D48926CE-BF87-4590-A0E6-B470D40E6469}" presName="node" presStyleLbl="node1" presStyleIdx="8" presStyleCnt="12">
        <dgm:presLayoutVars>
          <dgm:bulletEnabled val="1"/>
        </dgm:presLayoutVars>
      </dgm:prSet>
      <dgm:spPr/>
      <dgm:t>
        <a:bodyPr/>
        <a:lstStyle/>
        <a:p>
          <a:endParaRPr lang="en-US"/>
        </a:p>
      </dgm:t>
    </dgm:pt>
    <dgm:pt modelId="{9B03C693-70EE-47E1-AA56-B8BCDB837E6F}" type="pres">
      <dgm:prSet presAssocID="{BF787812-B230-4813-832A-DE3954910430}" presName="sibTrans" presStyleCnt="0"/>
      <dgm:spPr/>
    </dgm:pt>
    <dgm:pt modelId="{82057114-6931-4E1D-B500-1A34FD3D6BAF}" type="pres">
      <dgm:prSet presAssocID="{1008C40B-AB1F-46B2-82CA-7076CCFC9920}" presName="node" presStyleLbl="node1" presStyleIdx="9" presStyleCnt="12">
        <dgm:presLayoutVars>
          <dgm:bulletEnabled val="1"/>
        </dgm:presLayoutVars>
      </dgm:prSet>
      <dgm:spPr/>
      <dgm:t>
        <a:bodyPr/>
        <a:lstStyle/>
        <a:p>
          <a:endParaRPr lang="en-US"/>
        </a:p>
      </dgm:t>
    </dgm:pt>
    <dgm:pt modelId="{DFC897D8-6467-45B2-966A-D9A15D1A51A7}" type="pres">
      <dgm:prSet presAssocID="{93BCCC9C-CD2F-4638-876A-D027BE3647FF}" presName="sibTrans" presStyleCnt="0"/>
      <dgm:spPr/>
    </dgm:pt>
    <dgm:pt modelId="{467E5917-1087-40D6-B8EF-0652924BB2A3}" type="pres">
      <dgm:prSet presAssocID="{958D9D89-6DF0-4AE0-9330-BAA9830F2AA4}" presName="node" presStyleLbl="node1" presStyleIdx="10" presStyleCnt="12">
        <dgm:presLayoutVars>
          <dgm:bulletEnabled val="1"/>
        </dgm:presLayoutVars>
      </dgm:prSet>
      <dgm:spPr/>
      <dgm:t>
        <a:bodyPr/>
        <a:lstStyle/>
        <a:p>
          <a:endParaRPr lang="en-US"/>
        </a:p>
      </dgm:t>
    </dgm:pt>
    <dgm:pt modelId="{54F3A921-104A-40CC-A1DD-368D39CC3C78}" type="pres">
      <dgm:prSet presAssocID="{2E8BC4B5-74F6-45A1-B5AC-990A4BF36F70}" presName="sibTrans" presStyleCnt="0"/>
      <dgm:spPr/>
    </dgm:pt>
    <dgm:pt modelId="{CEB29307-1B8C-4C45-89FE-914C5AD5AEB5}" type="pres">
      <dgm:prSet presAssocID="{314B92C3-F85E-4812-9C81-B040A8FE1585}" presName="node" presStyleLbl="node1" presStyleIdx="11" presStyleCnt="12">
        <dgm:presLayoutVars>
          <dgm:bulletEnabled val="1"/>
        </dgm:presLayoutVars>
      </dgm:prSet>
      <dgm:spPr/>
      <dgm:t>
        <a:bodyPr/>
        <a:lstStyle/>
        <a:p>
          <a:endParaRPr lang="en-US"/>
        </a:p>
      </dgm:t>
    </dgm:pt>
  </dgm:ptLst>
  <dgm:cxnLst>
    <dgm:cxn modelId="{4BAE3C95-8046-4EFD-BDE5-BFE75E3D4F3D}" srcId="{BCE82810-A981-4479-9104-F55AC2C74349}" destId="{CB426C4E-AED1-4067-B441-D03830C7985C}" srcOrd="2" destOrd="0" parTransId="{981B8605-BBFB-4BD5-A2A3-A288B9658959}" sibTransId="{4E965B16-1631-4992-BEBC-7867ED970974}"/>
    <dgm:cxn modelId="{55AFD3AE-DA53-4CF2-9ED7-03934DEACD28}" srcId="{BCE82810-A981-4479-9104-F55AC2C74349}" destId="{314B92C3-F85E-4812-9C81-B040A8FE1585}" srcOrd="11" destOrd="0" parTransId="{359A6CBF-DA9B-43EB-9C6D-8495248A9984}" sibTransId="{8C57807A-4D28-4E84-983D-9E659D7A4710}"/>
    <dgm:cxn modelId="{5E1FF5FF-5C27-4603-B7E2-60061D280ACD}" type="presOf" srcId="{1008C40B-AB1F-46B2-82CA-7076CCFC9920}" destId="{82057114-6931-4E1D-B500-1A34FD3D6BAF}" srcOrd="0" destOrd="0" presId="urn:microsoft.com/office/officeart/2005/8/layout/default"/>
    <dgm:cxn modelId="{2DE5DBD6-0ED6-4FFE-B18A-BE46242BA72F}" srcId="{BCE82810-A981-4479-9104-F55AC2C74349}" destId="{D48926CE-BF87-4590-A0E6-B470D40E6469}" srcOrd="8" destOrd="0" parTransId="{D5446D3E-0CB5-481D-B52E-6115823020D7}" sibTransId="{BF787812-B230-4813-832A-DE3954910430}"/>
    <dgm:cxn modelId="{286F09E8-8B1B-41B9-B611-3E95791F7B74}" type="presOf" srcId="{958D9D89-6DF0-4AE0-9330-BAA9830F2AA4}" destId="{467E5917-1087-40D6-B8EF-0652924BB2A3}" srcOrd="0" destOrd="0" presId="urn:microsoft.com/office/officeart/2005/8/layout/default"/>
    <dgm:cxn modelId="{9AE1F8BB-9BD9-4EAF-BB0F-C4C8D89FFC42}" srcId="{BCE82810-A981-4479-9104-F55AC2C74349}" destId="{09B34D69-8D21-4F08-BAF6-E805487BF760}" srcOrd="5" destOrd="0" parTransId="{62482ABA-C75E-4BE7-A257-C3E514856F5F}" sibTransId="{6CBC3E51-3468-44E6-8347-481170D30775}"/>
    <dgm:cxn modelId="{FC7E5A27-7511-49AE-8F8F-303605BAD4E8}" srcId="{BCE82810-A981-4479-9104-F55AC2C74349}" destId="{68AC9E81-A6C8-40F5-AD3F-2B0EFACB5A02}" srcOrd="1" destOrd="0" parTransId="{5A4766C7-E283-48A7-BB53-858F865BCC42}" sibTransId="{024B07BF-4635-49F9-932F-DA4D98AF929E}"/>
    <dgm:cxn modelId="{9ED222C1-9CC9-4339-B8B9-775C41F37BAC}" srcId="{BCE82810-A981-4479-9104-F55AC2C74349}" destId="{1008C40B-AB1F-46B2-82CA-7076CCFC9920}" srcOrd="9" destOrd="0" parTransId="{CF4A4EB1-6FB5-4016-925A-AFD4868DD961}" sibTransId="{93BCCC9C-CD2F-4638-876A-D027BE3647FF}"/>
    <dgm:cxn modelId="{0E975927-A9CC-49B2-BE64-5C10EA8F5D98}" type="presOf" srcId="{491EEC92-C16A-4DB1-BDA4-5FD53FBA1A18}" destId="{FD2496F0-3002-4513-AD93-788CAD55C8D6}" srcOrd="0" destOrd="0" presId="urn:microsoft.com/office/officeart/2005/8/layout/default"/>
    <dgm:cxn modelId="{C655A594-4E6C-45B2-84DA-7883129F7D48}" type="presOf" srcId="{09B34D69-8D21-4F08-BAF6-E805487BF760}" destId="{2F9D5ABC-2FF1-4C16-BBFE-025F7D394A2E}" srcOrd="0" destOrd="0" presId="urn:microsoft.com/office/officeart/2005/8/layout/default"/>
    <dgm:cxn modelId="{BDA0FDD5-8F9D-4BCE-A78E-87B278A15FF1}" type="presOf" srcId="{915A6196-45A5-44F5-8294-5813DED5BACB}" destId="{D5C388D7-B678-4B7A-B6FA-11C5088D9E1E}" srcOrd="0" destOrd="0" presId="urn:microsoft.com/office/officeart/2005/8/layout/default"/>
    <dgm:cxn modelId="{CBCD3A3A-5C54-4694-99D6-6E83C92F8D80}" type="presOf" srcId="{D1109DBB-F8F5-4985-BC99-FFAA3FB53459}" destId="{60A98B07-00B5-489B-9C97-5DC5745CFEC8}" srcOrd="0" destOrd="0" presId="urn:microsoft.com/office/officeart/2005/8/layout/default"/>
    <dgm:cxn modelId="{4B3F94CD-C74C-40F1-9B00-98D91D29C21C}" srcId="{BCE82810-A981-4479-9104-F55AC2C74349}" destId="{491EEC92-C16A-4DB1-BDA4-5FD53FBA1A18}" srcOrd="0" destOrd="0" parTransId="{BFDBF5C1-9AF6-4361-AD30-09A409771E7B}" sibTransId="{CE87CA19-9800-4D2E-BBAB-AC18C1F93014}"/>
    <dgm:cxn modelId="{749D3470-215F-43C8-9A19-919A3316D265}" type="presOf" srcId="{314B92C3-F85E-4812-9C81-B040A8FE1585}" destId="{CEB29307-1B8C-4C45-89FE-914C5AD5AEB5}" srcOrd="0" destOrd="0" presId="urn:microsoft.com/office/officeart/2005/8/layout/default"/>
    <dgm:cxn modelId="{3BD13FA9-2418-4852-8163-577FD72996C8}" srcId="{BCE82810-A981-4479-9104-F55AC2C74349}" destId="{102246CB-F38E-4484-8151-708A6F3C69A8}" srcOrd="7" destOrd="0" parTransId="{C4C0FC25-F9FB-49A3-9AD3-18D4671767E6}" sibTransId="{FFF7E7B3-16A9-4A42-B9FE-4C2DB954C2A4}"/>
    <dgm:cxn modelId="{6F8E2CE6-AE71-4E63-9EA8-DCFCCC98B209}" type="presOf" srcId="{68AC9E81-A6C8-40F5-AD3F-2B0EFACB5A02}" destId="{00247F65-879A-42F5-83FB-D9886BFCCC6A}" srcOrd="0" destOrd="0" presId="urn:microsoft.com/office/officeart/2005/8/layout/default"/>
    <dgm:cxn modelId="{82D17A2E-83BD-4886-805B-958DF0879B1C}" srcId="{BCE82810-A981-4479-9104-F55AC2C74349}" destId="{D1109DBB-F8F5-4985-BC99-FFAA3FB53459}" srcOrd="3" destOrd="0" parTransId="{16248F61-522D-44D2-AB43-41C7CB9EED1D}" sibTransId="{7A1AF476-15E6-431B-B4A2-175F7E04C855}"/>
    <dgm:cxn modelId="{85C89B72-9A9F-4490-B374-2D4E44E1896C}" srcId="{BCE82810-A981-4479-9104-F55AC2C74349}" destId="{3EC784D1-2402-421B-8D89-D053AB66F71B}" srcOrd="4" destOrd="0" parTransId="{BAFC1D7E-6F81-426C-9C16-49E247CDCF96}" sibTransId="{4044200A-48B5-40FF-B55D-6051DD63E994}"/>
    <dgm:cxn modelId="{672E266C-ADA1-4329-8797-9E7A53C6451B}" type="presOf" srcId="{D48926CE-BF87-4590-A0E6-B470D40E6469}" destId="{0B56F76E-EB3D-4D40-B98E-23D6559816BA}" srcOrd="0" destOrd="0" presId="urn:microsoft.com/office/officeart/2005/8/layout/default"/>
    <dgm:cxn modelId="{2F34DA4E-73CA-4306-B422-A070C3271C77}" type="presOf" srcId="{CB426C4E-AED1-4067-B441-D03830C7985C}" destId="{E11C55E4-82AC-4C22-9AA8-D284971C2DEC}" srcOrd="0" destOrd="0" presId="urn:microsoft.com/office/officeart/2005/8/layout/default"/>
    <dgm:cxn modelId="{56769A5F-8DE2-49C6-A191-372142084474}" type="presOf" srcId="{3EC784D1-2402-421B-8D89-D053AB66F71B}" destId="{95595560-2A28-43DE-8B7A-EB1C154591AB}" srcOrd="0" destOrd="0" presId="urn:microsoft.com/office/officeart/2005/8/layout/default"/>
    <dgm:cxn modelId="{2E1B14D9-2745-474A-824C-AD5689198C69}" srcId="{BCE82810-A981-4479-9104-F55AC2C74349}" destId="{958D9D89-6DF0-4AE0-9330-BAA9830F2AA4}" srcOrd="10" destOrd="0" parTransId="{A660D8EF-5184-4C3B-AE6B-B03569C9A195}" sibTransId="{2E8BC4B5-74F6-45A1-B5AC-990A4BF36F70}"/>
    <dgm:cxn modelId="{C217896A-3A28-4445-A4D9-D887A3AAD8DE}" type="presOf" srcId="{102246CB-F38E-4484-8151-708A6F3C69A8}" destId="{1E58B7D8-7F54-4256-AE9C-9B92A75C4BE3}" srcOrd="0" destOrd="0" presId="urn:microsoft.com/office/officeart/2005/8/layout/default"/>
    <dgm:cxn modelId="{A745DC19-49B9-48F6-9B8B-B502F12A2517}" type="presOf" srcId="{BCE82810-A981-4479-9104-F55AC2C74349}" destId="{4C8C0DB6-30DE-4B99-AB87-3EADD33F2E2D}" srcOrd="0" destOrd="0" presId="urn:microsoft.com/office/officeart/2005/8/layout/default"/>
    <dgm:cxn modelId="{EFFB7AE5-9990-4370-AC8C-580F6D931770}" srcId="{BCE82810-A981-4479-9104-F55AC2C74349}" destId="{915A6196-45A5-44F5-8294-5813DED5BACB}" srcOrd="6" destOrd="0" parTransId="{EE23706D-D930-4907-B625-1EA3B5146A90}" sibTransId="{C4D7A9AD-FF96-4944-8D81-88485F7373C3}"/>
    <dgm:cxn modelId="{C8A233FF-3921-4BF0-AB2E-287027837BEF}" type="presParOf" srcId="{4C8C0DB6-30DE-4B99-AB87-3EADD33F2E2D}" destId="{FD2496F0-3002-4513-AD93-788CAD55C8D6}" srcOrd="0" destOrd="0" presId="urn:microsoft.com/office/officeart/2005/8/layout/default"/>
    <dgm:cxn modelId="{1C89FA2E-421D-464E-BCCE-99FA96CB0D86}" type="presParOf" srcId="{4C8C0DB6-30DE-4B99-AB87-3EADD33F2E2D}" destId="{906DC8A9-58A2-4ECD-B9A7-EF5253C3572D}" srcOrd="1" destOrd="0" presId="urn:microsoft.com/office/officeart/2005/8/layout/default"/>
    <dgm:cxn modelId="{3E8E1498-0D7C-4174-AE7A-42C4BB4AC640}" type="presParOf" srcId="{4C8C0DB6-30DE-4B99-AB87-3EADD33F2E2D}" destId="{00247F65-879A-42F5-83FB-D9886BFCCC6A}" srcOrd="2" destOrd="0" presId="urn:microsoft.com/office/officeart/2005/8/layout/default"/>
    <dgm:cxn modelId="{5620AD4F-91C5-4678-9BD2-5A66A331F7AF}" type="presParOf" srcId="{4C8C0DB6-30DE-4B99-AB87-3EADD33F2E2D}" destId="{1EC695B4-4EE3-4524-9D24-1168DC9F4267}" srcOrd="3" destOrd="0" presId="urn:microsoft.com/office/officeart/2005/8/layout/default"/>
    <dgm:cxn modelId="{F8114982-811F-453B-9C57-F39D9B0D0635}" type="presParOf" srcId="{4C8C0DB6-30DE-4B99-AB87-3EADD33F2E2D}" destId="{E11C55E4-82AC-4C22-9AA8-D284971C2DEC}" srcOrd="4" destOrd="0" presId="urn:microsoft.com/office/officeart/2005/8/layout/default"/>
    <dgm:cxn modelId="{F84953F4-3E76-49A2-B831-5B373E6601AD}" type="presParOf" srcId="{4C8C0DB6-30DE-4B99-AB87-3EADD33F2E2D}" destId="{8E6196C2-F7F1-4154-A44F-C26F9418FA36}" srcOrd="5" destOrd="0" presId="urn:microsoft.com/office/officeart/2005/8/layout/default"/>
    <dgm:cxn modelId="{A40C9563-A872-448A-ACD5-A49AC51B7B57}" type="presParOf" srcId="{4C8C0DB6-30DE-4B99-AB87-3EADD33F2E2D}" destId="{60A98B07-00B5-489B-9C97-5DC5745CFEC8}" srcOrd="6" destOrd="0" presId="urn:microsoft.com/office/officeart/2005/8/layout/default"/>
    <dgm:cxn modelId="{297B8C46-85D2-4770-8DAA-68E2EB43C406}" type="presParOf" srcId="{4C8C0DB6-30DE-4B99-AB87-3EADD33F2E2D}" destId="{1013963B-7F20-4A8F-9064-294411112A3D}" srcOrd="7" destOrd="0" presId="urn:microsoft.com/office/officeart/2005/8/layout/default"/>
    <dgm:cxn modelId="{A69F684F-0CE0-4BCE-BDA3-770CB121B917}" type="presParOf" srcId="{4C8C0DB6-30DE-4B99-AB87-3EADD33F2E2D}" destId="{95595560-2A28-43DE-8B7A-EB1C154591AB}" srcOrd="8" destOrd="0" presId="urn:microsoft.com/office/officeart/2005/8/layout/default"/>
    <dgm:cxn modelId="{85F72323-8B1C-4387-A731-B55A1A77ABAC}" type="presParOf" srcId="{4C8C0DB6-30DE-4B99-AB87-3EADD33F2E2D}" destId="{C8AD3CA0-97EE-4860-A7FE-06091697A557}" srcOrd="9" destOrd="0" presId="urn:microsoft.com/office/officeart/2005/8/layout/default"/>
    <dgm:cxn modelId="{0D0AB18B-92D5-4142-9842-8682ADF18E59}" type="presParOf" srcId="{4C8C0DB6-30DE-4B99-AB87-3EADD33F2E2D}" destId="{2F9D5ABC-2FF1-4C16-BBFE-025F7D394A2E}" srcOrd="10" destOrd="0" presId="urn:microsoft.com/office/officeart/2005/8/layout/default"/>
    <dgm:cxn modelId="{ABC4FC06-0FE8-4855-B06F-D0D6E1B84F38}" type="presParOf" srcId="{4C8C0DB6-30DE-4B99-AB87-3EADD33F2E2D}" destId="{A12A280B-1CF8-4A31-985A-090C0CC4E047}" srcOrd="11" destOrd="0" presId="urn:microsoft.com/office/officeart/2005/8/layout/default"/>
    <dgm:cxn modelId="{056BCCA3-F6C9-4CCA-9596-F8ADAB8037AA}" type="presParOf" srcId="{4C8C0DB6-30DE-4B99-AB87-3EADD33F2E2D}" destId="{D5C388D7-B678-4B7A-B6FA-11C5088D9E1E}" srcOrd="12" destOrd="0" presId="urn:microsoft.com/office/officeart/2005/8/layout/default"/>
    <dgm:cxn modelId="{D2A70561-08F4-4771-A9D9-1983E164441D}" type="presParOf" srcId="{4C8C0DB6-30DE-4B99-AB87-3EADD33F2E2D}" destId="{F58F615D-BC28-4EBC-8ACB-D7F32C15718E}" srcOrd="13" destOrd="0" presId="urn:microsoft.com/office/officeart/2005/8/layout/default"/>
    <dgm:cxn modelId="{CDBF4225-95A9-446C-8DBA-A7D169E7B4B2}" type="presParOf" srcId="{4C8C0DB6-30DE-4B99-AB87-3EADD33F2E2D}" destId="{1E58B7D8-7F54-4256-AE9C-9B92A75C4BE3}" srcOrd="14" destOrd="0" presId="urn:microsoft.com/office/officeart/2005/8/layout/default"/>
    <dgm:cxn modelId="{ECAFE816-6DAE-4E0B-A6BE-1C0F048C2B73}" type="presParOf" srcId="{4C8C0DB6-30DE-4B99-AB87-3EADD33F2E2D}" destId="{DC81537A-4E03-4AAE-B226-4AB94741933F}" srcOrd="15" destOrd="0" presId="urn:microsoft.com/office/officeart/2005/8/layout/default"/>
    <dgm:cxn modelId="{02C408C2-F208-4962-B6A5-6F73D149710A}" type="presParOf" srcId="{4C8C0DB6-30DE-4B99-AB87-3EADD33F2E2D}" destId="{0B56F76E-EB3D-4D40-B98E-23D6559816BA}" srcOrd="16" destOrd="0" presId="urn:microsoft.com/office/officeart/2005/8/layout/default"/>
    <dgm:cxn modelId="{50B9AA15-593C-474D-8DC2-B1BE7F490D07}" type="presParOf" srcId="{4C8C0DB6-30DE-4B99-AB87-3EADD33F2E2D}" destId="{9B03C693-70EE-47E1-AA56-B8BCDB837E6F}" srcOrd="17" destOrd="0" presId="urn:microsoft.com/office/officeart/2005/8/layout/default"/>
    <dgm:cxn modelId="{F5D92D6A-FEB1-4B89-904D-089A9230AD84}" type="presParOf" srcId="{4C8C0DB6-30DE-4B99-AB87-3EADD33F2E2D}" destId="{82057114-6931-4E1D-B500-1A34FD3D6BAF}" srcOrd="18" destOrd="0" presId="urn:microsoft.com/office/officeart/2005/8/layout/default"/>
    <dgm:cxn modelId="{8D5E1C5D-5DB1-4973-8B21-2D09265F9873}" type="presParOf" srcId="{4C8C0DB6-30DE-4B99-AB87-3EADD33F2E2D}" destId="{DFC897D8-6467-45B2-966A-D9A15D1A51A7}" srcOrd="19" destOrd="0" presId="urn:microsoft.com/office/officeart/2005/8/layout/default"/>
    <dgm:cxn modelId="{DC10E474-B497-471B-BEA1-048A6E912F58}" type="presParOf" srcId="{4C8C0DB6-30DE-4B99-AB87-3EADD33F2E2D}" destId="{467E5917-1087-40D6-B8EF-0652924BB2A3}" srcOrd="20" destOrd="0" presId="urn:microsoft.com/office/officeart/2005/8/layout/default"/>
    <dgm:cxn modelId="{0CB46B3B-7B8D-4CD7-9B83-9CE2E243DAEF}" type="presParOf" srcId="{4C8C0DB6-30DE-4B99-AB87-3EADD33F2E2D}" destId="{54F3A921-104A-40CC-A1DD-368D39CC3C78}" srcOrd="21" destOrd="0" presId="urn:microsoft.com/office/officeart/2005/8/layout/default"/>
    <dgm:cxn modelId="{AA9F3CB3-FFA2-4599-91CC-D226E7718415}" type="presParOf" srcId="{4C8C0DB6-30DE-4B99-AB87-3EADD33F2E2D}" destId="{CEB29307-1B8C-4C45-89FE-914C5AD5AEB5}" srcOrd="2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2496F0-3002-4513-AD93-788CAD55C8D6}">
      <dsp:nvSpPr>
        <dsp:cNvPr id="0" name=""/>
        <dsp:cNvSpPr/>
      </dsp:nvSpPr>
      <dsp:spPr>
        <a:xfrm>
          <a:off x="443447" y="2150"/>
          <a:ext cx="2173518" cy="130411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smtClean="0"/>
            <a:t>Cloud</a:t>
          </a:r>
          <a:endParaRPr lang="en-US" sz="2000" kern="1200"/>
        </a:p>
      </dsp:txBody>
      <dsp:txXfrm>
        <a:off x="443447" y="2150"/>
        <a:ext cx="2173518" cy="1304111"/>
      </dsp:txXfrm>
    </dsp:sp>
    <dsp:sp modelId="{00247F65-879A-42F5-83FB-D9886BFCCC6A}">
      <dsp:nvSpPr>
        <dsp:cNvPr id="0" name=""/>
        <dsp:cNvSpPr/>
      </dsp:nvSpPr>
      <dsp:spPr>
        <a:xfrm>
          <a:off x="2834318" y="2150"/>
          <a:ext cx="2173518" cy="130411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smtClean="0"/>
            <a:t>Mobile</a:t>
          </a:r>
          <a:endParaRPr lang="en-US" sz="2000" kern="1200"/>
        </a:p>
      </dsp:txBody>
      <dsp:txXfrm>
        <a:off x="2834318" y="2150"/>
        <a:ext cx="2173518" cy="1304111"/>
      </dsp:txXfrm>
    </dsp:sp>
    <dsp:sp modelId="{E11C55E4-82AC-4C22-9AA8-D284971C2DEC}">
      <dsp:nvSpPr>
        <dsp:cNvPr id="0" name=""/>
        <dsp:cNvSpPr/>
      </dsp:nvSpPr>
      <dsp:spPr>
        <a:xfrm>
          <a:off x="5225188" y="2150"/>
          <a:ext cx="2173518" cy="130411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smtClean="0"/>
            <a:t>Portals</a:t>
          </a:r>
          <a:endParaRPr lang="en-US" sz="2000" kern="1200"/>
        </a:p>
      </dsp:txBody>
      <dsp:txXfrm>
        <a:off x="5225188" y="2150"/>
        <a:ext cx="2173518" cy="1304111"/>
      </dsp:txXfrm>
    </dsp:sp>
    <dsp:sp modelId="{60A98B07-00B5-489B-9C97-5DC5745CFEC8}">
      <dsp:nvSpPr>
        <dsp:cNvPr id="0" name=""/>
        <dsp:cNvSpPr/>
      </dsp:nvSpPr>
      <dsp:spPr>
        <a:xfrm>
          <a:off x="7616058" y="2150"/>
          <a:ext cx="2173518" cy="130411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smtClean="0"/>
            <a:t>MS Office</a:t>
          </a:r>
          <a:endParaRPr lang="en-US" sz="2000" kern="1200"/>
        </a:p>
      </dsp:txBody>
      <dsp:txXfrm>
        <a:off x="7616058" y="2150"/>
        <a:ext cx="2173518" cy="1304111"/>
      </dsp:txXfrm>
    </dsp:sp>
    <dsp:sp modelId="{95595560-2A28-43DE-8B7A-EB1C154591AB}">
      <dsp:nvSpPr>
        <dsp:cNvPr id="0" name=""/>
        <dsp:cNvSpPr/>
      </dsp:nvSpPr>
      <dsp:spPr>
        <a:xfrm>
          <a:off x="443447" y="1523613"/>
          <a:ext cx="2173518" cy="130411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smtClean="0"/>
            <a:t>Social</a:t>
          </a:r>
          <a:endParaRPr lang="en-US" sz="2000" kern="1200"/>
        </a:p>
      </dsp:txBody>
      <dsp:txXfrm>
        <a:off x="443447" y="1523613"/>
        <a:ext cx="2173518" cy="1304111"/>
      </dsp:txXfrm>
    </dsp:sp>
    <dsp:sp modelId="{2F9D5ABC-2FF1-4C16-BBFE-025F7D394A2E}">
      <dsp:nvSpPr>
        <dsp:cNvPr id="0" name=""/>
        <dsp:cNvSpPr/>
      </dsp:nvSpPr>
      <dsp:spPr>
        <a:xfrm>
          <a:off x="2834318" y="1523613"/>
          <a:ext cx="2173518" cy="130411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smtClean="0"/>
            <a:t>Business app development/XRM</a:t>
          </a:r>
          <a:endParaRPr lang="en-US" sz="2000" kern="1200"/>
        </a:p>
      </dsp:txBody>
      <dsp:txXfrm>
        <a:off x="2834318" y="1523613"/>
        <a:ext cx="2173518" cy="1304111"/>
      </dsp:txXfrm>
    </dsp:sp>
    <dsp:sp modelId="{D5C388D7-B678-4B7A-B6FA-11C5088D9E1E}">
      <dsp:nvSpPr>
        <dsp:cNvPr id="0" name=""/>
        <dsp:cNvSpPr/>
      </dsp:nvSpPr>
      <dsp:spPr>
        <a:xfrm>
          <a:off x="5225188" y="1523613"/>
          <a:ext cx="2173518" cy="130411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smtClean="0"/>
            <a:t>Outlook</a:t>
          </a:r>
          <a:endParaRPr lang="en-US" sz="2000" kern="1200"/>
        </a:p>
      </dsp:txBody>
      <dsp:txXfrm>
        <a:off x="5225188" y="1523613"/>
        <a:ext cx="2173518" cy="1304111"/>
      </dsp:txXfrm>
    </dsp:sp>
    <dsp:sp modelId="{1E58B7D8-7F54-4256-AE9C-9B92A75C4BE3}">
      <dsp:nvSpPr>
        <dsp:cNvPr id="0" name=""/>
        <dsp:cNvSpPr/>
      </dsp:nvSpPr>
      <dsp:spPr>
        <a:xfrm>
          <a:off x="7616058" y="1523613"/>
          <a:ext cx="2173518" cy="130411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smtClean="0"/>
            <a:t>SharePoint</a:t>
          </a:r>
          <a:endParaRPr lang="en-US" sz="2000" kern="1200"/>
        </a:p>
      </dsp:txBody>
      <dsp:txXfrm>
        <a:off x="7616058" y="1523613"/>
        <a:ext cx="2173518" cy="1304111"/>
      </dsp:txXfrm>
    </dsp:sp>
    <dsp:sp modelId="{0B56F76E-EB3D-4D40-B98E-23D6559816BA}">
      <dsp:nvSpPr>
        <dsp:cNvPr id="0" name=""/>
        <dsp:cNvSpPr/>
      </dsp:nvSpPr>
      <dsp:spPr>
        <a:xfrm>
          <a:off x="443447" y="3045076"/>
          <a:ext cx="2173518" cy="130411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smtClean="0"/>
            <a:t>ISV ecosystem</a:t>
          </a:r>
          <a:endParaRPr lang="en-US" sz="2000" kern="1200"/>
        </a:p>
      </dsp:txBody>
      <dsp:txXfrm>
        <a:off x="443447" y="3045076"/>
        <a:ext cx="2173518" cy="1304111"/>
      </dsp:txXfrm>
    </dsp:sp>
    <dsp:sp modelId="{82057114-6931-4E1D-B500-1A34FD3D6BAF}">
      <dsp:nvSpPr>
        <dsp:cNvPr id="0" name=""/>
        <dsp:cNvSpPr/>
      </dsp:nvSpPr>
      <dsp:spPr>
        <a:xfrm>
          <a:off x="2834318" y="3045076"/>
          <a:ext cx="2173518" cy="130411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smtClean="0"/>
            <a:t>Solution management</a:t>
          </a:r>
          <a:endParaRPr lang="en-US" sz="2000" kern="1200"/>
        </a:p>
      </dsp:txBody>
      <dsp:txXfrm>
        <a:off x="2834318" y="3045076"/>
        <a:ext cx="2173518" cy="1304111"/>
      </dsp:txXfrm>
    </dsp:sp>
    <dsp:sp modelId="{467E5917-1087-40D6-B8EF-0652924BB2A3}">
      <dsp:nvSpPr>
        <dsp:cNvPr id="0" name=""/>
        <dsp:cNvSpPr/>
      </dsp:nvSpPr>
      <dsp:spPr>
        <a:xfrm>
          <a:off x="5225188" y="3045076"/>
          <a:ext cx="2173518" cy="130411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smtClean="0"/>
            <a:t>Charts &amp; dashboards</a:t>
          </a:r>
          <a:endParaRPr lang="en-US" sz="2000" kern="1200"/>
        </a:p>
      </dsp:txBody>
      <dsp:txXfrm>
        <a:off x="5225188" y="3045076"/>
        <a:ext cx="2173518" cy="1304111"/>
      </dsp:txXfrm>
    </dsp:sp>
    <dsp:sp modelId="{CEB29307-1B8C-4C45-89FE-914C5AD5AEB5}">
      <dsp:nvSpPr>
        <dsp:cNvPr id="0" name=""/>
        <dsp:cNvSpPr/>
      </dsp:nvSpPr>
      <dsp:spPr>
        <a:xfrm>
          <a:off x="7616058" y="3045076"/>
          <a:ext cx="2173518" cy="130411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smtClean="0"/>
            <a:t>MSFT organization</a:t>
          </a:r>
          <a:endParaRPr lang="en-US" sz="2000" kern="1200"/>
        </a:p>
      </dsp:txBody>
      <dsp:txXfrm>
        <a:off x="7616058" y="3045076"/>
        <a:ext cx="2173518" cy="1304111"/>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smtClean="0"/>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43CED753-A68B-456C-9DFF-BE06E51AD910}" type="datetimeFigureOut">
              <a:rPr lang="en-US" smtClean="0"/>
              <a:t>12/28/2015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0692B3-B71A-45A5-948A-9A1E75602EE5}" type="slidenum">
              <a:rPr lang="en-US" smtClean="0"/>
              <a:t>‹#›</a:t>
            </a:fld>
            <a:endParaRPr lang="en-US"/>
          </a:p>
        </p:txBody>
      </p:sp>
    </p:spTree>
    <p:extLst>
      <p:ext uri="{BB962C8B-B14F-4D97-AF65-F5344CB8AC3E}">
        <p14:creationId xmlns:p14="http://schemas.microsoft.com/office/powerpoint/2010/main" val="2432119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3CED753-A68B-456C-9DFF-BE06E51AD910}" type="datetimeFigureOut">
              <a:rPr lang="en-US" smtClean="0"/>
              <a:t>12/28/2015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0692B3-B71A-45A5-948A-9A1E75602EE5}" type="slidenum">
              <a:rPr lang="en-US" smtClean="0"/>
              <a:t>‹#›</a:t>
            </a:fld>
            <a:endParaRPr lang="en-US"/>
          </a:p>
        </p:txBody>
      </p:sp>
    </p:spTree>
    <p:extLst>
      <p:ext uri="{BB962C8B-B14F-4D97-AF65-F5344CB8AC3E}">
        <p14:creationId xmlns:p14="http://schemas.microsoft.com/office/powerpoint/2010/main" val="2150759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smtClean="0"/>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3CED753-A68B-456C-9DFF-BE06E51AD910}" type="datetimeFigureOut">
              <a:rPr lang="en-US" smtClean="0"/>
              <a:t>12/28/2015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0692B3-B71A-45A5-948A-9A1E75602EE5}" type="slidenum">
              <a:rPr lang="en-US" smtClean="0"/>
              <a:t>‹#›</a:t>
            </a:fld>
            <a:endParaRPr lang="en-US"/>
          </a:p>
        </p:txBody>
      </p:sp>
    </p:spTree>
    <p:extLst>
      <p:ext uri="{BB962C8B-B14F-4D97-AF65-F5344CB8AC3E}">
        <p14:creationId xmlns:p14="http://schemas.microsoft.com/office/powerpoint/2010/main" val="42787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3CED753-A68B-456C-9DFF-BE06E51AD910}" type="datetimeFigureOut">
              <a:rPr lang="en-US" smtClean="0"/>
              <a:t>12/28/2015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0692B3-B71A-45A5-948A-9A1E75602EE5}" type="slidenum">
              <a:rPr lang="en-US" smtClean="0"/>
              <a:t>‹#›</a:t>
            </a:fld>
            <a:endParaRPr lang="en-US"/>
          </a:p>
        </p:txBody>
      </p:sp>
    </p:spTree>
    <p:extLst>
      <p:ext uri="{BB962C8B-B14F-4D97-AF65-F5344CB8AC3E}">
        <p14:creationId xmlns:p14="http://schemas.microsoft.com/office/powerpoint/2010/main" val="354701647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smtClean="0"/>
              <a:t>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3CED753-A68B-456C-9DFF-BE06E51AD910}" type="datetimeFigureOut">
              <a:rPr lang="en-US" smtClean="0"/>
              <a:t>12/28/2015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0692B3-B71A-45A5-948A-9A1E75602EE5}" type="slidenum">
              <a:rPr lang="en-US" smtClean="0"/>
              <a:t>‹#›</a:t>
            </a:fld>
            <a:endParaRPr lang="en-US"/>
          </a:p>
        </p:txBody>
      </p:sp>
    </p:spTree>
    <p:extLst>
      <p:ext uri="{BB962C8B-B14F-4D97-AF65-F5344CB8AC3E}">
        <p14:creationId xmlns:p14="http://schemas.microsoft.com/office/powerpoint/2010/main" val="118384601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3CED753-A68B-456C-9DFF-BE06E51AD910}" type="datetimeFigureOut">
              <a:rPr lang="en-US" smtClean="0"/>
              <a:t>12/28/2015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0692B3-B71A-45A5-948A-9A1E75602EE5}" type="slidenum">
              <a:rPr lang="en-US" smtClean="0"/>
              <a:t>‹#›</a:t>
            </a:fld>
            <a:endParaRPr lang="en-US"/>
          </a:p>
        </p:txBody>
      </p:sp>
    </p:spTree>
    <p:extLst>
      <p:ext uri="{BB962C8B-B14F-4D97-AF65-F5344CB8AC3E}">
        <p14:creationId xmlns:p14="http://schemas.microsoft.com/office/powerpoint/2010/main" val="83456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CED753-A68B-456C-9DFF-BE06E51AD910}" type="datetimeFigureOut">
              <a:rPr lang="en-US" smtClean="0"/>
              <a:t>12/28/2015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0692B3-B71A-45A5-948A-9A1E75602EE5}" type="slidenum">
              <a:rPr lang="en-US" smtClean="0"/>
              <a:t>‹#›</a:t>
            </a:fld>
            <a:endParaRPr lang="en-US"/>
          </a:p>
        </p:txBody>
      </p:sp>
    </p:spTree>
    <p:extLst>
      <p:ext uri="{BB962C8B-B14F-4D97-AF65-F5344CB8AC3E}">
        <p14:creationId xmlns:p14="http://schemas.microsoft.com/office/powerpoint/2010/main" val="2117913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3CED753-A68B-456C-9DFF-BE06E51AD910}" type="datetimeFigureOut">
              <a:rPr lang="en-US" smtClean="0"/>
              <a:t>12/28/2015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0692B3-B71A-45A5-948A-9A1E75602EE5}" type="slidenum">
              <a:rPr lang="en-US" smtClean="0"/>
              <a:t>‹#›</a:t>
            </a:fld>
            <a:endParaRPr lang="en-US"/>
          </a:p>
        </p:txBody>
      </p:sp>
    </p:spTree>
    <p:extLst>
      <p:ext uri="{BB962C8B-B14F-4D97-AF65-F5344CB8AC3E}">
        <p14:creationId xmlns:p14="http://schemas.microsoft.com/office/powerpoint/2010/main" val="318286793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3CED753-A68B-456C-9DFF-BE06E51AD910}" type="datetimeFigureOut">
              <a:rPr lang="en-US" smtClean="0"/>
              <a:t>12/28/2015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0692B3-B71A-45A5-948A-9A1E75602EE5}" type="slidenum">
              <a:rPr lang="en-US" smtClean="0"/>
              <a:t>‹#›</a:t>
            </a:fld>
            <a:endParaRPr lang="en-US"/>
          </a:p>
        </p:txBody>
      </p:sp>
    </p:spTree>
    <p:extLst>
      <p:ext uri="{BB962C8B-B14F-4D97-AF65-F5344CB8AC3E}">
        <p14:creationId xmlns:p14="http://schemas.microsoft.com/office/powerpoint/2010/main" val="4138298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3CED753-A68B-456C-9DFF-BE06E51AD910}" type="datetimeFigureOut">
              <a:rPr lang="en-US" smtClean="0"/>
              <a:t>12/28/2015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0692B3-B71A-45A5-948A-9A1E75602EE5}" type="slidenum">
              <a:rPr lang="en-US" smtClean="0"/>
              <a:t>‹#›</a:t>
            </a:fld>
            <a:endParaRPr lang="en-US"/>
          </a:p>
        </p:txBody>
      </p:sp>
    </p:spTree>
    <p:extLst>
      <p:ext uri="{BB962C8B-B14F-4D97-AF65-F5344CB8AC3E}">
        <p14:creationId xmlns:p14="http://schemas.microsoft.com/office/powerpoint/2010/main" val="3421000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3CED753-A68B-456C-9DFF-BE06E51AD910}" type="datetimeFigureOut">
              <a:rPr lang="en-US" smtClean="0"/>
              <a:t>12/28/2015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0692B3-B71A-45A5-948A-9A1E75602EE5}" type="slidenum">
              <a:rPr lang="en-US" smtClean="0"/>
              <a:t>‹#›</a:t>
            </a:fld>
            <a:endParaRPr lang="en-US"/>
          </a:p>
        </p:txBody>
      </p:sp>
    </p:spTree>
    <p:extLst>
      <p:ext uri="{BB962C8B-B14F-4D97-AF65-F5344CB8AC3E}">
        <p14:creationId xmlns:p14="http://schemas.microsoft.com/office/powerpoint/2010/main" val="27250554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3CED753-A68B-456C-9DFF-BE06E51AD910}" type="datetimeFigureOut">
              <a:rPr lang="en-US" smtClean="0"/>
              <a:t>12/28/2015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0692B3-B71A-45A5-948A-9A1E75602EE5}" type="slidenum">
              <a:rPr lang="en-US" smtClean="0"/>
              <a:t>‹#›</a:t>
            </a:fld>
            <a:endParaRPr lang="en-US"/>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219075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smtClean="0"/>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3CED753-A68B-456C-9DFF-BE06E51AD910}" type="datetimeFigureOut">
              <a:rPr lang="en-US" smtClean="0"/>
              <a:t>12/28/2015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0692B3-B71A-45A5-948A-9A1E75602EE5}" type="slidenum">
              <a:rPr lang="en-US" smtClean="0"/>
              <a:t>‹#›</a:t>
            </a:fld>
            <a:endParaRPr lang="en-US"/>
          </a:p>
        </p:txBody>
      </p:sp>
    </p:spTree>
    <p:extLst>
      <p:ext uri="{BB962C8B-B14F-4D97-AF65-F5344CB8AC3E}">
        <p14:creationId xmlns:p14="http://schemas.microsoft.com/office/powerpoint/2010/main" val="36986690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smtClean="0"/>
              <a:t>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smtClean="0"/>
              <a:t>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3CED753-A68B-456C-9DFF-BE06E51AD910}" type="datetimeFigureOut">
              <a:rPr lang="en-US" smtClean="0"/>
              <a:t>12/28/2015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0692B3-B71A-45A5-948A-9A1E75602EE5}" type="slidenum">
              <a:rPr lang="en-US" smtClean="0"/>
              <a:t>‹#›</a:t>
            </a:fld>
            <a:endParaRPr lang="en-US"/>
          </a:p>
        </p:txBody>
      </p:sp>
    </p:spTree>
    <p:extLst>
      <p:ext uri="{BB962C8B-B14F-4D97-AF65-F5344CB8AC3E}">
        <p14:creationId xmlns:p14="http://schemas.microsoft.com/office/powerpoint/2010/main" val="39956772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3CED753-A68B-456C-9DFF-BE06E51AD910}" type="datetimeFigureOut">
              <a:rPr lang="en-US" smtClean="0"/>
              <a:t>12/28/2015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0692B3-B71A-45A5-948A-9A1E75602EE5}" type="slidenum">
              <a:rPr lang="en-US" smtClean="0"/>
              <a:t>‹#›</a:t>
            </a:fld>
            <a:endParaRPr lang="en-US"/>
          </a:p>
        </p:txBody>
      </p:sp>
    </p:spTree>
    <p:extLst>
      <p:ext uri="{BB962C8B-B14F-4D97-AF65-F5344CB8AC3E}">
        <p14:creationId xmlns:p14="http://schemas.microsoft.com/office/powerpoint/2010/main" val="32608702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3CED753-A68B-456C-9DFF-BE06E51AD910}" type="datetimeFigureOut">
              <a:rPr lang="en-US" smtClean="0"/>
              <a:t>12/28/2015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0692B3-B71A-45A5-948A-9A1E75602EE5}" type="slidenum">
              <a:rPr lang="en-US" smtClean="0"/>
              <a:t>‹#›</a:t>
            </a:fld>
            <a:endParaRPr lang="en-US"/>
          </a:p>
        </p:txBody>
      </p:sp>
    </p:spTree>
    <p:extLst>
      <p:ext uri="{BB962C8B-B14F-4D97-AF65-F5344CB8AC3E}">
        <p14:creationId xmlns:p14="http://schemas.microsoft.com/office/powerpoint/2010/main" val="33773116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3CED753-A68B-456C-9DFF-BE06E51AD910}" type="datetimeFigureOut">
              <a:rPr lang="en-US" smtClean="0"/>
              <a:t>12/28/2015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0692B3-B71A-45A5-948A-9A1E75602EE5}" type="slidenum">
              <a:rPr lang="en-US" smtClean="0"/>
              <a:t>‹#›</a:t>
            </a:fld>
            <a:endParaRPr lang="en-US"/>
          </a:p>
        </p:txBody>
      </p:sp>
    </p:spTree>
    <p:extLst>
      <p:ext uri="{BB962C8B-B14F-4D97-AF65-F5344CB8AC3E}">
        <p14:creationId xmlns:p14="http://schemas.microsoft.com/office/powerpoint/2010/main" val="3914251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43CED753-A68B-456C-9DFF-BE06E51AD910}" type="datetimeFigureOut">
              <a:rPr lang="en-US" smtClean="0"/>
              <a:t>12/28/2015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830692B3-B71A-45A5-948A-9A1E75602EE5}" type="slidenum">
              <a:rPr lang="en-US" smtClean="0"/>
              <a:t>‹#›</a:t>
            </a:fld>
            <a:endParaRPr lang="en-US"/>
          </a:p>
        </p:txBody>
      </p:sp>
    </p:spTree>
    <p:extLst>
      <p:ext uri="{BB962C8B-B14F-4D97-AF65-F5344CB8AC3E}">
        <p14:creationId xmlns:p14="http://schemas.microsoft.com/office/powerpoint/2010/main" val="1977882126"/>
      </p:ext>
    </p:extLst>
  </p:cSld>
  <p:clrMap bg1="dk1" tx1="lt1" bg2="dk2" tx2="lt2" accent1="accent1" accent2="accent2" accent3="accent3" accent4="accent4" accent5="accent5" accent6="accent6" hlink="hlink" folHlink="folHlink"/>
  <p:sldLayoutIdLst>
    <p:sldLayoutId id="2147484111" r:id="rId1"/>
    <p:sldLayoutId id="2147484112" r:id="rId2"/>
    <p:sldLayoutId id="2147484113" r:id="rId3"/>
    <p:sldLayoutId id="2147484114" r:id="rId4"/>
    <p:sldLayoutId id="2147484115" r:id="rId5"/>
    <p:sldLayoutId id="2147484116" r:id="rId6"/>
    <p:sldLayoutId id="2147484117" r:id="rId7"/>
    <p:sldLayoutId id="2147484118" r:id="rId8"/>
    <p:sldLayoutId id="2147484119" r:id="rId9"/>
    <p:sldLayoutId id="2147484120" r:id="rId10"/>
    <p:sldLayoutId id="2147484121" r:id="rId11"/>
    <p:sldLayoutId id="2147484122" r:id="rId12"/>
    <p:sldLayoutId id="2147484123" r:id="rId13"/>
    <p:sldLayoutId id="2147484124" r:id="rId14"/>
    <p:sldLayoutId id="2147484125" r:id="rId15"/>
    <p:sldLayoutId id="2147484126" r:id="rId16"/>
    <p:sldLayoutId id="2147484127"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urvivingcrm.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hyperlink" Target="http://survivingcrm.com/2010/01/driving-towards-the-cloud-through-the-crm-mist/" TargetMode="External"/><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 Id="rId5" Type="http://schemas.openxmlformats.org/officeDocument/2006/relationships/hyperlink" Target="http://survivingcrm.com/2010/02/dynamics-crm-online-what-does-it-look-like/#more-219" TargetMode="Externa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hyperlink" Target="http://survivingcrm.com/2010/05/greetings-from-microsoft-convergence-2010-in-atlanta-part-1/" TargetMode="External"/><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urvivingcrm.com/2010/05/greetings-from-microsoft-convergence-2010-in-atlanta-part-1/" TargetMode="External"/><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hyperlink" Target="http://survivingcrm.com/2010/05/greetings-from-microsoft-convergence-2010-in-atlanta-part-2/"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urvivingcrm.com/2010/09/dynamics-crm-summer-news-round-up/" TargetMode="External"/><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urvivingcrm.com/2010/07/dynamics-crm-2011-and-the-world-of-cloud-apps/" TargetMode="External"/><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urvivingcrm.com/2010/07/dynamics-crm-2011-and-the-world-of-cloud-apps/" TargetMode="External"/><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survivingcrm.com/2010/07/dynamics-crm-2011-and-the-world-of-cloud-apps/" TargetMode="External"/><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hyperlink" Target="http://survivingcrm.com/2010/09/dynamics-crm-2011-in-all-its-beta-glory" TargetMode="External"/><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hyperlink" Target="http://survivingcrm.com/2010/09/dynamics-crm-2011-in-all-its-beta-glory" TargetMode="External"/><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urvivingcrm.com/2010/10/greetings-from-microsoft-convergence-2010-emea/"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3791372"/>
            <a:ext cx="9144000" cy="2393972"/>
          </a:xfrm>
        </p:spPr>
        <p:txBody>
          <a:bodyPr>
            <a:normAutofit fontScale="90000"/>
          </a:bodyPr>
          <a:lstStyle/>
          <a:p>
            <a:r>
              <a:rPr lang="en-US" dirty="0" smtClean="0"/>
              <a:t>Dynamics CRM in 2010:</a:t>
            </a:r>
            <a:br>
              <a:rPr lang="en-US" dirty="0" smtClean="0"/>
            </a:br>
            <a:r>
              <a:rPr lang="en-US" dirty="0" smtClean="0"/>
              <a:t>5 year retrospective</a:t>
            </a:r>
            <a:endParaRPr lang="en-US" dirty="0"/>
          </a:p>
        </p:txBody>
      </p:sp>
      <p:sp>
        <p:nvSpPr>
          <p:cNvPr id="3" name="Subtitle 2"/>
          <p:cNvSpPr>
            <a:spLocks noGrp="1"/>
          </p:cNvSpPr>
          <p:nvPr>
            <p:ph type="subTitle" idx="1"/>
          </p:nvPr>
        </p:nvSpPr>
        <p:spPr>
          <a:xfrm>
            <a:off x="2209799" y="3021719"/>
            <a:ext cx="9144000" cy="754025"/>
          </a:xfrm>
        </p:spPr>
        <p:txBody>
          <a:bodyPr/>
          <a:lstStyle/>
          <a:p>
            <a:r>
              <a:rPr lang="en-US" dirty="0" smtClean="0"/>
              <a:t>Blog posts from the past &amp; what we know now</a:t>
            </a:r>
            <a:endParaRPr lang="en-US" dirty="0"/>
          </a:p>
        </p:txBody>
      </p:sp>
      <p:sp>
        <p:nvSpPr>
          <p:cNvPr id="4" name="Subtitle 2"/>
          <p:cNvSpPr txBox="1">
            <a:spLocks/>
          </p:cNvSpPr>
          <p:nvPr/>
        </p:nvSpPr>
        <p:spPr>
          <a:xfrm>
            <a:off x="2209799" y="6211617"/>
            <a:ext cx="9144000" cy="501752"/>
          </a:xfrm>
          <a:prstGeom prst="rect">
            <a:avLst/>
          </a:prstGeom>
        </p:spPr>
        <p:txBody>
          <a:bodyPr vert="horz" lIns="91440" tIns="45720" rIns="91440" bIns="45720" rtlCol="0" anchor="b">
            <a:normAutofit/>
          </a:bodyPr>
          <a:lstStyle>
            <a:lvl1pPr marL="0" indent="0" algn="r" defTabSz="914400" rtl="0" eaLnBrk="1" latinLnBrk="0" hangingPunct="1">
              <a:lnSpc>
                <a:spcPct val="90000"/>
              </a:lnSpc>
              <a:spcBef>
                <a:spcPts val="1000"/>
              </a:spcBef>
              <a:buFont typeface="Arial" panose="020B0604020202020204" pitchFamily="34" charset="0"/>
              <a:buNone/>
              <a:defRPr sz="3200" b="0" kern="120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smtClean="0">
                <a:solidFill>
                  <a:schemeClr val="accent6">
                    <a:lumMod val="60000"/>
                    <a:lumOff val="40000"/>
                  </a:schemeClr>
                </a:solidFill>
              </a:rPr>
              <a:t>Jukka Niiranen (@jukkan) </a:t>
            </a:r>
            <a:r>
              <a:rPr lang="fi-FI" sz="1600" dirty="0" smtClean="0">
                <a:solidFill>
                  <a:schemeClr val="accent6">
                    <a:lumMod val="60000"/>
                    <a:lumOff val="40000"/>
                  </a:schemeClr>
                </a:solidFill>
              </a:rPr>
              <a:t>2015-12-28</a:t>
            </a:r>
            <a:endParaRPr lang="en-US" sz="1600" dirty="0">
              <a:solidFill>
                <a:schemeClr val="accent6">
                  <a:lumMod val="60000"/>
                  <a:lumOff val="40000"/>
                </a:schemeClr>
              </a:solidFill>
            </a:endParaRPr>
          </a:p>
        </p:txBody>
      </p:sp>
    </p:spTree>
    <p:extLst>
      <p:ext uri="{BB962C8B-B14F-4D97-AF65-F5344CB8AC3E}">
        <p14:creationId xmlns:p14="http://schemas.microsoft.com/office/powerpoint/2010/main" val="37564853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About this retrospective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My ”</a:t>
            </a:r>
            <a:r>
              <a:rPr lang="en-US" dirty="0" smtClean="0">
                <a:hlinkClick r:id="rId2"/>
              </a:rPr>
              <a:t>Surviving CRM</a:t>
            </a:r>
            <a:r>
              <a:rPr lang="en-US" dirty="0" smtClean="0"/>
              <a:t>” blog has been covering topics related to Microsoft Dynamics CRM for a good few years now</a:t>
            </a:r>
          </a:p>
          <a:p>
            <a:r>
              <a:rPr lang="en-US" dirty="0" smtClean="0"/>
              <a:t>At the end of year 2015, I decided to have a look back at some of the writings from 5 years ago, to analyze A) what new technologies &amp; trends I considered to be noteworthy at the time, and B) how the future turned out for each of these</a:t>
            </a:r>
          </a:p>
          <a:p>
            <a:r>
              <a:rPr lang="en-US" dirty="0" smtClean="0"/>
              <a:t>In the slides you’ll find an excerpt from the original post + a link to the article (in top right), alongside my notes on the subject 5 years later</a:t>
            </a:r>
          </a:p>
          <a:p>
            <a:r>
              <a:rPr lang="en-US" dirty="0" smtClean="0"/>
              <a:t>What’s the point of all this? Simply gaining perspective on how the software world around us works, so that we can better evaluate the news we encounter and make more educated guesses on what this world will look like tomorrow</a:t>
            </a:r>
            <a:endParaRPr lang="en-US" dirty="0"/>
          </a:p>
        </p:txBody>
      </p:sp>
    </p:spTree>
    <p:extLst>
      <p:ext uri="{BB962C8B-B14F-4D97-AF65-F5344CB8AC3E}">
        <p14:creationId xmlns:p14="http://schemas.microsoft.com/office/powerpoint/2010/main" val="41854964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did I blog about in 2010?</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62945285"/>
              </p:ext>
            </p:extLst>
          </p:nvPr>
        </p:nvGraphicFramePr>
        <p:xfrm>
          <a:off x="1120775" y="1825625"/>
          <a:ext cx="10233025"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327532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750269" cy="1325563"/>
          </a:xfrm>
        </p:spPr>
        <p:txBody>
          <a:bodyPr>
            <a:normAutofit fontScale="90000"/>
          </a:bodyPr>
          <a:lstStyle/>
          <a:p>
            <a:r>
              <a:rPr lang="en-US" dirty="0" smtClean="0"/>
              <a:t>CRM, the gateway drug for the cloud?</a:t>
            </a:r>
            <a:endParaRPr lang="en-US" dirty="0"/>
          </a:p>
        </p:txBody>
      </p:sp>
      <p:sp>
        <p:nvSpPr>
          <p:cNvPr id="6" name="Content Placeholder 5"/>
          <p:cNvSpPr>
            <a:spLocks noGrp="1"/>
          </p:cNvSpPr>
          <p:nvPr>
            <p:ph sz="half" idx="2"/>
          </p:nvPr>
        </p:nvSpPr>
        <p:spPr>
          <a:xfrm>
            <a:off x="5538952" y="1825624"/>
            <a:ext cx="6106509" cy="4722321"/>
          </a:xfrm>
        </p:spPr>
        <p:txBody>
          <a:bodyPr>
            <a:normAutofit fontScale="85000" lnSpcReduction="20000"/>
          </a:bodyPr>
          <a:lstStyle/>
          <a:p>
            <a:r>
              <a:rPr lang="en-US" dirty="0" smtClean="0"/>
              <a:t>In 2010 Microsoft started their </a:t>
            </a:r>
            <a:r>
              <a:rPr lang="en-US" i="1" dirty="0" smtClean="0"/>
              <a:t>”we’re all in” </a:t>
            </a:r>
            <a:r>
              <a:rPr lang="en-US" dirty="0" smtClean="0"/>
              <a:t>campaign for cloud as the focus point for their future business, and CRM was seen as a natural first point of entry for businesses</a:t>
            </a:r>
          </a:p>
          <a:p>
            <a:r>
              <a:rPr lang="en-US" dirty="0" smtClean="0"/>
              <a:t>New Dynamics CRM deployments sure did move quickly to the cloud once Online became available globally in 2011</a:t>
            </a:r>
          </a:p>
          <a:p>
            <a:r>
              <a:rPr lang="en-US" dirty="0" smtClean="0"/>
              <a:t>Migration of existing on-</a:t>
            </a:r>
            <a:r>
              <a:rPr lang="en-US" dirty="0" err="1" smtClean="0"/>
              <a:t>prem</a:t>
            </a:r>
            <a:r>
              <a:rPr lang="en-US" dirty="0" smtClean="0"/>
              <a:t> instances was a bit slower, as MS didn’t build any tool/service to accelerate these projects</a:t>
            </a:r>
          </a:p>
          <a:p>
            <a:r>
              <a:rPr lang="en-US" dirty="0" smtClean="0"/>
              <a:t>Announcement of Office 365 later the same year set the big wheels in motion for MS business cloud products</a:t>
            </a:r>
          </a:p>
          <a:p>
            <a:r>
              <a:rPr lang="en-US" dirty="0" smtClean="0"/>
              <a:t>It took until late 2015 before CRM Online was sold as add-on license to Office 365, though</a:t>
            </a:r>
            <a:endParaRPr lang="en-US" dirty="0"/>
          </a:p>
        </p:txBody>
      </p:sp>
      <p:pic>
        <p:nvPicPr>
          <p:cNvPr id="3" name="Picture 2"/>
          <p:cNvPicPr>
            <a:picLocks noChangeAspect="1"/>
          </p:cNvPicPr>
          <p:nvPr/>
        </p:nvPicPr>
        <p:blipFill>
          <a:blip r:embed="rId2"/>
          <a:stretch>
            <a:fillRect/>
          </a:stretch>
        </p:blipFill>
        <p:spPr>
          <a:xfrm>
            <a:off x="470336" y="1825624"/>
            <a:ext cx="4847897" cy="4952829"/>
          </a:xfrm>
          <a:prstGeom prst="rect">
            <a:avLst/>
          </a:prstGeom>
        </p:spPr>
      </p:pic>
      <p:sp>
        <p:nvSpPr>
          <p:cNvPr id="7" name="Rectangle 6"/>
          <p:cNvSpPr/>
          <p:nvPr/>
        </p:nvSpPr>
        <p:spPr>
          <a:xfrm>
            <a:off x="9743088" y="239513"/>
            <a:ext cx="2217684" cy="1325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3"/>
              </a:rPr>
              <a:t>Jan 29th, 2010</a:t>
            </a:r>
            <a:r>
              <a:rPr lang="en-US" dirty="0"/>
              <a:t>:</a:t>
            </a:r>
          </a:p>
          <a:p>
            <a:pPr algn="ctr"/>
            <a:r>
              <a:rPr lang="en-US" dirty="0" smtClean="0"/>
              <a:t>“Driving </a:t>
            </a:r>
            <a:r>
              <a:rPr lang="en-US" dirty="0"/>
              <a:t>towards the cloud through the CRM </a:t>
            </a:r>
            <a:r>
              <a:rPr lang="en-US" dirty="0" smtClean="0"/>
              <a:t>mist”</a:t>
            </a:r>
            <a:endParaRPr lang="en-US" dirty="0"/>
          </a:p>
        </p:txBody>
      </p:sp>
    </p:spTree>
    <p:extLst>
      <p:ext uri="{BB962C8B-B14F-4D97-AF65-F5344CB8AC3E}">
        <p14:creationId xmlns:p14="http://schemas.microsoft.com/office/powerpoint/2010/main" val="25004731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5983014" cy="1325563"/>
          </a:xfrm>
        </p:spPr>
        <p:txBody>
          <a:bodyPr>
            <a:normAutofit fontScale="90000"/>
          </a:bodyPr>
          <a:lstStyle/>
          <a:p>
            <a:r>
              <a:rPr lang="en-US" dirty="0" smtClean="0"/>
              <a:t>”Mobile” CRM, a bit like ”smart” phones</a:t>
            </a:r>
            <a:endParaRPr lang="en-US" dirty="0"/>
          </a:p>
        </p:txBody>
      </p:sp>
      <p:sp>
        <p:nvSpPr>
          <p:cNvPr id="6" name="Content Placeholder 5"/>
          <p:cNvSpPr>
            <a:spLocks noGrp="1"/>
          </p:cNvSpPr>
          <p:nvPr>
            <p:ph sz="half" idx="2"/>
          </p:nvPr>
        </p:nvSpPr>
        <p:spPr>
          <a:xfrm>
            <a:off x="4561489" y="1825625"/>
            <a:ext cx="6180083" cy="4858954"/>
          </a:xfrm>
        </p:spPr>
        <p:txBody>
          <a:bodyPr>
            <a:normAutofit fontScale="77500" lnSpcReduction="20000"/>
          </a:bodyPr>
          <a:lstStyle/>
          <a:p>
            <a:r>
              <a:rPr lang="en-US" dirty="0" smtClean="0"/>
              <a:t>In 2o10 customers started having iPhones and other modern smartphones in their pockets, so mobile access to CRM became a hot topic</a:t>
            </a:r>
          </a:p>
          <a:p>
            <a:r>
              <a:rPr lang="en-US" dirty="0" smtClean="0"/>
              <a:t>MS was offering Mobile Express, a lightweight web edition of CRM as their in-house solution for mobility</a:t>
            </a:r>
          </a:p>
          <a:p>
            <a:r>
              <a:rPr lang="en-US" dirty="0" smtClean="0"/>
              <a:t>Designed for Blackberry/Symbian style keypad navigation, the user experience on a touch screen device left a lot to be desired, not to mention the customization options (or lack of them)</a:t>
            </a:r>
          </a:p>
          <a:p>
            <a:r>
              <a:rPr lang="en-US" dirty="0" smtClean="0"/>
              <a:t>After almost acquiring an ISV solution, MS decided to build their own mobile client (</a:t>
            </a:r>
            <a:r>
              <a:rPr lang="en-US" dirty="0" err="1" smtClean="0"/>
              <a:t>MoCA</a:t>
            </a:r>
            <a:r>
              <a:rPr lang="en-US" dirty="0" smtClean="0"/>
              <a:t>) application for CRM from the ground up</a:t>
            </a:r>
          </a:p>
          <a:p>
            <a:r>
              <a:rPr lang="en-US" dirty="0" smtClean="0"/>
              <a:t>In mid-2015 the true smartphone app for accessing rich Dynamics CRM functionality finally became available for CRM Online customers</a:t>
            </a:r>
            <a:endParaRPr lang="en-US" dirty="0"/>
          </a:p>
        </p:txBody>
      </p:sp>
      <p:pic>
        <p:nvPicPr>
          <p:cNvPr id="4" name="Picture 3"/>
          <p:cNvPicPr>
            <a:picLocks noChangeAspect="1"/>
          </p:cNvPicPr>
          <p:nvPr/>
        </p:nvPicPr>
        <p:blipFill>
          <a:blip r:embed="rId2"/>
          <a:stretch>
            <a:fillRect/>
          </a:stretch>
        </p:blipFill>
        <p:spPr>
          <a:xfrm>
            <a:off x="176048" y="1825625"/>
            <a:ext cx="4385441" cy="4045192"/>
          </a:xfrm>
          <a:prstGeom prst="rect">
            <a:avLst/>
          </a:prstGeom>
        </p:spPr>
      </p:pic>
      <p:pic>
        <p:nvPicPr>
          <p:cNvPr id="1026" name="Picture 2" descr="http://blogs.msdn.com/cfs-filesystemfile.ashx/__key/communityserver-components-postattachments/00-09-82-83-24/01.jpg"/>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205" b="98795" l="2907" r="96512">
                        <a14:foregroundMark x1="86628" y1="21386" x2="87209" y2="62952"/>
                      </a14:backgroundRemoval>
                    </a14:imgEffect>
                  </a14:imgLayer>
                </a14:imgProps>
              </a:ext>
              <a:ext uri="{28A0092B-C50C-407E-A947-70E740481C1C}">
                <a14:useLocalDpi xmlns:a14="http://schemas.microsoft.com/office/drawing/2010/main" val="0"/>
              </a:ext>
            </a:extLst>
          </a:blip>
          <a:srcRect/>
          <a:stretch>
            <a:fillRect/>
          </a:stretch>
        </p:blipFill>
        <p:spPr bwMode="auto">
          <a:xfrm>
            <a:off x="10604748" y="3794234"/>
            <a:ext cx="1587252" cy="306376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9743088" y="239513"/>
            <a:ext cx="2217684" cy="1325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5"/>
              </a:rPr>
              <a:t>Feb 7th, 2010</a:t>
            </a:r>
            <a:r>
              <a:rPr lang="en-US" dirty="0"/>
              <a:t>:</a:t>
            </a:r>
          </a:p>
          <a:p>
            <a:pPr algn="ctr"/>
            <a:r>
              <a:rPr lang="en-US" dirty="0" smtClean="0"/>
              <a:t>“Dynamics </a:t>
            </a:r>
            <a:r>
              <a:rPr lang="en-US" dirty="0"/>
              <a:t>CRM Online: what does it look like</a:t>
            </a:r>
            <a:r>
              <a:rPr lang="en-US" dirty="0" smtClean="0"/>
              <a:t>?”</a:t>
            </a:r>
            <a:endParaRPr lang="en-US" dirty="0"/>
          </a:p>
        </p:txBody>
      </p:sp>
    </p:spTree>
    <p:extLst>
      <p:ext uri="{BB962C8B-B14F-4D97-AF65-F5344CB8AC3E}">
        <p14:creationId xmlns:p14="http://schemas.microsoft.com/office/powerpoint/2010/main" val="39271116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676697" cy="1325563"/>
          </a:xfrm>
        </p:spPr>
        <p:txBody>
          <a:bodyPr>
            <a:normAutofit fontScale="90000"/>
          </a:bodyPr>
          <a:lstStyle/>
          <a:p>
            <a:r>
              <a:rPr lang="en-US" dirty="0" smtClean="0"/>
              <a:t>Using CRM as your CMS, is that really a thing?</a:t>
            </a:r>
            <a:endParaRPr lang="en-US" dirty="0"/>
          </a:p>
        </p:txBody>
      </p:sp>
      <p:sp>
        <p:nvSpPr>
          <p:cNvPr id="7" name="Content Placeholder 6"/>
          <p:cNvSpPr>
            <a:spLocks noGrp="1"/>
          </p:cNvSpPr>
          <p:nvPr>
            <p:ph sz="half" idx="2"/>
          </p:nvPr>
        </p:nvSpPr>
        <p:spPr>
          <a:xfrm>
            <a:off x="5843751" y="1825625"/>
            <a:ext cx="6011917" cy="4874322"/>
          </a:xfrm>
        </p:spPr>
        <p:txBody>
          <a:bodyPr>
            <a:normAutofit fontScale="85000" lnSpcReduction="20000"/>
          </a:bodyPr>
          <a:lstStyle/>
          <a:p>
            <a:r>
              <a:rPr lang="en-US" dirty="0" smtClean="0"/>
              <a:t>In Convergence 2010 the concept of building portal websites on top of Dynamics CRM was introduced</a:t>
            </a:r>
          </a:p>
          <a:p>
            <a:r>
              <a:rPr lang="en-US" dirty="0" smtClean="0"/>
              <a:t>Later on it was bundled into CRM 2011 as Portal Accelerator framework, essentially a ”lite” version of Adxstudio Portals</a:t>
            </a:r>
          </a:p>
          <a:p>
            <a:r>
              <a:rPr lang="en-US" dirty="0" smtClean="0"/>
              <a:t>Despite the obvious needs for having external parties interact with CRM data in many scenarios, customers &amp; partners were slow to adopt this XRM based architecture for their web portals over traditional integration of back/frontend systems</a:t>
            </a:r>
          </a:p>
          <a:p>
            <a:r>
              <a:rPr lang="en-US" dirty="0" smtClean="0"/>
              <a:t>In 2015 Microsoft bought Adxstudio and decided to make these portals the foundation for their customer engagement product offering</a:t>
            </a:r>
            <a:endParaRPr lang="en-US" dirty="0"/>
          </a:p>
        </p:txBody>
      </p:sp>
      <p:pic>
        <p:nvPicPr>
          <p:cNvPr id="3" name="Picture 2"/>
          <p:cNvPicPr>
            <a:picLocks noChangeAspect="1"/>
          </p:cNvPicPr>
          <p:nvPr/>
        </p:nvPicPr>
        <p:blipFill>
          <a:blip r:embed="rId2"/>
          <a:stretch>
            <a:fillRect/>
          </a:stretch>
        </p:blipFill>
        <p:spPr>
          <a:xfrm>
            <a:off x="273269" y="1816300"/>
            <a:ext cx="5325537" cy="4883647"/>
          </a:xfrm>
          <a:prstGeom prst="rect">
            <a:avLst/>
          </a:prstGeom>
        </p:spPr>
      </p:pic>
      <p:sp>
        <p:nvSpPr>
          <p:cNvPr id="5" name="Rectangle 4"/>
          <p:cNvSpPr/>
          <p:nvPr/>
        </p:nvSpPr>
        <p:spPr>
          <a:xfrm>
            <a:off x="9417269" y="239513"/>
            <a:ext cx="2543503" cy="1325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3"/>
              </a:rPr>
              <a:t>May 2nd, </a:t>
            </a:r>
            <a:r>
              <a:rPr lang="en-US" dirty="0" smtClean="0">
                <a:hlinkClick r:id="rId3"/>
              </a:rPr>
              <a:t>2010</a:t>
            </a:r>
            <a:r>
              <a:rPr lang="en-US" dirty="0" smtClean="0"/>
              <a:t>:</a:t>
            </a:r>
            <a:endParaRPr lang="en-US" dirty="0"/>
          </a:p>
          <a:p>
            <a:pPr algn="ctr"/>
            <a:r>
              <a:rPr lang="en-US" dirty="0" smtClean="0"/>
              <a:t>“Greetings </a:t>
            </a:r>
            <a:r>
              <a:rPr lang="en-US" dirty="0"/>
              <a:t>from Microsoft Convergence 2010 in Atlanta – Part </a:t>
            </a:r>
            <a:r>
              <a:rPr lang="en-US" dirty="0" smtClean="0"/>
              <a:t>1”</a:t>
            </a:r>
            <a:endParaRPr lang="en-US" dirty="0"/>
          </a:p>
        </p:txBody>
      </p:sp>
    </p:spTree>
    <p:extLst>
      <p:ext uri="{BB962C8B-B14F-4D97-AF65-F5344CB8AC3E}">
        <p14:creationId xmlns:p14="http://schemas.microsoft.com/office/powerpoint/2010/main" val="33182772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199" y="365125"/>
            <a:ext cx="7013029" cy="1325563"/>
          </a:xfrm>
        </p:spPr>
        <p:txBody>
          <a:bodyPr>
            <a:normAutofit fontScale="90000"/>
          </a:bodyPr>
          <a:lstStyle/>
          <a:p>
            <a:r>
              <a:rPr lang="en-US" dirty="0" smtClean="0"/>
              <a:t>Better Together: CRM and SharePoint… or Excel?</a:t>
            </a:r>
            <a:endParaRPr lang="en-US" dirty="0"/>
          </a:p>
        </p:txBody>
      </p:sp>
      <p:sp>
        <p:nvSpPr>
          <p:cNvPr id="7" name="Content Placeholder 6"/>
          <p:cNvSpPr>
            <a:spLocks noGrp="1"/>
          </p:cNvSpPr>
          <p:nvPr>
            <p:ph sz="half" idx="2"/>
          </p:nvPr>
        </p:nvSpPr>
        <p:spPr>
          <a:xfrm>
            <a:off x="5917323" y="1825624"/>
            <a:ext cx="6138043" cy="4837935"/>
          </a:xfrm>
        </p:spPr>
        <p:txBody>
          <a:bodyPr>
            <a:normAutofit fontScale="85000" lnSpcReduction="20000"/>
          </a:bodyPr>
          <a:lstStyle/>
          <a:p>
            <a:r>
              <a:rPr lang="en-US" dirty="0" smtClean="0"/>
              <a:t>2010 may have been the year of ”peak SharePoint”, at least in the commercial priorities of Microsoft</a:t>
            </a:r>
          </a:p>
          <a:p>
            <a:r>
              <a:rPr lang="en-US" dirty="0" smtClean="0"/>
              <a:t>Finding ways to push SP in every demo was top priority for MS, but these collaboration tools remained fairly distant from structured CRM systems in many practical implementations, due to factors like system ownership and required development effort</a:t>
            </a:r>
          </a:p>
          <a:p>
            <a:r>
              <a:rPr lang="en-US" dirty="0" smtClean="0"/>
              <a:t>Greater synergies were seen in the BI capabilities that at the time were packaged into Office product line</a:t>
            </a:r>
          </a:p>
          <a:p>
            <a:r>
              <a:rPr lang="en-US" dirty="0" smtClean="0"/>
              <a:t>Unbundling BI from Office turned out to be the strategy MS would later choose in order to let Power BI evolve into the next generation cloud BI solution we see today </a:t>
            </a:r>
            <a:endParaRPr lang="en-US" dirty="0"/>
          </a:p>
        </p:txBody>
      </p:sp>
      <p:pic>
        <p:nvPicPr>
          <p:cNvPr id="3" name="Picture 2"/>
          <p:cNvPicPr>
            <a:picLocks noChangeAspect="1"/>
          </p:cNvPicPr>
          <p:nvPr/>
        </p:nvPicPr>
        <p:blipFill>
          <a:blip r:embed="rId2"/>
          <a:stretch>
            <a:fillRect/>
          </a:stretch>
        </p:blipFill>
        <p:spPr>
          <a:xfrm>
            <a:off x="186475" y="2203901"/>
            <a:ext cx="5730849" cy="2477528"/>
          </a:xfrm>
          <a:prstGeom prst="rect">
            <a:avLst/>
          </a:prstGeom>
        </p:spPr>
      </p:pic>
      <p:sp>
        <p:nvSpPr>
          <p:cNvPr id="8" name="Rectangle 7"/>
          <p:cNvSpPr/>
          <p:nvPr/>
        </p:nvSpPr>
        <p:spPr>
          <a:xfrm>
            <a:off x="9417269" y="239513"/>
            <a:ext cx="2543503" cy="1325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3"/>
              </a:rPr>
              <a:t>May 2nd, </a:t>
            </a:r>
            <a:r>
              <a:rPr lang="en-US" dirty="0" smtClean="0">
                <a:hlinkClick r:id="rId3"/>
              </a:rPr>
              <a:t>2010</a:t>
            </a:r>
            <a:r>
              <a:rPr lang="en-US" dirty="0" smtClean="0"/>
              <a:t>:</a:t>
            </a:r>
            <a:endParaRPr lang="en-US" dirty="0"/>
          </a:p>
          <a:p>
            <a:pPr algn="ctr"/>
            <a:r>
              <a:rPr lang="en-US" dirty="0" smtClean="0"/>
              <a:t>“Greetings </a:t>
            </a:r>
            <a:r>
              <a:rPr lang="en-US" dirty="0"/>
              <a:t>from Microsoft Convergence 2010 in Atlanta – Part </a:t>
            </a:r>
            <a:r>
              <a:rPr lang="en-US" dirty="0" smtClean="0"/>
              <a:t>1”</a:t>
            </a:r>
            <a:endParaRPr lang="en-US" dirty="0"/>
          </a:p>
        </p:txBody>
      </p:sp>
    </p:spTree>
    <p:extLst>
      <p:ext uri="{BB962C8B-B14F-4D97-AF65-F5344CB8AC3E}">
        <p14:creationId xmlns:p14="http://schemas.microsoft.com/office/powerpoint/2010/main" val="30800113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5"/>
            <a:ext cx="7769772" cy="1325563"/>
          </a:xfrm>
        </p:spPr>
        <p:txBody>
          <a:bodyPr/>
          <a:lstStyle/>
          <a:p>
            <a:r>
              <a:rPr lang="en-US" dirty="0" smtClean="0"/>
              <a:t>Making Microsoft Social</a:t>
            </a:r>
            <a:endParaRPr lang="en-US" dirty="0"/>
          </a:p>
        </p:txBody>
      </p:sp>
      <p:sp>
        <p:nvSpPr>
          <p:cNvPr id="7" name="Content Placeholder 6"/>
          <p:cNvSpPr>
            <a:spLocks noGrp="1"/>
          </p:cNvSpPr>
          <p:nvPr>
            <p:ph sz="half" idx="2"/>
          </p:nvPr>
        </p:nvSpPr>
        <p:spPr>
          <a:xfrm>
            <a:off x="5023945" y="1825625"/>
            <a:ext cx="6852745" cy="2361141"/>
          </a:xfrm>
        </p:spPr>
        <p:txBody>
          <a:bodyPr>
            <a:normAutofit fontScale="85000" lnSpcReduction="20000"/>
          </a:bodyPr>
          <a:lstStyle/>
          <a:p>
            <a:r>
              <a:rPr lang="en-US" dirty="0" smtClean="0"/>
              <a:t>In 2010 no one was able to hide from social media anymore, ”Social CRM” had become the Next Big Thing, the customers were now in charge</a:t>
            </a:r>
          </a:p>
          <a:p>
            <a:r>
              <a:rPr lang="en-US" dirty="0" smtClean="0"/>
              <a:t>Software giants like MS weren’t able to match the speed of agile startups building all the coolest social tools, so working well together with these new tools was the best that anyone could hope from them</a:t>
            </a:r>
            <a:endParaRPr lang="en-US" dirty="0"/>
          </a:p>
        </p:txBody>
      </p:sp>
      <p:pic>
        <p:nvPicPr>
          <p:cNvPr id="3" name="Picture 2"/>
          <p:cNvPicPr>
            <a:picLocks noChangeAspect="1"/>
          </p:cNvPicPr>
          <p:nvPr/>
        </p:nvPicPr>
        <p:blipFill>
          <a:blip r:embed="rId2"/>
          <a:stretch>
            <a:fillRect/>
          </a:stretch>
        </p:blipFill>
        <p:spPr>
          <a:xfrm>
            <a:off x="197069" y="1818289"/>
            <a:ext cx="4701101" cy="4874229"/>
          </a:xfrm>
          <a:prstGeom prst="rect">
            <a:avLst/>
          </a:prstGeom>
        </p:spPr>
      </p:pic>
      <p:pic>
        <p:nvPicPr>
          <p:cNvPr id="1026" name="Picture 2" descr="http://survivingcrm.com/wp-content/uploads/2010/05/Social_customer_stack.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5636" y="4597181"/>
            <a:ext cx="2932635" cy="222293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9417269" y="239513"/>
            <a:ext cx="2543503" cy="1325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4"/>
              </a:rPr>
              <a:t>May 8th, </a:t>
            </a:r>
            <a:r>
              <a:rPr lang="en-US" dirty="0" smtClean="0">
                <a:hlinkClick r:id="rId4"/>
              </a:rPr>
              <a:t>2010</a:t>
            </a:r>
            <a:r>
              <a:rPr lang="en-US" dirty="0" smtClean="0"/>
              <a:t>:</a:t>
            </a:r>
            <a:endParaRPr lang="en-US" dirty="0"/>
          </a:p>
          <a:p>
            <a:pPr algn="ctr"/>
            <a:r>
              <a:rPr lang="en-US" dirty="0" smtClean="0"/>
              <a:t>“Greetings </a:t>
            </a:r>
            <a:r>
              <a:rPr lang="en-US" dirty="0"/>
              <a:t>from Microsoft Convergence 2010 in Atlanta – Part </a:t>
            </a:r>
            <a:r>
              <a:rPr lang="en-US" dirty="0" smtClean="0"/>
              <a:t>2”</a:t>
            </a:r>
            <a:endParaRPr lang="en-US" dirty="0"/>
          </a:p>
        </p:txBody>
      </p:sp>
      <p:sp>
        <p:nvSpPr>
          <p:cNvPr id="10" name="Content Placeholder 6"/>
          <p:cNvSpPr>
            <a:spLocks noGrp="1"/>
          </p:cNvSpPr>
          <p:nvPr>
            <p:ph sz="half" idx="2"/>
          </p:nvPr>
        </p:nvSpPr>
        <p:spPr>
          <a:xfrm>
            <a:off x="7655721" y="3972910"/>
            <a:ext cx="4346744" cy="2847209"/>
          </a:xfrm>
        </p:spPr>
        <p:txBody>
          <a:bodyPr>
            <a:normAutofit fontScale="77500" lnSpcReduction="20000"/>
          </a:bodyPr>
          <a:lstStyle/>
          <a:p>
            <a:r>
              <a:rPr lang="en-US" dirty="0" smtClean="0"/>
              <a:t>For internal social tools, a response to SFDC Chatter was nowhere in sight yet. As the Office guys weren’t able to deliver it, MS ended up buying Yammer to fit this gap 2 years later</a:t>
            </a:r>
          </a:p>
          <a:p>
            <a:r>
              <a:rPr lang="en-US" dirty="0" smtClean="0"/>
              <a:t>External social channels were covered via Netbreeze acquisition in 2013, which in 2015 integrated with customer social profiles in CRM as MS Social Engagement</a:t>
            </a:r>
            <a:endParaRPr lang="en-US" dirty="0"/>
          </a:p>
        </p:txBody>
      </p:sp>
    </p:spTree>
    <p:extLst>
      <p:ext uri="{BB962C8B-B14F-4D97-AF65-F5344CB8AC3E}">
        <p14:creationId xmlns:p14="http://schemas.microsoft.com/office/powerpoint/2010/main" val="31978936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203731" cy="1325563"/>
          </a:xfrm>
        </p:spPr>
        <p:txBody>
          <a:bodyPr>
            <a:normAutofit fontScale="90000"/>
          </a:bodyPr>
          <a:lstStyle/>
          <a:p>
            <a:r>
              <a:rPr lang="en-US" dirty="0" smtClean="0"/>
              <a:t>The many faces of LoB app development</a:t>
            </a:r>
            <a:endParaRPr lang="en-US" dirty="0"/>
          </a:p>
        </p:txBody>
      </p:sp>
      <p:sp>
        <p:nvSpPr>
          <p:cNvPr id="4" name="Content Placeholder 3"/>
          <p:cNvSpPr>
            <a:spLocks noGrp="1"/>
          </p:cNvSpPr>
          <p:nvPr>
            <p:ph sz="half" idx="2"/>
          </p:nvPr>
        </p:nvSpPr>
        <p:spPr>
          <a:xfrm>
            <a:off x="5349766" y="1825624"/>
            <a:ext cx="6526924" cy="4890486"/>
          </a:xfrm>
        </p:spPr>
        <p:txBody>
          <a:bodyPr>
            <a:normAutofit fontScale="92500" lnSpcReduction="20000"/>
          </a:bodyPr>
          <a:lstStyle/>
          <a:p>
            <a:r>
              <a:rPr lang="en-US" dirty="0" smtClean="0"/>
              <a:t>In 2010 the question </a:t>
            </a:r>
            <a:r>
              <a:rPr lang="en-US" i="1" dirty="0" smtClean="0"/>
              <a:t>”what comes after web apps” </a:t>
            </a:r>
            <a:r>
              <a:rPr lang="en-US" dirty="0" smtClean="0"/>
              <a:t>was answered with </a:t>
            </a:r>
            <a:r>
              <a:rPr lang="en-US" i="1" dirty="0" smtClean="0"/>
              <a:t>”Rich </a:t>
            </a:r>
            <a:r>
              <a:rPr lang="en-US" i="1" dirty="0"/>
              <a:t>I</a:t>
            </a:r>
            <a:r>
              <a:rPr lang="en-US" i="1" dirty="0" smtClean="0"/>
              <a:t>nternet </a:t>
            </a:r>
            <a:r>
              <a:rPr lang="en-US" i="1" dirty="0"/>
              <a:t>A</a:t>
            </a:r>
            <a:r>
              <a:rPr lang="en-US" i="1" dirty="0" smtClean="0"/>
              <a:t>pplications a.k.a. RIA”</a:t>
            </a:r>
          </a:p>
          <a:p>
            <a:r>
              <a:rPr lang="en-US" dirty="0" smtClean="0"/>
              <a:t>Microsoft’s RIA browser plugin was Silverlight and at that point there was even speculation on if we would see a SL based CRM client app emerge</a:t>
            </a:r>
          </a:p>
          <a:p>
            <a:r>
              <a:rPr lang="en-US" dirty="0" smtClean="0"/>
              <a:t>MS launched LightSwitch as a toolkit for building small business apps in SL, which sounded a lot like the earlier XRM story</a:t>
            </a:r>
          </a:p>
          <a:p>
            <a:r>
              <a:rPr lang="en-US" dirty="0" smtClean="0"/>
              <a:t>As we now know, RIA plugins died within a couple of years as HTML5/</a:t>
            </a:r>
            <a:r>
              <a:rPr lang="en-US" dirty="0" err="1" smtClean="0"/>
              <a:t>Javascript</a:t>
            </a:r>
            <a:r>
              <a:rPr lang="en-US" dirty="0" smtClean="0"/>
              <a:t> won the battle. LightSwitch got assimilated into the complex app development story of MS, but XRM as a concept is still alive</a:t>
            </a:r>
            <a:endParaRPr lang="en-US" dirty="0"/>
          </a:p>
        </p:txBody>
      </p:sp>
      <p:pic>
        <p:nvPicPr>
          <p:cNvPr id="5" name="Picture 4"/>
          <p:cNvPicPr>
            <a:picLocks noChangeAspect="1"/>
          </p:cNvPicPr>
          <p:nvPr/>
        </p:nvPicPr>
        <p:blipFill>
          <a:blip r:embed="rId2"/>
          <a:stretch>
            <a:fillRect/>
          </a:stretch>
        </p:blipFill>
        <p:spPr>
          <a:xfrm>
            <a:off x="221658" y="1747072"/>
            <a:ext cx="5054535" cy="5047220"/>
          </a:xfrm>
          <a:prstGeom prst="rect">
            <a:avLst/>
          </a:prstGeom>
        </p:spPr>
      </p:pic>
      <p:sp>
        <p:nvSpPr>
          <p:cNvPr id="6" name="Rectangle 5"/>
          <p:cNvSpPr/>
          <p:nvPr/>
        </p:nvSpPr>
        <p:spPr>
          <a:xfrm>
            <a:off x="9417269" y="239513"/>
            <a:ext cx="2543503" cy="1325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3"/>
              </a:rPr>
              <a:t>Sep 2nd, 2010</a:t>
            </a:r>
            <a:r>
              <a:rPr lang="en-US" dirty="0"/>
              <a:t>:</a:t>
            </a:r>
          </a:p>
          <a:p>
            <a:pPr algn="ctr"/>
            <a:r>
              <a:rPr lang="en-US" dirty="0" smtClean="0"/>
              <a:t>“Dynamics </a:t>
            </a:r>
            <a:r>
              <a:rPr lang="en-US" dirty="0"/>
              <a:t>CRM summer news </a:t>
            </a:r>
            <a:r>
              <a:rPr lang="en-US" dirty="0" smtClean="0"/>
              <a:t>round-up”</a:t>
            </a:r>
            <a:endParaRPr lang="en-US" dirty="0"/>
          </a:p>
        </p:txBody>
      </p:sp>
    </p:spTree>
    <p:extLst>
      <p:ext uri="{BB962C8B-B14F-4D97-AF65-F5344CB8AC3E}">
        <p14:creationId xmlns:p14="http://schemas.microsoft.com/office/powerpoint/2010/main" val="37329040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5"/>
            <a:ext cx="6750269" cy="1325563"/>
          </a:xfrm>
        </p:spPr>
        <p:txBody>
          <a:bodyPr>
            <a:normAutofit fontScale="90000"/>
          </a:bodyPr>
          <a:lstStyle/>
          <a:p>
            <a:r>
              <a:rPr lang="en-US" dirty="0" smtClean="0"/>
              <a:t>A CRM that works exactly like Outlook</a:t>
            </a:r>
            <a:endParaRPr lang="en-US" dirty="0"/>
          </a:p>
        </p:txBody>
      </p:sp>
      <p:sp>
        <p:nvSpPr>
          <p:cNvPr id="7" name="Content Placeholder 6"/>
          <p:cNvSpPr>
            <a:spLocks noGrp="1"/>
          </p:cNvSpPr>
          <p:nvPr>
            <p:ph sz="half" idx="2"/>
          </p:nvPr>
        </p:nvSpPr>
        <p:spPr>
          <a:xfrm>
            <a:off x="5171090" y="1825624"/>
            <a:ext cx="6589986" cy="4743341"/>
          </a:xfrm>
        </p:spPr>
        <p:txBody>
          <a:bodyPr>
            <a:normAutofit fontScale="85000" lnSpcReduction="10000"/>
          </a:bodyPr>
          <a:lstStyle/>
          <a:p>
            <a:r>
              <a:rPr lang="en-US" dirty="0" smtClean="0"/>
              <a:t>While the CRM Outlook plugin had provided track/sync features for years, the next CRM 2011 version promised to make CRM data truly a native part of the familiar Outlook experience</a:t>
            </a:r>
          </a:p>
          <a:p>
            <a:r>
              <a:rPr lang="en-US" dirty="0" smtClean="0"/>
              <a:t>The Ribbon, reading pane, conditional formatting and all the other MAPI goodness sure made CRM feel like Outlook – in good and bad</a:t>
            </a:r>
          </a:p>
          <a:p>
            <a:r>
              <a:rPr lang="en-US" dirty="0" smtClean="0"/>
              <a:t>While lowering the barrier for Outlook users to access CRM, the reliability of the Outlook client never reached a level where system administrators wouldn’t need to worry about it</a:t>
            </a:r>
          </a:p>
          <a:p>
            <a:r>
              <a:rPr lang="en-US" dirty="0" smtClean="0"/>
              <a:t>In 2015 MS introduced the first version of CRM Outlook (web) App that will potentially make the ”fat” Outlook client a thing of the past (one day)</a:t>
            </a:r>
            <a:endParaRPr lang="en-US" dirty="0"/>
          </a:p>
        </p:txBody>
      </p:sp>
      <p:pic>
        <p:nvPicPr>
          <p:cNvPr id="3" name="Picture 2"/>
          <p:cNvPicPr>
            <a:picLocks noChangeAspect="1"/>
          </p:cNvPicPr>
          <p:nvPr/>
        </p:nvPicPr>
        <p:blipFill>
          <a:blip r:embed="rId2"/>
          <a:stretch>
            <a:fillRect/>
          </a:stretch>
        </p:blipFill>
        <p:spPr>
          <a:xfrm>
            <a:off x="218089" y="1690688"/>
            <a:ext cx="4771940" cy="5043232"/>
          </a:xfrm>
          <a:prstGeom prst="rect">
            <a:avLst/>
          </a:prstGeom>
        </p:spPr>
      </p:pic>
      <p:sp>
        <p:nvSpPr>
          <p:cNvPr id="8" name="Rectangle 7"/>
          <p:cNvSpPr/>
          <p:nvPr/>
        </p:nvSpPr>
        <p:spPr>
          <a:xfrm>
            <a:off x="9417269" y="239513"/>
            <a:ext cx="2543503" cy="1325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3"/>
              </a:rPr>
              <a:t>July 12th, 2010</a:t>
            </a:r>
            <a:r>
              <a:rPr lang="en-US" dirty="0"/>
              <a:t>:</a:t>
            </a:r>
          </a:p>
          <a:p>
            <a:pPr algn="ctr"/>
            <a:r>
              <a:rPr lang="en-US" dirty="0" smtClean="0"/>
              <a:t>“Dynamics </a:t>
            </a:r>
            <a:r>
              <a:rPr lang="en-US" dirty="0"/>
              <a:t>CRM 2011 and the world of (cloud) </a:t>
            </a:r>
            <a:r>
              <a:rPr lang="en-US" dirty="0" smtClean="0"/>
              <a:t>apps”</a:t>
            </a:r>
            <a:endParaRPr lang="en-US" dirty="0"/>
          </a:p>
        </p:txBody>
      </p:sp>
    </p:spTree>
    <p:extLst>
      <p:ext uri="{BB962C8B-B14F-4D97-AF65-F5344CB8AC3E}">
        <p14:creationId xmlns:p14="http://schemas.microsoft.com/office/powerpoint/2010/main" val="10775454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5"/>
            <a:ext cx="7055069" cy="1325563"/>
          </a:xfrm>
        </p:spPr>
        <p:txBody>
          <a:bodyPr>
            <a:normAutofit fontScale="90000"/>
          </a:bodyPr>
          <a:lstStyle/>
          <a:p>
            <a:r>
              <a:rPr lang="en-US" dirty="0" smtClean="0"/>
              <a:t>Hey, about that SharePoint integration…</a:t>
            </a:r>
            <a:endParaRPr lang="en-US" dirty="0"/>
          </a:p>
        </p:txBody>
      </p:sp>
      <p:sp>
        <p:nvSpPr>
          <p:cNvPr id="7" name="Content Placeholder 6"/>
          <p:cNvSpPr>
            <a:spLocks noGrp="1"/>
          </p:cNvSpPr>
          <p:nvPr>
            <p:ph sz="half" idx="2"/>
          </p:nvPr>
        </p:nvSpPr>
        <p:spPr>
          <a:xfrm>
            <a:off x="5665075" y="1825625"/>
            <a:ext cx="6295697" cy="4795892"/>
          </a:xfrm>
        </p:spPr>
        <p:txBody>
          <a:bodyPr>
            <a:normAutofit fontScale="85000" lnSpcReduction="20000"/>
          </a:bodyPr>
          <a:lstStyle/>
          <a:p>
            <a:r>
              <a:rPr lang="en-US" dirty="0" smtClean="0"/>
              <a:t>Linking documents to customer records wasn’t an uncommon CRM requirement in 2010, so MS wanted to make SharePoint the obvious choice for document storage with CRM 2011</a:t>
            </a:r>
          </a:p>
          <a:p>
            <a:r>
              <a:rPr lang="en-US" dirty="0" smtClean="0"/>
              <a:t>While automated folder creation for new records in CRM 2011 was neat, the lack of configuration options and dependency on client-side code made this difficult to leverage in real world implementations</a:t>
            </a:r>
          </a:p>
          <a:p>
            <a:r>
              <a:rPr lang="en-US" dirty="0" smtClean="0"/>
              <a:t>CRM-SP security sync was where I put my money for MS to build an </a:t>
            </a:r>
            <a:r>
              <a:rPr lang="en-US" dirty="0" err="1" smtClean="0"/>
              <a:t>OoB</a:t>
            </a:r>
            <a:r>
              <a:rPr lang="en-US" dirty="0" smtClean="0"/>
              <a:t> solution, but looks like I’ll never see a dime of it now…</a:t>
            </a:r>
          </a:p>
          <a:p>
            <a:r>
              <a:rPr lang="en-US" dirty="0" smtClean="0"/>
              <a:t>SP search features never arrived to CRM, but in 2016 the new Relevance Search powered by Azure Search service promises to finally bring more advanced content indexing to CRM</a:t>
            </a:r>
            <a:endParaRPr lang="en-US" dirty="0"/>
          </a:p>
        </p:txBody>
      </p:sp>
      <p:pic>
        <p:nvPicPr>
          <p:cNvPr id="3" name="Picture 2"/>
          <p:cNvPicPr>
            <a:picLocks noChangeAspect="1"/>
          </p:cNvPicPr>
          <p:nvPr/>
        </p:nvPicPr>
        <p:blipFill>
          <a:blip r:embed="rId2"/>
          <a:stretch>
            <a:fillRect/>
          </a:stretch>
        </p:blipFill>
        <p:spPr>
          <a:xfrm>
            <a:off x="197069" y="1776247"/>
            <a:ext cx="5373414" cy="4971590"/>
          </a:xfrm>
          <a:prstGeom prst="rect">
            <a:avLst/>
          </a:prstGeom>
        </p:spPr>
      </p:pic>
      <p:sp>
        <p:nvSpPr>
          <p:cNvPr id="8" name="Rectangle 7"/>
          <p:cNvSpPr/>
          <p:nvPr/>
        </p:nvSpPr>
        <p:spPr>
          <a:xfrm>
            <a:off x="9417269" y="239513"/>
            <a:ext cx="2543503" cy="1325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3"/>
              </a:rPr>
              <a:t>July 12th, 2010</a:t>
            </a:r>
            <a:r>
              <a:rPr lang="en-US" dirty="0"/>
              <a:t>:</a:t>
            </a:r>
          </a:p>
          <a:p>
            <a:pPr algn="ctr"/>
            <a:r>
              <a:rPr lang="en-US" dirty="0" smtClean="0"/>
              <a:t>“Dynamics </a:t>
            </a:r>
            <a:r>
              <a:rPr lang="en-US" dirty="0"/>
              <a:t>CRM 2011 and the world of (cloud) </a:t>
            </a:r>
            <a:r>
              <a:rPr lang="en-US" dirty="0" smtClean="0"/>
              <a:t>apps”</a:t>
            </a:r>
            <a:endParaRPr lang="en-US" dirty="0"/>
          </a:p>
        </p:txBody>
      </p:sp>
    </p:spTree>
    <p:extLst>
      <p:ext uri="{BB962C8B-B14F-4D97-AF65-F5344CB8AC3E}">
        <p14:creationId xmlns:p14="http://schemas.microsoft.com/office/powerpoint/2010/main" val="8651590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5"/>
            <a:ext cx="7233745" cy="1325563"/>
          </a:xfrm>
        </p:spPr>
        <p:txBody>
          <a:bodyPr>
            <a:normAutofit fontScale="90000"/>
          </a:bodyPr>
          <a:lstStyle/>
          <a:p>
            <a:r>
              <a:rPr lang="en-US" dirty="0" smtClean="0"/>
              <a:t>Build a Marketplace and the apps will come?</a:t>
            </a:r>
            <a:endParaRPr lang="en-US" dirty="0"/>
          </a:p>
        </p:txBody>
      </p:sp>
      <p:sp>
        <p:nvSpPr>
          <p:cNvPr id="8" name="Content Placeholder 7"/>
          <p:cNvSpPr>
            <a:spLocks noGrp="1"/>
          </p:cNvSpPr>
          <p:nvPr>
            <p:ph sz="half" idx="2"/>
          </p:nvPr>
        </p:nvSpPr>
        <p:spPr>
          <a:xfrm>
            <a:off x="5391809" y="1825624"/>
            <a:ext cx="6568964" cy="4943038"/>
          </a:xfrm>
        </p:spPr>
        <p:txBody>
          <a:bodyPr>
            <a:normAutofit fontScale="77500" lnSpcReduction="20000"/>
          </a:bodyPr>
          <a:lstStyle/>
          <a:p>
            <a:r>
              <a:rPr lang="en-US" dirty="0" smtClean="0"/>
              <a:t>CRM 2011 was about to deliver a new solution management model into CRM, thus greatly enhancing the technical foundation for installing add-ins from 3rd parties into customized CRM environments</a:t>
            </a:r>
          </a:p>
          <a:p>
            <a:r>
              <a:rPr lang="en-US" dirty="0" smtClean="0"/>
              <a:t>Dynamics Marketplace was promoted as the place from which customers would conveniently find these solutions, listed there by ISV partners and verified via MS’s certification process</a:t>
            </a:r>
          </a:p>
          <a:p>
            <a:r>
              <a:rPr lang="en-US" dirty="0" smtClean="0"/>
              <a:t>Although ”full ecommerce” functionality was promised, it never arrived, thus leaving a central component of a true marketplace missing</a:t>
            </a:r>
          </a:p>
          <a:p>
            <a:r>
              <a:rPr lang="en-US" dirty="0" smtClean="0"/>
              <a:t>Today Dynamics Marketplace is no more and the contents has been rolled back to the generic MS Pinpoint listings that always were behind the service</a:t>
            </a:r>
          </a:p>
          <a:p>
            <a:r>
              <a:rPr lang="en-US" dirty="0" smtClean="0"/>
              <a:t>While great ISV solutions continue to be developed for Dynamics CRM, the inability for MS to support their partner app ecosystem is quite puzzling</a:t>
            </a:r>
            <a:endParaRPr lang="en-US" dirty="0"/>
          </a:p>
        </p:txBody>
      </p:sp>
      <p:pic>
        <p:nvPicPr>
          <p:cNvPr id="3" name="Picture 2"/>
          <p:cNvPicPr>
            <a:picLocks noChangeAspect="1"/>
          </p:cNvPicPr>
          <p:nvPr/>
        </p:nvPicPr>
        <p:blipFill>
          <a:blip r:embed="rId2"/>
          <a:stretch>
            <a:fillRect/>
          </a:stretch>
        </p:blipFill>
        <p:spPr>
          <a:xfrm>
            <a:off x="186560" y="1816300"/>
            <a:ext cx="5205248" cy="3326832"/>
          </a:xfrm>
          <a:prstGeom prst="rect">
            <a:avLst/>
          </a:prstGeom>
        </p:spPr>
      </p:pic>
      <p:sp>
        <p:nvSpPr>
          <p:cNvPr id="6" name="Rectangle 5"/>
          <p:cNvSpPr/>
          <p:nvPr/>
        </p:nvSpPr>
        <p:spPr>
          <a:xfrm>
            <a:off x="9417269" y="239513"/>
            <a:ext cx="2543503" cy="1325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3"/>
              </a:rPr>
              <a:t>July 12th, 2010</a:t>
            </a:r>
            <a:r>
              <a:rPr lang="en-US" dirty="0"/>
              <a:t>:</a:t>
            </a:r>
          </a:p>
          <a:p>
            <a:pPr algn="ctr"/>
            <a:r>
              <a:rPr lang="en-US" dirty="0" smtClean="0"/>
              <a:t>“Dynamics </a:t>
            </a:r>
            <a:r>
              <a:rPr lang="en-US" dirty="0"/>
              <a:t>CRM 2011 and the world of (cloud) </a:t>
            </a:r>
            <a:r>
              <a:rPr lang="en-US" dirty="0" smtClean="0"/>
              <a:t>apps”</a:t>
            </a:r>
            <a:endParaRPr lang="en-US" dirty="0"/>
          </a:p>
        </p:txBody>
      </p:sp>
      <p:pic>
        <p:nvPicPr>
          <p:cNvPr id="9" name="Picture 8"/>
          <p:cNvPicPr>
            <a:picLocks noChangeAspect="1"/>
          </p:cNvPicPr>
          <p:nvPr/>
        </p:nvPicPr>
        <p:blipFill>
          <a:blip r:embed="rId4"/>
          <a:stretch>
            <a:fillRect/>
          </a:stretch>
        </p:blipFill>
        <p:spPr>
          <a:xfrm>
            <a:off x="714704" y="5241102"/>
            <a:ext cx="3195144" cy="1616898"/>
          </a:xfrm>
          <a:prstGeom prst="rect">
            <a:avLst/>
          </a:prstGeom>
        </p:spPr>
      </p:pic>
    </p:spTree>
    <p:extLst>
      <p:ext uri="{BB962C8B-B14F-4D97-AF65-F5344CB8AC3E}">
        <p14:creationId xmlns:p14="http://schemas.microsoft.com/office/powerpoint/2010/main" val="29075388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5"/>
            <a:ext cx="5457497" cy="1325563"/>
          </a:xfrm>
        </p:spPr>
        <p:txBody>
          <a:bodyPr>
            <a:normAutofit fontScale="90000"/>
          </a:bodyPr>
          <a:lstStyle/>
          <a:p>
            <a:r>
              <a:rPr lang="en-US" dirty="0" smtClean="0"/>
              <a:t>Solutions are the final solution</a:t>
            </a:r>
            <a:endParaRPr lang="en-US" dirty="0"/>
          </a:p>
        </p:txBody>
      </p:sp>
      <p:sp>
        <p:nvSpPr>
          <p:cNvPr id="7" name="Content Placeholder 6"/>
          <p:cNvSpPr>
            <a:spLocks noGrp="1"/>
          </p:cNvSpPr>
          <p:nvPr>
            <p:ph sz="half" idx="2"/>
          </p:nvPr>
        </p:nvSpPr>
        <p:spPr>
          <a:xfrm>
            <a:off x="4934187" y="1825624"/>
            <a:ext cx="7026585" cy="4919804"/>
          </a:xfrm>
        </p:spPr>
        <p:txBody>
          <a:bodyPr>
            <a:normAutofit fontScale="85000" lnSpcReduction="20000"/>
          </a:bodyPr>
          <a:lstStyle/>
          <a:p>
            <a:r>
              <a:rPr lang="en-US" dirty="0" smtClean="0"/>
              <a:t>Before CRM 2011, trying to merge customizations from multiple vendors into a single CRM organizations was quite painful</a:t>
            </a:r>
          </a:p>
          <a:p>
            <a:r>
              <a:rPr lang="en-US" dirty="0" smtClean="0"/>
              <a:t>The managed solution layers promised peace &amp; harmony for co-existence of various ISV add-ons</a:t>
            </a:r>
          </a:p>
          <a:p>
            <a:r>
              <a:rPr lang="en-US" dirty="0" smtClean="0"/>
              <a:t>In practice, dependencies across different solutions’ components often blocked the graceful uninstall</a:t>
            </a:r>
          </a:p>
          <a:p>
            <a:r>
              <a:rPr lang="en-US" dirty="0" smtClean="0"/>
              <a:t>Fooled by MS’s initial guidance to always use managed solutions in production, many VAR partners learned it the hard way that customer specific customizations were usually best left in unmanaged state</a:t>
            </a:r>
          </a:p>
          <a:p>
            <a:r>
              <a:rPr lang="en-US" dirty="0" smtClean="0"/>
              <a:t>Solution framework has gradually improved and in CRM 2016 the ability to select solution components on a more granular level than whole entities is promising a brighter future</a:t>
            </a:r>
            <a:endParaRPr lang="en-US" dirty="0"/>
          </a:p>
        </p:txBody>
      </p:sp>
      <p:pic>
        <p:nvPicPr>
          <p:cNvPr id="3" name="Picture 2"/>
          <p:cNvPicPr>
            <a:picLocks noChangeAspect="1"/>
          </p:cNvPicPr>
          <p:nvPr/>
        </p:nvPicPr>
        <p:blipFill>
          <a:blip r:embed="rId2"/>
          <a:stretch>
            <a:fillRect/>
          </a:stretch>
        </p:blipFill>
        <p:spPr>
          <a:xfrm>
            <a:off x="249620" y="1825625"/>
            <a:ext cx="4684567" cy="4919803"/>
          </a:xfrm>
          <a:prstGeom prst="rect">
            <a:avLst/>
          </a:prstGeom>
        </p:spPr>
      </p:pic>
      <p:sp>
        <p:nvSpPr>
          <p:cNvPr id="8" name="Rectangle 7"/>
          <p:cNvSpPr/>
          <p:nvPr/>
        </p:nvSpPr>
        <p:spPr>
          <a:xfrm>
            <a:off x="9417269" y="239513"/>
            <a:ext cx="2543503" cy="1325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3"/>
              </a:rPr>
              <a:t>Sep 11th, </a:t>
            </a:r>
            <a:r>
              <a:rPr lang="en-US" dirty="0" smtClean="0">
                <a:hlinkClick r:id="rId3"/>
              </a:rPr>
              <a:t>2010</a:t>
            </a:r>
            <a:r>
              <a:rPr lang="en-US" dirty="0" smtClean="0"/>
              <a:t>:</a:t>
            </a:r>
            <a:endParaRPr lang="en-US" dirty="0"/>
          </a:p>
          <a:p>
            <a:pPr algn="ctr"/>
            <a:r>
              <a:rPr lang="en-US" dirty="0"/>
              <a:t>Dynamics CRM 2011 in all its (beta) glory</a:t>
            </a:r>
          </a:p>
        </p:txBody>
      </p:sp>
    </p:spTree>
    <p:extLst>
      <p:ext uri="{BB962C8B-B14F-4D97-AF65-F5344CB8AC3E}">
        <p14:creationId xmlns:p14="http://schemas.microsoft.com/office/powerpoint/2010/main" val="31706588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5"/>
            <a:ext cx="7044559" cy="1325563"/>
          </a:xfrm>
        </p:spPr>
        <p:txBody>
          <a:bodyPr>
            <a:normAutofit fontScale="90000"/>
          </a:bodyPr>
          <a:lstStyle/>
          <a:p>
            <a:r>
              <a:rPr lang="en-US" dirty="0" smtClean="0"/>
              <a:t>My God, it’s full of charts!</a:t>
            </a:r>
            <a:endParaRPr lang="en-US" dirty="0"/>
          </a:p>
        </p:txBody>
      </p:sp>
      <p:sp>
        <p:nvSpPr>
          <p:cNvPr id="7" name="Content Placeholder 6"/>
          <p:cNvSpPr>
            <a:spLocks noGrp="1"/>
          </p:cNvSpPr>
          <p:nvPr>
            <p:ph sz="half" idx="2"/>
          </p:nvPr>
        </p:nvSpPr>
        <p:spPr>
          <a:xfrm>
            <a:off x="5065986" y="1825624"/>
            <a:ext cx="6684580" cy="4743341"/>
          </a:xfrm>
        </p:spPr>
        <p:txBody>
          <a:bodyPr>
            <a:normAutofit fontScale="85000" lnSpcReduction="20000"/>
          </a:bodyPr>
          <a:lstStyle/>
          <a:p>
            <a:r>
              <a:rPr lang="en-US" dirty="0" smtClean="0"/>
              <a:t>The addition of charts and dashboards in CRM 2011 greatly expanded the usefulness of the application for managing complete business processes, not just records and fields</a:t>
            </a:r>
          </a:p>
          <a:p>
            <a:r>
              <a:rPr lang="en-US" dirty="0" smtClean="0"/>
              <a:t>Simple SSRS report development was replaced with chart configuration, thus lowering the barrier for applying data visualizations into processes</a:t>
            </a:r>
          </a:p>
          <a:p>
            <a:r>
              <a:rPr lang="en-US" dirty="0" smtClean="0"/>
              <a:t>No major feature development of the ASP.NET based charts was introduced after CRM 2011, advanced customization of CRM visualizations remained quite rare, full SSRS capabilities weren’t ever brought into the cloud</a:t>
            </a:r>
          </a:p>
          <a:p>
            <a:r>
              <a:rPr lang="en-US" dirty="0" smtClean="0"/>
              <a:t>As the Power BI features are rapidly evolving, the future alignment of external analytics and CRM built-in visualizations is becoming a topic to keep a close eye on</a:t>
            </a:r>
            <a:endParaRPr lang="en-US" dirty="0"/>
          </a:p>
        </p:txBody>
      </p:sp>
      <p:pic>
        <p:nvPicPr>
          <p:cNvPr id="3" name="Picture 2"/>
          <p:cNvPicPr>
            <a:picLocks noChangeAspect="1"/>
          </p:cNvPicPr>
          <p:nvPr/>
        </p:nvPicPr>
        <p:blipFill>
          <a:blip r:embed="rId2"/>
          <a:stretch>
            <a:fillRect/>
          </a:stretch>
        </p:blipFill>
        <p:spPr>
          <a:xfrm>
            <a:off x="207580" y="1765738"/>
            <a:ext cx="4748917" cy="4990504"/>
          </a:xfrm>
          <a:prstGeom prst="rect">
            <a:avLst/>
          </a:prstGeom>
        </p:spPr>
      </p:pic>
      <p:sp>
        <p:nvSpPr>
          <p:cNvPr id="8" name="Rectangle 7"/>
          <p:cNvSpPr/>
          <p:nvPr/>
        </p:nvSpPr>
        <p:spPr>
          <a:xfrm>
            <a:off x="9417269" y="239513"/>
            <a:ext cx="2543503" cy="1325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3"/>
              </a:rPr>
              <a:t>Sep 11th, </a:t>
            </a:r>
            <a:r>
              <a:rPr lang="en-US" dirty="0" smtClean="0">
                <a:hlinkClick r:id="rId3"/>
              </a:rPr>
              <a:t>2010</a:t>
            </a:r>
            <a:r>
              <a:rPr lang="en-US" dirty="0" smtClean="0"/>
              <a:t>:</a:t>
            </a:r>
            <a:endParaRPr lang="en-US" dirty="0"/>
          </a:p>
          <a:p>
            <a:pPr algn="ctr"/>
            <a:r>
              <a:rPr lang="en-US" dirty="0"/>
              <a:t>Dynamics CRM 2011 in all its (beta) glory</a:t>
            </a:r>
          </a:p>
        </p:txBody>
      </p:sp>
    </p:spTree>
    <p:extLst>
      <p:ext uri="{BB962C8B-B14F-4D97-AF65-F5344CB8AC3E}">
        <p14:creationId xmlns:p14="http://schemas.microsoft.com/office/powerpoint/2010/main" val="300870630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676697" cy="1325563"/>
          </a:xfrm>
        </p:spPr>
        <p:txBody>
          <a:bodyPr>
            <a:normAutofit fontScale="90000"/>
          </a:bodyPr>
          <a:lstStyle/>
          <a:p>
            <a:r>
              <a:rPr lang="en-US" dirty="0" smtClean="0"/>
              <a:t>All in the cloud - all on their own trajectories?</a:t>
            </a:r>
            <a:endParaRPr lang="en-US" dirty="0"/>
          </a:p>
        </p:txBody>
      </p:sp>
      <p:sp>
        <p:nvSpPr>
          <p:cNvPr id="4" name="Content Placeholder 3"/>
          <p:cNvSpPr>
            <a:spLocks noGrp="1"/>
          </p:cNvSpPr>
          <p:nvPr>
            <p:ph sz="half" idx="2"/>
          </p:nvPr>
        </p:nvSpPr>
        <p:spPr>
          <a:xfrm>
            <a:off x="5969875" y="1825624"/>
            <a:ext cx="5812221" cy="4690789"/>
          </a:xfrm>
        </p:spPr>
        <p:txBody>
          <a:bodyPr>
            <a:normAutofit fontScale="85000" lnSpcReduction="20000"/>
          </a:bodyPr>
          <a:lstStyle/>
          <a:p>
            <a:r>
              <a:rPr lang="en-US" dirty="0" smtClean="0"/>
              <a:t>In 2010 Convergence EMEA the concurrent launch event of Office 365 was not mentioned at all to the Dynamics crowd</a:t>
            </a:r>
          </a:p>
          <a:p>
            <a:r>
              <a:rPr lang="en-US" dirty="0" smtClean="0"/>
              <a:t>Earlier plans for including ”XRM Services” as an Azure component had been scrapped, instead the focus was on selling a modern cloud CRM application, with user identities managed via Windows Live ID</a:t>
            </a:r>
          </a:p>
          <a:p>
            <a:r>
              <a:rPr lang="en-US" dirty="0" smtClean="0"/>
              <a:t>Fast forward to 2015, Convergence US event was all about showcasing non-Dynamics products from MS portfolio, rather than the latest CRM/ERP features</a:t>
            </a:r>
          </a:p>
          <a:p>
            <a:r>
              <a:rPr lang="en-US" dirty="0" smtClean="0"/>
              <a:t>Later the same year MBS as a unit was dismantled and Dynamics product development moved to Scott Guthrie’s C+E unit, home of Azure</a:t>
            </a:r>
            <a:endParaRPr lang="en-US" dirty="0"/>
          </a:p>
        </p:txBody>
      </p:sp>
      <p:sp>
        <p:nvSpPr>
          <p:cNvPr id="5" name="Rectangle 4"/>
          <p:cNvSpPr/>
          <p:nvPr/>
        </p:nvSpPr>
        <p:spPr>
          <a:xfrm>
            <a:off x="9417269" y="239513"/>
            <a:ext cx="2543503" cy="1325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2"/>
              </a:rPr>
              <a:t>Oct 25th, 2010</a:t>
            </a:r>
            <a:r>
              <a:rPr lang="en-US" dirty="0"/>
              <a:t>:</a:t>
            </a:r>
          </a:p>
          <a:p>
            <a:pPr algn="ctr"/>
            <a:r>
              <a:rPr lang="en-US" dirty="0" smtClean="0"/>
              <a:t>“Greetings </a:t>
            </a:r>
            <a:r>
              <a:rPr lang="en-US" dirty="0"/>
              <a:t>from Microsoft Convergence 2010 </a:t>
            </a:r>
            <a:r>
              <a:rPr lang="en-US" dirty="0" smtClean="0"/>
              <a:t>EMEA”</a:t>
            </a:r>
            <a:endParaRPr lang="en-US" dirty="0"/>
          </a:p>
        </p:txBody>
      </p:sp>
      <p:pic>
        <p:nvPicPr>
          <p:cNvPr id="6" name="Picture 5"/>
          <p:cNvPicPr>
            <a:picLocks noChangeAspect="1"/>
          </p:cNvPicPr>
          <p:nvPr/>
        </p:nvPicPr>
        <p:blipFill>
          <a:blip r:embed="rId3"/>
          <a:stretch>
            <a:fillRect/>
          </a:stretch>
        </p:blipFill>
        <p:spPr>
          <a:xfrm>
            <a:off x="141136" y="1825625"/>
            <a:ext cx="5828740" cy="4445793"/>
          </a:xfrm>
          <a:prstGeom prst="rect">
            <a:avLst/>
          </a:prstGeom>
        </p:spPr>
      </p:pic>
    </p:spTree>
    <p:extLst>
      <p:ext uri="{BB962C8B-B14F-4D97-AF65-F5344CB8AC3E}">
        <p14:creationId xmlns:p14="http://schemas.microsoft.com/office/powerpoint/2010/main" val="2961672161"/>
      </p:ext>
    </p:extLst>
  </p:cSld>
  <p:clrMapOvr>
    <a:masterClrMapping/>
  </p:clrMapOvr>
  <p:timing>
    <p:tnLst>
      <p:par>
        <p:cTn id="1" dur="indefinite" restart="never" nodeType="tmRoot"/>
      </p:par>
    </p:tnLst>
  </p:timing>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docProps/app.xml><?xml version="1.0" encoding="utf-8"?>
<Properties xmlns="http://schemas.openxmlformats.org/officeDocument/2006/extended-properties" xmlns:vt="http://schemas.openxmlformats.org/officeDocument/2006/docPropsVTypes">
  <Template>TM04033923[[fn=Depth]]</Template>
  <TotalTime>2423</TotalTime>
  <Words>1850</Words>
  <Application>Microsoft Office PowerPoint</Application>
  <PresentationFormat>Widescreen</PresentationFormat>
  <Paragraphs>109</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Corbel</vt:lpstr>
      <vt:lpstr>Depth</vt:lpstr>
      <vt:lpstr>Dynamics CRM in 2010: 5 year retrospective</vt:lpstr>
      <vt:lpstr>About this retrospective</vt:lpstr>
      <vt:lpstr>What did I blog about in 2010?</vt:lpstr>
      <vt:lpstr>CRM, the gateway drug for the cloud?</vt:lpstr>
      <vt:lpstr>”Mobile” CRM, a bit like ”smart” phones</vt:lpstr>
      <vt:lpstr>Using CRM as your CMS, is that really a thing?</vt:lpstr>
      <vt:lpstr>Better Together: CRM and SharePoint… or Excel?</vt:lpstr>
      <vt:lpstr>Making Microsoft Social</vt:lpstr>
      <vt:lpstr>The many faces of LoB app development</vt:lpstr>
      <vt:lpstr>A CRM that works exactly like Outlook</vt:lpstr>
      <vt:lpstr>Hey, about that SharePoint integration…</vt:lpstr>
      <vt:lpstr>Build a Marketplace and the apps will come?</vt:lpstr>
      <vt:lpstr>Solutions are the final solution</vt:lpstr>
      <vt:lpstr>My God, it’s full of charts!</vt:lpstr>
      <vt:lpstr>All in the cloud - all on their own trajectories?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Dynamics CRM in 2010: 5 year retrospective</dc:title>
  <dc:creator>Jukka Niiranen</dc:creator>
  <cp:keywords>CRM, Dynamics CRM</cp:keywords>
  <cp:lastModifiedBy>Jukka Niiranen</cp:lastModifiedBy>
  <cp:revision>59</cp:revision>
  <dcterms:created xsi:type="dcterms:W3CDTF">2015-12-26T20:13:35Z</dcterms:created>
  <dcterms:modified xsi:type="dcterms:W3CDTF">2015-12-28T12:39:26Z</dcterms:modified>
</cp:coreProperties>
</file>