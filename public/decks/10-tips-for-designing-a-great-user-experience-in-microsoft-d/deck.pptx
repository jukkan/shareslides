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60" r:id="rId6"/>
    <p:sldMasterId id="2147483673" r:id="rId7"/>
    <p:sldMasterId id="2147483685" r:id="rId8"/>
  </p:sldMasterIdLst>
  <p:notesMasterIdLst>
    <p:notesMasterId r:id="rId57"/>
  </p:notesMasterIdLst>
  <p:sldIdLst>
    <p:sldId id="256" r:id="rId9"/>
    <p:sldId id="269" r:id="rId10"/>
    <p:sldId id="265" r:id="rId11"/>
    <p:sldId id="305" r:id="rId12"/>
    <p:sldId id="280" r:id="rId13"/>
    <p:sldId id="302" r:id="rId14"/>
    <p:sldId id="306" r:id="rId15"/>
    <p:sldId id="263" r:id="rId16"/>
    <p:sldId id="282" r:id="rId17"/>
    <p:sldId id="266" r:id="rId18"/>
    <p:sldId id="281" r:id="rId19"/>
    <p:sldId id="283" r:id="rId20"/>
    <p:sldId id="284" r:id="rId21"/>
    <p:sldId id="267" r:id="rId22"/>
    <p:sldId id="285" r:id="rId23"/>
    <p:sldId id="261" r:id="rId24"/>
    <p:sldId id="303" r:id="rId25"/>
    <p:sldId id="301" r:id="rId26"/>
    <p:sldId id="286" r:id="rId27"/>
    <p:sldId id="268" r:id="rId28"/>
    <p:sldId id="299" r:id="rId29"/>
    <p:sldId id="298" r:id="rId30"/>
    <p:sldId id="257" r:id="rId31"/>
    <p:sldId id="287" r:id="rId32"/>
    <p:sldId id="288" r:id="rId33"/>
    <p:sldId id="289" r:id="rId34"/>
    <p:sldId id="262" r:id="rId35"/>
    <p:sldId id="270" r:id="rId36"/>
    <p:sldId id="296" r:id="rId37"/>
    <p:sldId id="297" r:id="rId38"/>
    <p:sldId id="264" r:id="rId39"/>
    <p:sldId id="277" r:id="rId40"/>
    <p:sldId id="290" r:id="rId41"/>
    <p:sldId id="278" r:id="rId42"/>
    <p:sldId id="279" r:id="rId43"/>
    <p:sldId id="271" r:id="rId44"/>
    <p:sldId id="294" r:id="rId45"/>
    <p:sldId id="295" r:id="rId46"/>
    <p:sldId id="272" r:id="rId47"/>
    <p:sldId id="291" r:id="rId48"/>
    <p:sldId id="292" r:id="rId49"/>
    <p:sldId id="293" r:id="rId50"/>
    <p:sldId id="259" r:id="rId51"/>
    <p:sldId id="273" r:id="rId52"/>
    <p:sldId id="275" r:id="rId53"/>
    <p:sldId id="307" r:id="rId54"/>
    <p:sldId id="276" r:id="rId55"/>
    <p:sldId id="300" r:id="rId56"/>
  </p:sldIdLst>
  <p:sldSz cx="9144000" cy="6858000" type="screen4x3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6AE"/>
    <a:srgbClr val="52C2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39" autoAdjust="0"/>
    <p:restoredTop sz="94660"/>
  </p:normalViewPr>
  <p:slideViewPr>
    <p:cSldViewPr>
      <p:cViewPr>
        <p:scale>
          <a:sx n="70" d="100"/>
          <a:sy n="70" d="100"/>
        </p:scale>
        <p:origin x="1920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61" Type="http://schemas.openxmlformats.org/officeDocument/2006/relationships/tableStyles" Target="tableStyles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3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viewProps" Target="viewProps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170063-2D5F-485F-9270-7A410D491D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92F75E-257E-4D97-ADE4-36CC24BD3FE6}">
      <dgm:prSet phldrT="[Text]"/>
      <dgm:spPr/>
      <dgm:t>
        <a:bodyPr/>
        <a:lstStyle/>
        <a:p>
          <a:r>
            <a:rPr lang="en-US" dirty="0" smtClean="0"/>
            <a:t>Web</a:t>
          </a:r>
          <a:endParaRPr lang="en-US" dirty="0"/>
        </a:p>
      </dgm:t>
    </dgm:pt>
    <dgm:pt modelId="{181EF874-1C58-45BB-A5DB-1C475420B648}" type="parTrans" cxnId="{FF921D1D-A336-4B00-BAFE-F84ED7DE280F}">
      <dgm:prSet/>
      <dgm:spPr/>
      <dgm:t>
        <a:bodyPr/>
        <a:lstStyle/>
        <a:p>
          <a:endParaRPr lang="en-US"/>
        </a:p>
      </dgm:t>
    </dgm:pt>
    <dgm:pt modelId="{A22A0D68-0382-4393-9511-108CF767197A}" type="sibTrans" cxnId="{FF921D1D-A336-4B00-BAFE-F84ED7DE280F}">
      <dgm:prSet/>
      <dgm:spPr/>
      <dgm:t>
        <a:bodyPr/>
        <a:lstStyle/>
        <a:p>
          <a:endParaRPr lang="en-US"/>
        </a:p>
      </dgm:t>
    </dgm:pt>
    <dgm:pt modelId="{9CE4C47C-77E4-45E9-9281-40125C55886D}">
      <dgm:prSet phldrT="[Text]"/>
      <dgm:spPr/>
      <dgm:t>
        <a:bodyPr/>
        <a:lstStyle/>
        <a:p>
          <a:endParaRPr lang="en-US" dirty="0"/>
        </a:p>
      </dgm:t>
    </dgm:pt>
    <dgm:pt modelId="{579B6917-CB09-4232-842A-EC822460DC8B}" type="parTrans" cxnId="{07336451-9DBB-4237-A082-E64CDB61DEAF}">
      <dgm:prSet/>
      <dgm:spPr/>
      <dgm:t>
        <a:bodyPr/>
        <a:lstStyle/>
        <a:p>
          <a:endParaRPr lang="en-US"/>
        </a:p>
      </dgm:t>
    </dgm:pt>
    <dgm:pt modelId="{CD052409-E925-41A5-BA11-3E08BA74FAD6}" type="sibTrans" cxnId="{07336451-9DBB-4237-A082-E64CDB61DEAF}">
      <dgm:prSet/>
      <dgm:spPr/>
      <dgm:t>
        <a:bodyPr/>
        <a:lstStyle/>
        <a:p>
          <a:endParaRPr lang="en-US"/>
        </a:p>
      </dgm:t>
    </dgm:pt>
    <dgm:pt modelId="{A579520F-BD66-46EA-9DE6-9E5D92DD9B27}">
      <dgm:prSet phldrT="[Text]"/>
      <dgm:spPr/>
      <dgm:t>
        <a:bodyPr/>
        <a:lstStyle/>
        <a:p>
          <a:r>
            <a:rPr lang="en-US" dirty="0" smtClean="0"/>
            <a:t>Outlook</a:t>
          </a:r>
          <a:endParaRPr lang="en-US" dirty="0"/>
        </a:p>
      </dgm:t>
    </dgm:pt>
    <dgm:pt modelId="{6D209C8D-CC15-4368-B17C-BE144C6F79E5}" type="parTrans" cxnId="{16CAD93A-269C-4EC3-A7C0-F7F7985AAC36}">
      <dgm:prSet/>
      <dgm:spPr/>
      <dgm:t>
        <a:bodyPr/>
        <a:lstStyle/>
        <a:p>
          <a:endParaRPr lang="en-US"/>
        </a:p>
      </dgm:t>
    </dgm:pt>
    <dgm:pt modelId="{A5193100-17BB-4AC6-9C5F-A77F7E03EE57}" type="sibTrans" cxnId="{16CAD93A-269C-4EC3-A7C0-F7F7985AAC36}">
      <dgm:prSet/>
      <dgm:spPr/>
      <dgm:t>
        <a:bodyPr/>
        <a:lstStyle/>
        <a:p>
          <a:endParaRPr lang="en-US"/>
        </a:p>
      </dgm:t>
    </dgm:pt>
    <dgm:pt modelId="{3429F1AA-BCF9-48F6-8F93-C7F8FC3AF727}">
      <dgm:prSet phldrT="[Text]"/>
      <dgm:spPr/>
      <dgm:t>
        <a:bodyPr/>
        <a:lstStyle/>
        <a:p>
          <a:endParaRPr lang="en-US" dirty="0"/>
        </a:p>
      </dgm:t>
    </dgm:pt>
    <dgm:pt modelId="{080A0CA5-2D10-4C29-B549-0A0EDF023CD3}" type="parTrans" cxnId="{8C123D66-1DC8-4040-8C05-FE40F83D563B}">
      <dgm:prSet/>
      <dgm:spPr/>
      <dgm:t>
        <a:bodyPr/>
        <a:lstStyle/>
        <a:p>
          <a:endParaRPr lang="en-US"/>
        </a:p>
      </dgm:t>
    </dgm:pt>
    <dgm:pt modelId="{031DC170-2C2F-49BB-BBEC-915BF7C6091E}" type="sibTrans" cxnId="{8C123D66-1DC8-4040-8C05-FE40F83D563B}">
      <dgm:prSet/>
      <dgm:spPr/>
      <dgm:t>
        <a:bodyPr/>
        <a:lstStyle/>
        <a:p>
          <a:endParaRPr lang="en-US"/>
        </a:p>
      </dgm:t>
    </dgm:pt>
    <dgm:pt modelId="{17617B71-8FAE-46E2-98A2-BA11F33F117C}">
      <dgm:prSet phldrT="[Text]"/>
      <dgm:spPr/>
      <dgm:t>
        <a:bodyPr/>
        <a:lstStyle/>
        <a:p>
          <a:r>
            <a:rPr lang="en-US" dirty="0" smtClean="0"/>
            <a:t>Tablet</a:t>
          </a:r>
          <a:endParaRPr lang="en-US" dirty="0"/>
        </a:p>
      </dgm:t>
    </dgm:pt>
    <dgm:pt modelId="{6DECFEE8-77EF-4DB6-88FD-B89FA98ABE8A}" type="parTrans" cxnId="{3D66585A-F863-49C1-B92D-EFA983600FC8}">
      <dgm:prSet/>
      <dgm:spPr/>
      <dgm:t>
        <a:bodyPr/>
        <a:lstStyle/>
        <a:p>
          <a:endParaRPr lang="en-US"/>
        </a:p>
      </dgm:t>
    </dgm:pt>
    <dgm:pt modelId="{48E6ECEC-2013-4267-A10C-C99277D5DCF1}" type="sibTrans" cxnId="{3D66585A-F863-49C1-B92D-EFA983600FC8}">
      <dgm:prSet/>
      <dgm:spPr/>
      <dgm:t>
        <a:bodyPr/>
        <a:lstStyle/>
        <a:p>
          <a:endParaRPr lang="en-US"/>
        </a:p>
      </dgm:t>
    </dgm:pt>
    <dgm:pt modelId="{375B6F14-BD84-4ADA-8C17-6E0C485DF290}">
      <dgm:prSet phldrT="[Text]"/>
      <dgm:spPr/>
      <dgm:t>
        <a:bodyPr/>
        <a:lstStyle/>
        <a:p>
          <a:endParaRPr lang="en-US" dirty="0"/>
        </a:p>
      </dgm:t>
    </dgm:pt>
    <dgm:pt modelId="{DC1E13E9-22CB-4224-9841-329DE782273B}" type="parTrans" cxnId="{82659493-CDB4-42CD-9664-711E7B5F0635}">
      <dgm:prSet/>
      <dgm:spPr/>
      <dgm:t>
        <a:bodyPr/>
        <a:lstStyle/>
        <a:p>
          <a:endParaRPr lang="en-US"/>
        </a:p>
      </dgm:t>
    </dgm:pt>
    <dgm:pt modelId="{22C28D7F-D3BF-41F5-9D66-8D2780076C95}" type="sibTrans" cxnId="{82659493-CDB4-42CD-9664-711E7B5F0635}">
      <dgm:prSet/>
      <dgm:spPr/>
      <dgm:t>
        <a:bodyPr/>
        <a:lstStyle/>
        <a:p>
          <a:endParaRPr lang="en-US"/>
        </a:p>
      </dgm:t>
    </dgm:pt>
    <dgm:pt modelId="{7823E0F2-B0F8-4F4D-8C31-C3DE24232180}">
      <dgm:prSet phldrT="[Text]"/>
      <dgm:spPr/>
      <dgm:t>
        <a:bodyPr/>
        <a:lstStyle/>
        <a:p>
          <a:r>
            <a:rPr lang="en-US" dirty="0" smtClean="0"/>
            <a:t>Phone</a:t>
          </a:r>
          <a:endParaRPr lang="en-US" dirty="0"/>
        </a:p>
      </dgm:t>
    </dgm:pt>
    <dgm:pt modelId="{1EB2841B-8737-4839-9FBA-3531F0B6634F}" type="parTrans" cxnId="{93856E22-3603-49D9-A20E-036DB6F69584}">
      <dgm:prSet/>
      <dgm:spPr/>
      <dgm:t>
        <a:bodyPr/>
        <a:lstStyle/>
        <a:p>
          <a:endParaRPr lang="en-US"/>
        </a:p>
      </dgm:t>
    </dgm:pt>
    <dgm:pt modelId="{D7D81C74-61D0-49AA-975B-FC44A126A6C8}" type="sibTrans" cxnId="{93856E22-3603-49D9-A20E-036DB6F69584}">
      <dgm:prSet/>
      <dgm:spPr/>
      <dgm:t>
        <a:bodyPr/>
        <a:lstStyle/>
        <a:p>
          <a:endParaRPr lang="en-US"/>
        </a:p>
      </dgm:t>
    </dgm:pt>
    <dgm:pt modelId="{3890572F-A3BD-4C8F-BD26-01FAA5B135E0}">
      <dgm:prSet phldrT="[Text]"/>
      <dgm:spPr/>
      <dgm:t>
        <a:bodyPr/>
        <a:lstStyle/>
        <a:p>
          <a:endParaRPr lang="en-US" dirty="0"/>
        </a:p>
      </dgm:t>
    </dgm:pt>
    <dgm:pt modelId="{85873F53-75A7-4D38-82EA-2115DAA413C4}" type="parTrans" cxnId="{FD833420-E1BE-4F53-8F06-D3B922A99554}">
      <dgm:prSet/>
      <dgm:spPr/>
      <dgm:t>
        <a:bodyPr/>
        <a:lstStyle/>
        <a:p>
          <a:endParaRPr lang="en-US"/>
        </a:p>
      </dgm:t>
    </dgm:pt>
    <dgm:pt modelId="{5AD8CFC0-E7E8-48E9-BC2F-022C9B5D0FB4}" type="sibTrans" cxnId="{FD833420-E1BE-4F53-8F06-D3B922A99554}">
      <dgm:prSet/>
      <dgm:spPr/>
      <dgm:t>
        <a:bodyPr/>
        <a:lstStyle/>
        <a:p>
          <a:endParaRPr lang="en-US"/>
        </a:p>
      </dgm:t>
    </dgm:pt>
    <dgm:pt modelId="{49E0C8B2-047F-4843-9708-C142ECF149B7}">
      <dgm:prSet phldrT="[Text]"/>
      <dgm:spPr/>
      <dgm:t>
        <a:bodyPr/>
        <a:lstStyle/>
        <a:p>
          <a:endParaRPr lang="en-US" dirty="0"/>
        </a:p>
      </dgm:t>
    </dgm:pt>
    <dgm:pt modelId="{912BE28D-9907-4804-8143-A3E46EE48E17}" type="parTrans" cxnId="{C372BC7D-E98B-417B-932B-FFC55BBBC4F5}">
      <dgm:prSet/>
      <dgm:spPr/>
      <dgm:t>
        <a:bodyPr/>
        <a:lstStyle/>
        <a:p>
          <a:endParaRPr lang="en-US"/>
        </a:p>
      </dgm:t>
    </dgm:pt>
    <dgm:pt modelId="{3DF3E221-BCF7-47A9-BA86-D7181280A654}" type="sibTrans" cxnId="{C372BC7D-E98B-417B-932B-FFC55BBBC4F5}">
      <dgm:prSet/>
      <dgm:spPr/>
      <dgm:t>
        <a:bodyPr/>
        <a:lstStyle/>
        <a:p>
          <a:endParaRPr lang="en-US"/>
        </a:p>
      </dgm:t>
    </dgm:pt>
    <dgm:pt modelId="{8AA888E8-0502-493C-978A-02093D10A419}">
      <dgm:prSet phldrT="[Text]"/>
      <dgm:spPr/>
      <dgm:t>
        <a:bodyPr/>
        <a:lstStyle/>
        <a:p>
          <a:endParaRPr lang="en-US" dirty="0"/>
        </a:p>
      </dgm:t>
    </dgm:pt>
    <dgm:pt modelId="{EA0EA008-E701-485D-9082-C9C738B69CB7}" type="parTrans" cxnId="{503FB72C-CEE6-42F0-BB78-9D3395A69902}">
      <dgm:prSet/>
      <dgm:spPr/>
      <dgm:t>
        <a:bodyPr/>
        <a:lstStyle/>
        <a:p>
          <a:endParaRPr lang="en-US"/>
        </a:p>
      </dgm:t>
    </dgm:pt>
    <dgm:pt modelId="{549231EE-1818-4439-9B67-F78BE24E8FB3}" type="sibTrans" cxnId="{503FB72C-CEE6-42F0-BB78-9D3395A69902}">
      <dgm:prSet/>
      <dgm:spPr/>
      <dgm:t>
        <a:bodyPr/>
        <a:lstStyle/>
        <a:p>
          <a:endParaRPr lang="en-US"/>
        </a:p>
      </dgm:t>
    </dgm:pt>
    <dgm:pt modelId="{7ED99557-A2DA-49AF-8A41-8ECD23285492}">
      <dgm:prSet phldrT="[Text]"/>
      <dgm:spPr/>
      <dgm:t>
        <a:bodyPr/>
        <a:lstStyle/>
        <a:p>
          <a:endParaRPr lang="en-US" dirty="0"/>
        </a:p>
      </dgm:t>
    </dgm:pt>
    <dgm:pt modelId="{B92B2736-1748-45C5-A05A-30C4EA6B6EF6}" type="parTrans" cxnId="{76AF5A1D-B7B3-4D62-8EA7-7C3066E06C33}">
      <dgm:prSet/>
      <dgm:spPr/>
      <dgm:t>
        <a:bodyPr/>
        <a:lstStyle/>
        <a:p>
          <a:endParaRPr lang="en-US"/>
        </a:p>
      </dgm:t>
    </dgm:pt>
    <dgm:pt modelId="{6307A3D3-5451-4020-A299-4BC06848E531}" type="sibTrans" cxnId="{76AF5A1D-B7B3-4D62-8EA7-7C3066E06C33}">
      <dgm:prSet/>
      <dgm:spPr/>
      <dgm:t>
        <a:bodyPr/>
        <a:lstStyle/>
        <a:p>
          <a:endParaRPr lang="en-US"/>
        </a:p>
      </dgm:t>
    </dgm:pt>
    <dgm:pt modelId="{16AF6208-0AB1-4908-92AE-66E9DB93CBCD}">
      <dgm:prSet phldrT="[Text]"/>
      <dgm:spPr/>
      <dgm:t>
        <a:bodyPr/>
        <a:lstStyle/>
        <a:p>
          <a:endParaRPr lang="en-US" dirty="0"/>
        </a:p>
      </dgm:t>
    </dgm:pt>
    <dgm:pt modelId="{677E406B-2B01-4BE5-925F-63D9B3B8ECE0}" type="parTrans" cxnId="{73D16C7A-0025-496D-AD24-A0C0815B68A1}">
      <dgm:prSet/>
      <dgm:spPr/>
      <dgm:t>
        <a:bodyPr/>
        <a:lstStyle/>
        <a:p>
          <a:endParaRPr lang="en-US"/>
        </a:p>
      </dgm:t>
    </dgm:pt>
    <dgm:pt modelId="{5F37E8A9-5924-4F45-95AA-4152054C5EC4}" type="sibTrans" cxnId="{73D16C7A-0025-496D-AD24-A0C0815B68A1}">
      <dgm:prSet/>
      <dgm:spPr/>
      <dgm:t>
        <a:bodyPr/>
        <a:lstStyle/>
        <a:p>
          <a:endParaRPr lang="en-US"/>
        </a:p>
      </dgm:t>
    </dgm:pt>
    <dgm:pt modelId="{AE7B1740-3E40-414A-8565-B93E27B86771}">
      <dgm:prSet phldrT="[Text]"/>
      <dgm:spPr/>
      <dgm:t>
        <a:bodyPr/>
        <a:lstStyle/>
        <a:p>
          <a:endParaRPr lang="en-US" dirty="0"/>
        </a:p>
      </dgm:t>
    </dgm:pt>
    <dgm:pt modelId="{2CFF4D1D-47F2-4B97-A02A-7B6168391759}" type="parTrans" cxnId="{5C00E8FE-DB31-4820-A8BA-5849B87048CE}">
      <dgm:prSet/>
      <dgm:spPr/>
      <dgm:t>
        <a:bodyPr/>
        <a:lstStyle/>
        <a:p>
          <a:endParaRPr lang="en-US"/>
        </a:p>
      </dgm:t>
    </dgm:pt>
    <dgm:pt modelId="{358AF806-78F3-4D22-9CED-14565DC2F5C8}" type="sibTrans" cxnId="{5C00E8FE-DB31-4820-A8BA-5849B87048CE}">
      <dgm:prSet/>
      <dgm:spPr/>
      <dgm:t>
        <a:bodyPr/>
        <a:lstStyle/>
        <a:p>
          <a:endParaRPr lang="en-US"/>
        </a:p>
      </dgm:t>
    </dgm:pt>
    <dgm:pt modelId="{ECB24B23-D9A5-44D8-A3C9-D5D7667335CD}">
      <dgm:prSet phldrT="[Text]"/>
      <dgm:spPr/>
      <dgm:t>
        <a:bodyPr/>
        <a:lstStyle/>
        <a:p>
          <a:endParaRPr lang="en-US" dirty="0"/>
        </a:p>
      </dgm:t>
    </dgm:pt>
    <dgm:pt modelId="{0675F7C1-762E-4085-AD52-9AA47941D42A}" type="parTrans" cxnId="{BDECDD32-EBBE-45C2-9F98-4AC3A60E9E68}">
      <dgm:prSet/>
      <dgm:spPr/>
      <dgm:t>
        <a:bodyPr/>
        <a:lstStyle/>
        <a:p>
          <a:endParaRPr lang="en-US"/>
        </a:p>
      </dgm:t>
    </dgm:pt>
    <dgm:pt modelId="{B6D60634-150E-4190-BFD1-DEC2B3873D40}" type="sibTrans" cxnId="{BDECDD32-EBBE-45C2-9F98-4AC3A60E9E68}">
      <dgm:prSet/>
      <dgm:spPr/>
      <dgm:t>
        <a:bodyPr/>
        <a:lstStyle/>
        <a:p>
          <a:endParaRPr lang="en-US"/>
        </a:p>
      </dgm:t>
    </dgm:pt>
    <dgm:pt modelId="{DF21B3F9-A4AB-487B-9DC9-CF305F1D6505}">
      <dgm:prSet phldrT="[Text]"/>
      <dgm:spPr/>
      <dgm:t>
        <a:bodyPr/>
        <a:lstStyle/>
        <a:p>
          <a:endParaRPr lang="en-US" dirty="0"/>
        </a:p>
      </dgm:t>
    </dgm:pt>
    <dgm:pt modelId="{13D20AB1-553D-44DB-AE3C-D759FB1B4D9F}" type="parTrans" cxnId="{C1D8A7FB-7745-4088-A3BD-643EF303931B}">
      <dgm:prSet/>
      <dgm:spPr/>
      <dgm:t>
        <a:bodyPr/>
        <a:lstStyle/>
        <a:p>
          <a:endParaRPr lang="en-US"/>
        </a:p>
      </dgm:t>
    </dgm:pt>
    <dgm:pt modelId="{98016D59-38AB-477D-9311-9A727B46E4BF}" type="sibTrans" cxnId="{C1D8A7FB-7745-4088-A3BD-643EF303931B}">
      <dgm:prSet/>
      <dgm:spPr/>
      <dgm:t>
        <a:bodyPr/>
        <a:lstStyle/>
        <a:p>
          <a:endParaRPr lang="en-US"/>
        </a:p>
      </dgm:t>
    </dgm:pt>
    <dgm:pt modelId="{BBB2CE54-E107-46B2-BB69-F0C25098F090}">
      <dgm:prSet phldrT="[Text]"/>
      <dgm:spPr/>
      <dgm:t>
        <a:bodyPr/>
        <a:lstStyle/>
        <a:p>
          <a:endParaRPr lang="en-US" dirty="0"/>
        </a:p>
      </dgm:t>
    </dgm:pt>
    <dgm:pt modelId="{E6364DB2-33B9-48F1-ABCD-D4ABB87E729B}" type="parTrans" cxnId="{A596ABA8-F9FA-40EF-8E2D-96216502B6DC}">
      <dgm:prSet/>
      <dgm:spPr/>
      <dgm:t>
        <a:bodyPr/>
        <a:lstStyle/>
        <a:p>
          <a:endParaRPr lang="en-US"/>
        </a:p>
      </dgm:t>
    </dgm:pt>
    <dgm:pt modelId="{8E3AA543-8ED4-45F4-AF67-75446D0037DA}" type="sibTrans" cxnId="{A596ABA8-F9FA-40EF-8E2D-96216502B6DC}">
      <dgm:prSet/>
      <dgm:spPr/>
      <dgm:t>
        <a:bodyPr/>
        <a:lstStyle/>
        <a:p>
          <a:endParaRPr lang="en-US"/>
        </a:p>
      </dgm:t>
    </dgm:pt>
    <dgm:pt modelId="{72CEAE2D-DB5B-433F-BC53-F9613D9C43A0}">
      <dgm:prSet phldrT="[Text]"/>
      <dgm:spPr/>
      <dgm:t>
        <a:bodyPr/>
        <a:lstStyle/>
        <a:p>
          <a:endParaRPr lang="en-US" dirty="0"/>
        </a:p>
      </dgm:t>
    </dgm:pt>
    <dgm:pt modelId="{F4B53B7C-07D5-4003-86A8-3E1956632ACF}" type="parTrans" cxnId="{6BE5212F-9226-484F-B241-3E2CCE49ED43}">
      <dgm:prSet/>
      <dgm:spPr/>
      <dgm:t>
        <a:bodyPr/>
        <a:lstStyle/>
        <a:p>
          <a:endParaRPr lang="en-US"/>
        </a:p>
      </dgm:t>
    </dgm:pt>
    <dgm:pt modelId="{80EB22E1-A423-4D0D-A462-51E7D1E6CF76}" type="sibTrans" cxnId="{6BE5212F-9226-484F-B241-3E2CCE49ED43}">
      <dgm:prSet/>
      <dgm:spPr/>
      <dgm:t>
        <a:bodyPr/>
        <a:lstStyle/>
        <a:p>
          <a:endParaRPr lang="en-US"/>
        </a:p>
      </dgm:t>
    </dgm:pt>
    <dgm:pt modelId="{61CF1B67-29EE-4704-8F41-58709427C1E9}">
      <dgm:prSet phldrT="[Text]"/>
      <dgm:spPr/>
      <dgm:t>
        <a:bodyPr/>
        <a:lstStyle/>
        <a:p>
          <a:endParaRPr lang="en-US" dirty="0"/>
        </a:p>
      </dgm:t>
    </dgm:pt>
    <dgm:pt modelId="{BDFACBFB-3756-493C-A227-A8D6EAB31CA4}" type="parTrans" cxnId="{6302E754-D7BD-45A5-A0E6-487E00DA2FCB}">
      <dgm:prSet/>
      <dgm:spPr/>
      <dgm:t>
        <a:bodyPr/>
        <a:lstStyle/>
        <a:p>
          <a:endParaRPr lang="en-US"/>
        </a:p>
      </dgm:t>
    </dgm:pt>
    <dgm:pt modelId="{052C505C-184B-47A1-AAAE-5CD2717C1F6D}" type="sibTrans" cxnId="{6302E754-D7BD-45A5-A0E6-487E00DA2FCB}">
      <dgm:prSet/>
      <dgm:spPr/>
      <dgm:t>
        <a:bodyPr/>
        <a:lstStyle/>
        <a:p>
          <a:endParaRPr lang="en-US"/>
        </a:p>
      </dgm:t>
    </dgm:pt>
    <dgm:pt modelId="{891CD302-2A63-452D-8FB6-0FFAEC77FD89}" type="pres">
      <dgm:prSet presAssocID="{07170063-2D5F-485F-9270-7A410D491D1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B4D31C6-2B9C-4C34-ADFA-FEF7F577B8E9}" type="pres">
      <dgm:prSet presAssocID="{A692F75E-257E-4D97-ADE4-36CC24BD3FE6}" presName="composite" presStyleCnt="0"/>
      <dgm:spPr/>
    </dgm:pt>
    <dgm:pt modelId="{65C8773B-81B9-4812-B65B-B18019607C7D}" type="pres">
      <dgm:prSet presAssocID="{A692F75E-257E-4D97-ADE4-36CC24BD3FE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8F78AE-EDF5-4055-B844-F79EA72C3A1E}" type="pres">
      <dgm:prSet presAssocID="{A692F75E-257E-4D97-ADE4-36CC24BD3FE6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4C53E8-CA7C-4CE3-88CD-BD8CFD215C1A}" type="pres">
      <dgm:prSet presAssocID="{A22A0D68-0382-4393-9511-108CF767197A}" presName="space" presStyleCnt="0"/>
      <dgm:spPr/>
    </dgm:pt>
    <dgm:pt modelId="{CB2EFE16-63A8-4CFA-BA85-1250D1B87415}" type="pres">
      <dgm:prSet presAssocID="{A579520F-BD66-46EA-9DE6-9E5D92DD9B27}" presName="composite" presStyleCnt="0"/>
      <dgm:spPr/>
    </dgm:pt>
    <dgm:pt modelId="{D93F5DA9-70A2-4480-A9DB-332176A8BF5D}" type="pres">
      <dgm:prSet presAssocID="{A579520F-BD66-46EA-9DE6-9E5D92DD9B2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F38197-1FD5-49C5-AD4D-D566553F2F88}" type="pres">
      <dgm:prSet presAssocID="{A579520F-BD66-46EA-9DE6-9E5D92DD9B27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4CB5A-4C60-4E99-932C-6E75BD061DC0}" type="pres">
      <dgm:prSet presAssocID="{A5193100-17BB-4AC6-9C5F-A77F7E03EE57}" presName="space" presStyleCnt="0"/>
      <dgm:spPr/>
    </dgm:pt>
    <dgm:pt modelId="{5C70FB60-A64A-4C79-B72D-46698CB192F9}" type="pres">
      <dgm:prSet presAssocID="{17617B71-8FAE-46E2-98A2-BA11F33F117C}" presName="composite" presStyleCnt="0"/>
      <dgm:spPr/>
    </dgm:pt>
    <dgm:pt modelId="{FB062E90-79B3-4887-B4BB-14D26A04D328}" type="pres">
      <dgm:prSet presAssocID="{17617B71-8FAE-46E2-98A2-BA11F33F117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A916CB-4736-4886-B30A-CF2AE2A23588}" type="pres">
      <dgm:prSet presAssocID="{17617B71-8FAE-46E2-98A2-BA11F33F117C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E0DF79-788F-4BC2-B8D0-4A94D72CA3DC}" type="pres">
      <dgm:prSet presAssocID="{48E6ECEC-2013-4267-A10C-C99277D5DCF1}" presName="space" presStyleCnt="0"/>
      <dgm:spPr/>
    </dgm:pt>
    <dgm:pt modelId="{9E0C0751-EBF8-4DA6-A959-60CFAFA22BEB}" type="pres">
      <dgm:prSet presAssocID="{7823E0F2-B0F8-4F4D-8C31-C3DE24232180}" presName="composite" presStyleCnt="0"/>
      <dgm:spPr/>
    </dgm:pt>
    <dgm:pt modelId="{11EE4AAF-298A-4AB6-8C23-B8FB6CD08BE5}" type="pres">
      <dgm:prSet presAssocID="{7823E0F2-B0F8-4F4D-8C31-C3DE2423218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B99AF2-925F-4584-9CDE-275F2EC3F9E0}" type="pres">
      <dgm:prSet presAssocID="{7823E0F2-B0F8-4F4D-8C31-C3DE24232180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50BAAF8-AF14-44E9-AFF6-0B7A40EBE3C0}" type="presOf" srcId="{17617B71-8FAE-46E2-98A2-BA11F33F117C}" destId="{FB062E90-79B3-4887-B4BB-14D26A04D328}" srcOrd="0" destOrd="0" presId="urn:microsoft.com/office/officeart/2005/8/layout/hList1"/>
    <dgm:cxn modelId="{4C7555B3-5DBF-445C-8C23-12FE6971DC10}" type="presOf" srcId="{16AF6208-0AB1-4908-92AE-66E9DB93CBCD}" destId="{EFB99AF2-925F-4584-9CDE-275F2EC3F9E0}" srcOrd="0" destOrd="0" presId="urn:microsoft.com/office/officeart/2005/8/layout/hList1"/>
    <dgm:cxn modelId="{6302E754-D7BD-45A5-A0E6-487E00DA2FCB}" srcId="{7823E0F2-B0F8-4F4D-8C31-C3DE24232180}" destId="{61CF1B67-29EE-4704-8F41-58709427C1E9}" srcOrd="7" destOrd="0" parTransId="{BDFACBFB-3756-493C-A227-A8D6EAB31CA4}" sibTransId="{052C505C-184B-47A1-AAAE-5CD2717C1F6D}"/>
    <dgm:cxn modelId="{A596ABA8-F9FA-40EF-8E2D-96216502B6DC}" srcId="{7823E0F2-B0F8-4F4D-8C31-C3DE24232180}" destId="{BBB2CE54-E107-46B2-BB69-F0C25098F090}" srcOrd="4" destOrd="0" parTransId="{E6364DB2-33B9-48F1-ABCD-D4ABB87E729B}" sibTransId="{8E3AA543-8ED4-45F4-AF67-75446D0037DA}"/>
    <dgm:cxn modelId="{19D9905A-2A49-4F47-BFEA-475B091D19C7}" type="presOf" srcId="{61CF1B67-29EE-4704-8F41-58709427C1E9}" destId="{EFB99AF2-925F-4584-9CDE-275F2EC3F9E0}" srcOrd="0" destOrd="7" presId="urn:microsoft.com/office/officeart/2005/8/layout/hList1"/>
    <dgm:cxn modelId="{C7F6D670-1030-4A37-B798-2AA3E515FF5E}" type="presOf" srcId="{7ED99557-A2DA-49AF-8A41-8ECD23285492}" destId="{EFB99AF2-925F-4584-9CDE-275F2EC3F9E0}" srcOrd="0" destOrd="5" presId="urn:microsoft.com/office/officeart/2005/8/layout/hList1"/>
    <dgm:cxn modelId="{FD833420-E1BE-4F53-8F06-D3B922A99554}" srcId="{7823E0F2-B0F8-4F4D-8C31-C3DE24232180}" destId="{3890572F-A3BD-4C8F-BD26-01FAA5B135E0}" srcOrd="8" destOrd="0" parTransId="{85873F53-75A7-4D38-82EA-2115DAA413C4}" sibTransId="{5AD8CFC0-E7E8-48E9-BC2F-022C9B5D0FB4}"/>
    <dgm:cxn modelId="{82659493-CDB4-42CD-9664-711E7B5F0635}" srcId="{17617B71-8FAE-46E2-98A2-BA11F33F117C}" destId="{375B6F14-BD84-4ADA-8C17-6E0C485DF290}" srcOrd="1" destOrd="0" parTransId="{DC1E13E9-22CB-4224-9841-329DE782273B}" sibTransId="{22C28D7F-D3BF-41F5-9D66-8D2780076C95}"/>
    <dgm:cxn modelId="{99F5D4F5-8AAE-4934-83A0-25DDA10EC903}" type="presOf" srcId="{9CE4C47C-77E4-45E9-9281-40125C55886D}" destId="{458F78AE-EDF5-4055-B844-F79EA72C3A1E}" srcOrd="0" destOrd="0" presId="urn:microsoft.com/office/officeart/2005/8/layout/hList1"/>
    <dgm:cxn modelId="{5C00E8FE-DB31-4820-A8BA-5849B87048CE}" srcId="{7823E0F2-B0F8-4F4D-8C31-C3DE24232180}" destId="{AE7B1740-3E40-414A-8565-B93E27B86771}" srcOrd="1" destOrd="0" parTransId="{2CFF4D1D-47F2-4B97-A02A-7B6168391759}" sibTransId="{358AF806-78F3-4D22-9CED-14565DC2F5C8}"/>
    <dgm:cxn modelId="{AE69C01C-DC5C-4005-B13D-E56678E4C97A}" type="presOf" srcId="{7823E0F2-B0F8-4F4D-8C31-C3DE24232180}" destId="{11EE4AAF-298A-4AB6-8C23-B8FB6CD08BE5}" srcOrd="0" destOrd="0" presId="urn:microsoft.com/office/officeart/2005/8/layout/hList1"/>
    <dgm:cxn modelId="{6068D710-9B91-4EDE-A47C-A9C29288E2E0}" type="presOf" srcId="{375B6F14-BD84-4ADA-8C17-6E0C485DF290}" destId="{0FA916CB-4736-4886-B30A-CF2AE2A23588}" srcOrd="0" destOrd="1" presId="urn:microsoft.com/office/officeart/2005/8/layout/hList1"/>
    <dgm:cxn modelId="{DC496ECA-2B6A-4F35-99D7-4DD992118609}" type="presOf" srcId="{BBB2CE54-E107-46B2-BB69-F0C25098F090}" destId="{EFB99AF2-925F-4584-9CDE-275F2EC3F9E0}" srcOrd="0" destOrd="4" presId="urn:microsoft.com/office/officeart/2005/8/layout/hList1"/>
    <dgm:cxn modelId="{311A0E32-4905-473E-8131-4F676B3D3882}" type="presOf" srcId="{3890572F-A3BD-4C8F-BD26-01FAA5B135E0}" destId="{EFB99AF2-925F-4584-9CDE-275F2EC3F9E0}" srcOrd="0" destOrd="8" presId="urn:microsoft.com/office/officeart/2005/8/layout/hList1"/>
    <dgm:cxn modelId="{53F312AB-A566-4FBE-A099-2DF6424B95C2}" type="presOf" srcId="{A692F75E-257E-4D97-ADE4-36CC24BD3FE6}" destId="{65C8773B-81B9-4812-B65B-B18019607C7D}" srcOrd="0" destOrd="0" presId="urn:microsoft.com/office/officeart/2005/8/layout/hList1"/>
    <dgm:cxn modelId="{CDC6F938-A86A-4331-BA14-8E16ADC95255}" type="presOf" srcId="{49E0C8B2-047F-4843-9708-C142ECF149B7}" destId="{14F38197-1FD5-49C5-AD4D-D566553F2F88}" srcOrd="0" destOrd="0" presId="urn:microsoft.com/office/officeart/2005/8/layout/hList1"/>
    <dgm:cxn modelId="{FF921D1D-A336-4B00-BAFE-F84ED7DE280F}" srcId="{07170063-2D5F-485F-9270-7A410D491D13}" destId="{A692F75E-257E-4D97-ADE4-36CC24BD3FE6}" srcOrd="0" destOrd="0" parTransId="{181EF874-1C58-45BB-A5DB-1C475420B648}" sibTransId="{A22A0D68-0382-4393-9511-108CF767197A}"/>
    <dgm:cxn modelId="{C1D8A7FB-7745-4088-A3BD-643EF303931B}" srcId="{7823E0F2-B0F8-4F4D-8C31-C3DE24232180}" destId="{DF21B3F9-A4AB-487B-9DC9-CF305F1D6505}" srcOrd="3" destOrd="0" parTransId="{13D20AB1-553D-44DB-AE3C-D759FB1B4D9F}" sibTransId="{98016D59-38AB-477D-9311-9A727B46E4BF}"/>
    <dgm:cxn modelId="{1FB65470-E0A4-47B5-83F7-A669F6BD62FC}" type="presOf" srcId="{DF21B3F9-A4AB-487B-9DC9-CF305F1D6505}" destId="{EFB99AF2-925F-4584-9CDE-275F2EC3F9E0}" srcOrd="0" destOrd="3" presId="urn:microsoft.com/office/officeart/2005/8/layout/hList1"/>
    <dgm:cxn modelId="{503FB72C-CEE6-42F0-BB78-9D3395A69902}" srcId="{17617B71-8FAE-46E2-98A2-BA11F33F117C}" destId="{8AA888E8-0502-493C-978A-02093D10A419}" srcOrd="0" destOrd="0" parTransId="{EA0EA008-E701-485D-9082-C9C738B69CB7}" sibTransId="{549231EE-1818-4439-9B67-F78BE24E8FB3}"/>
    <dgm:cxn modelId="{8C123D66-1DC8-4040-8C05-FE40F83D563B}" srcId="{A579520F-BD66-46EA-9DE6-9E5D92DD9B27}" destId="{3429F1AA-BCF9-48F6-8F93-C7F8FC3AF727}" srcOrd="1" destOrd="0" parTransId="{080A0CA5-2D10-4C29-B549-0A0EDF023CD3}" sibTransId="{031DC170-2C2F-49BB-BBEC-915BF7C6091E}"/>
    <dgm:cxn modelId="{FA5E9B67-53C7-4842-BD9F-6958D7C82D0E}" type="presOf" srcId="{AE7B1740-3E40-414A-8565-B93E27B86771}" destId="{EFB99AF2-925F-4584-9CDE-275F2EC3F9E0}" srcOrd="0" destOrd="1" presId="urn:microsoft.com/office/officeart/2005/8/layout/hList1"/>
    <dgm:cxn modelId="{07336451-9DBB-4237-A082-E64CDB61DEAF}" srcId="{A692F75E-257E-4D97-ADE4-36CC24BD3FE6}" destId="{9CE4C47C-77E4-45E9-9281-40125C55886D}" srcOrd="0" destOrd="0" parTransId="{579B6917-CB09-4232-842A-EC822460DC8B}" sibTransId="{CD052409-E925-41A5-BA11-3E08BA74FAD6}"/>
    <dgm:cxn modelId="{3D66585A-F863-49C1-B92D-EFA983600FC8}" srcId="{07170063-2D5F-485F-9270-7A410D491D13}" destId="{17617B71-8FAE-46E2-98A2-BA11F33F117C}" srcOrd="2" destOrd="0" parTransId="{6DECFEE8-77EF-4DB6-88FD-B89FA98ABE8A}" sibTransId="{48E6ECEC-2013-4267-A10C-C99277D5DCF1}"/>
    <dgm:cxn modelId="{76AF5A1D-B7B3-4D62-8EA7-7C3066E06C33}" srcId="{7823E0F2-B0F8-4F4D-8C31-C3DE24232180}" destId="{7ED99557-A2DA-49AF-8A41-8ECD23285492}" srcOrd="5" destOrd="0" parTransId="{B92B2736-1748-45C5-A05A-30C4EA6B6EF6}" sibTransId="{6307A3D3-5451-4020-A299-4BC06848E531}"/>
    <dgm:cxn modelId="{352D5B64-7080-4477-8B97-B2AEC0C89ACE}" type="presOf" srcId="{A579520F-BD66-46EA-9DE6-9E5D92DD9B27}" destId="{D93F5DA9-70A2-4480-A9DB-332176A8BF5D}" srcOrd="0" destOrd="0" presId="urn:microsoft.com/office/officeart/2005/8/layout/hList1"/>
    <dgm:cxn modelId="{C372BC7D-E98B-417B-932B-FFC55BBBC4F5}" srcId="{A579520F-BD66-46EA-9DE6-9E5D92DD9B27}" destId="{49E0C8B2-047F-4843-9708-C142ECF149B7}" srcOrd="0" destOrd="0" parTransId="{912BE28D-9907-4804-8143-A3E46EE48E17}" sibTransId="{3DF3E221-BCF7-47A9-BA86-D7181280A654}"/>
    <dgm:cxn modelId="{6BE5212F-9226-484F-B241-3E2CCE49ED43}" srcId="{7823E0F2-B0F8-4F4D-8C31-C3DE24232180}" destId="{72CEAE2D-DB5B-433F-BC53-F9613D9C43A0}" srcOrd="6" destOrd="0" parTransId="{F4B53B7C-07D5-4003-86A8-3E1956632ACF}" sibTransId="{80EB22E1-A423-4D0D-A462-51E7D1E6CF76}"/>
    <dgm:cxn modelId="{16CAD93A-269C-4EC3-A7C0-F7F7985AAC36}" srcId="{07170063-2D5F-485F-9270-7A410D491D13}" destId="{A579520F-BD66-46EA-9DE6-9E5D92DD9B27}" srcOrd="1" destOrd="0" parTransId="{6D209C8D-CC15-4368-B17C-BE144C6F79E5}" sibTransId="{A5193100-17BB-4AC6-9C5F-A77F7E03EE57}"/>
    <dgm:cxn modelId="{7D459714-889D-491B-B146-9C321838B68E}" type="presOf" srcId="{3429F1AA-BCF9-48F6-8F93-C7F8FC3AF727}" destId="{14F38197-1FD5-49C5-AD4D-D566553F2F88}" srcOrd="0" destOrd="1" presId="urn:microsoft.com/office/officeart/2005/8/layout/hList1"/>
    <dgm:cxn modelId="{FB9243D3-14A6-4445-ACE5-F57A27184535}" type="presOf" srcId="{72CEAE2D-DB5B-433F-BC53-F9613D9C43A0}" destId="{EFB99AF2-925F-4584-9CDE-275F2EC3F9E0}" srcOrd="0" destOrd="6" presId="urn:microsoft.com/office/officeart/2005/8/layout/hList1"/>
    <dgm:cxn modelId="{C76B4B5A-09BD-4DF1-9625-0E6DA9817537}" type="presOf" srcId="{07170063-2D5F-485F-9270-7A410D491D13}" destId="{891CD302-2A63-452D-8FB6-0FFAEC77FD89}" srcOrd="0" destOrd="0" presId="urn:microsoft.com/office/officeart/2005/8/layout/hList1"/>
    <dgm:cxn modelId="{93856E22-3603-49D9-A20E-036DB6F69584}" srcId="{07170063-2D5F-485F-9270-7A410D491D13}" destId="{7823E0F2-B0F8-4F4D-8C31-C3DE24232180}" srcOrd="3" destOrd="0" parTransId="{1EB2841B-8737-4839-9FBA-3531F0B6634F}" sibTransId="{D7D81C74-61D0-49AA-975B-FC44A126A6C8}"/>
    <dgm:cxn modelId="{73D16C7A-0025-496D-AD24-A0C0815B68A1}" srcId="{7823E0F2-B0F8-4F4D-8C31-C3DE24232180}" destId="{16AF6208-0AB1-4908-92AE-66E9DB93CBCD}" srcOrd="0" destOrd="0" parTransId="{677E406B-2B01-4BE5-925F-63D9B3B8ECE0}" sibTransId="{5F37E8A9-5924-4F45-95AA-4152054C5EC4}"/>
    <dgm:cxn modelId="{BDECDD32-EBBE-45C2-9F98-4AC3A60E9E68}" srcId="{7823E0F2-B0F8-4F4D-8C31-C3DE24232180}" destId="{ECB24B23-D9A5-44D8-A3C9-D5D7667335CD}" srcOrd="2" destOrd="0" parTransId="{0675F7C1-762E-4085-AD52-9AA47941D42A}" sibTransId="{B6D60634-150E-4190-BFD1-DEC2B3873D40}"/>
    <dgm:cxn modelId="{0F15A232-DB42-4F19-82C9-C2C10BA2EC9E}" type="presOf" srcId="{8AA888E8-0502-493C-978A-02093D10A419}" destId="{0FA916CB-4736-4886-B30A-CF2AE2A23588}" srcOrd="0" destOrd="0" presId="urn:microsoft.com/office/officeart/2005/8/layout/hList1"/>
    <dgm:cxn modelId="{A7AB2588-06FA-4E67-8E71-310644826967}" type="presOf" srcId="{ECB24B23-D9A5-44D8-A3C9-D5D7667335CD}" destId="{EFB99AF2-925F-4584-9CDE-275F2EC3F9E0}" srcOrd="0" destOrd="2" presId="urn:microsoft.com/office/officeart/2005/8/layout/hList1"/>
    <dgm:cxn modelId="{93E48945-2791-40DD-8B5B-2D9237D5D0B8}" type="presParOf" srcId="{891CD302-2A63-452D-8FB6-0FFAEC77FD89}" destId="{5B4D31C6-2B9C-4C34-ADFA-FEF7F577B8E9}" srcOrd="0" destOrd="0" presId="urn:microsoft.com/office/officeart/2005/8/layout/hList1"/>
    <dgm:cxn modelId="{CB3F6BF8-C40C-4518-BBEC-C4B1BF042EC8}" type="presParOf" srcId="{5B4D31C6-2B9C-4C34-ADFA-FEF7F577B8E9}" destId="{65C8773B-81B9-4812-B65B-B18019607C7D}" srcOrd="0" destOrd="0" presId="urn:microsoft.com/office/officeart/2005/8/layout/hList1"/>
    <dgm:cxn modelId="{BFA16BBD-DB9D-45A1-950A-09693E2903C0}" type="presParOf" srcId="{5B4D31C6-2B9C-4C34-ADFA-FEF7F577B8E9}" destId="{458F78AE-EDF5-4055-B844-F79EA72C3A1E}" srcOrd="1" destOrd="0" presId="urn:microsoft.com/office/officeart/2005/8/layout/hList1"/>
    <dgm:cxn modelId="{D894B19B-6AA6-4D68-9F57-4C0C4A6C32E1}" type="presParOf" srcId="{891CD302-2A63-452D-8FB6-0FFAEC77FD89}" destId="{D24C53E8-CA7C-4CE3-88CD-BD8CFD215C1A}" srcOrd="1" destOrd="0" presId="urn:microsoft.com/office/officeart/2005/8/layout/hList1"/>
    <dgm:cxn modelId="{888F3B62-81AA-4CC1-A358-9D7A42861BFA}" type="presParOf" srcId="{891CD302-2A63-452D-8FB6-0FFAEC77FD89}" destId="{CB2EFE16-63A8-4CFA-BA85-1250D1B87415}" srcOrd="2" destOrd="0" presId="urn:microsoft.com/office/officeart/2005/8/layout/hList1"/>
    <dgm:cxn modelId="{B0676E99-6FA0-4733-A8A4-5470EF78BF91}" type="presParOf" srcId="{CB2EFE16-63A8-4CFA-BA85-1250D1B87415}" destId="{D93F5DA9-70A2-4480-A9DB-332176A8BF5D}" srcOrd="0" destOrd="0" presId="urn:microsoft.com/office/officeart/2005/8/layout/hList1"/>
    <dgm:cxn modelId="{60E20124-D190-4EA3-BAF3-C68207E103D1}" type="presParOf" srcId="{CB2EFE16-63A8-4CFA-BA85-1250D1B87415}" destId="{14F38197-1FD5-49C5-AD4D-D566553F2F88}" srcOrd="1" destOrd="0" presId="urn:microsoft.com/office/officeart/2005/8/layout/hList1"/>
    <dgm:cxn modelId="{373E9726-8FBA-4CA5-97F4-83352344A4F1}" type="presParOf" srcId="{891CD302-2A63-452D-8FB6-0FFAEC77FD89}" destId="{7064CB5A-4C60-4E99-932C-6E75BD061DC0}" srcOrd="3" destOrd="0" presId="urn:microsoft.com/office/officeart/2005/8/layout/hList1"/>
    <dgm:cxn modelId="{644A294C-E884-45AD-BC00-F04A1EC3E55A}" type="presParOf" srcId="{891CD302-2A63-452D-8FB6-0FFAEC77FD89}" destId="{5C70FB60-A64A-4C79-B72D-46698CB192F9}" srcOrd="4" destOrd="0" presId="urn:microsoft.com/office/officeart/2005/8/layout/hList1"/>
    <dgm:cxn modelId="{043FBB82-CD9C-4C62-8882-E765BFB7F996}" type="presParOf" srcId="{5C70FB60-A64A-4C79-B72D-46698CB192F9}" destId="{FB062E90-79B3-4887-B4BB-14D26A04D328}" srcOrd="0" destOrd="0" presId="urn:microsoft.com/office/officeart/2005/8/layout/hList1"/>
    <dgm:cxn modelId="{B0EE1C15-B8CA-4200-BDB1-98EE29F55101}" type="presParOf" srcId="{5C70FB60-A64A-4C79-B72D-46698CB192F9}" destId="{0FA916CB-4736-4886-B30A-CF2AE2A23588}" srcOrd="1" destOrd="0" presId="urn:microsoft.com/office/officeart/2005/8/layout/hList1"/>
    <dgm:cxn modelId="{370A97C0-1C38-496C-A644-DE3CB7EAEF3E}" type="presParOf" srcId="{891CD302-2A63-452D-8FB6-0FFAEC77FD89}" destId="{EDE0DF79-788F-4BC2-B8D0-4A94D72CA3DC}" srcOrd="5" destOrd="0" presId="urn:microsoft.com/office/officeart/2005/8/layout/hList1"/>
    <dgm:cxn modelId="{8BB656C4-5B53-4ECE-B308-F8EDB5A1BED6}" type="presParOf" srcId="{891CD302-2A63-452D-8FB6-0FFAEC77FD89}" destId="{9E0C0751-EBF8-4DA6-A959-60CFAFA22BEB}" srcOrd="6" destOrd="0" presId="urn:microsoft.com/office/officeart/2005/8/layout/hList1"/>
    <dgm:cxn modelId="{DA8A2B54-52CA-4512-A1E8-A04927AFC0D9}" type="presParOf" srcId="{9E0C0751-EBF8-4DA6-A959-60CFAFA22BEB}" destId="{11EE4AAF-298A-4AB6-8C23-B8FB6CD08BE5}" srcOrd="0" destOrd="0" presId="urn:microsoft.com/office/officeart/2005/8/layout/hList1"/>
    <dgm:cxn modelId="{A92425FF-63B7-4E1C-8D7C-C40915954B1C}" type="presParOf" srcId="{9E0C0751-EBF8-4DA6-A959-60CFAFA22BEB}" destId="{EFB99AF2-925F-4584-9CDE-275F2EC3F9E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8773B-81B9-4812-B65B-B18019607C7D}">
      <dsp:nvSpPr>
        <dsp:cNvPr id="0" name=""/>
        <dsp:cNvSpPr/>
      </dsp:nvSpPr>
      <dsp:spPr>
        <a:xfrm>
          <a:off x="3248" y="34421"/>
          <a:ext cx="195349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Web</a:t>
          </a:r>
          <a:endParaRPr lang="en-US" sz="2200" kern="1200" dirty="0"/>
        </a:p>
      </dsp:txBody>
      <dsp:txXfrm>
        <a:off x="3248" y="34421"/>
        <a:ext cx="1953498" cy="633600"/>
      </dsp:txXfrm>
    </dsp:sp>
    <dsp:sp modelId="{458F78AE-EDF5-4055-B844-F79EA72C3A1E}">
      <dsp:nvSpPr>
        <dsp:cNvPr id="0" name=""/>
        <dsp:cNvSpPr/>
      </dsp:nvSpPr>
      <dsp:spPr>
        <a:xfrm>
          <a:off x="3248" y="668021"/>
          <a:ext cx="1953498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>
        <a:off x="3248" y="668021"/>
        <a:ext cx="1953498" cy="3502619"/>
      </dsp:txXfrm>
    </dsp:sp>
    <dsp:sp modelId="{D93F5DA9-70A2-4480-A9DB-332176A8BF5D}">
      <dsp:nvSpPr>
        <dsp:cNvPr id="0" name=""/>
        <dsp:cNvSpPr/>
      </dsp:nvSpPr>
      <dsp:spPr>
        <a:xfrm>
          <a:off x="2230236" y="34421"/>
          <a:ext cx="195349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Outlook</a:t>
          </a:r>
          <a:endParaRPr lang="en-US" sz="2200" kern="1200" dirty="0"/>
        </a:p>
      </dsp:txBody>
      <dsp:txXfrm>
        <a:off x="2230236" y="34421"/>
        <a:ext cx="1953498" cy="633600"/>
      </dsp:txXfrm>
    </dsp:sp>
    <dsp:sp modelId="{14F38197-1FD5-49C5-AD4D-D566553F2F88}">
      <dsp:nvSpPr>
        <dsp:cNvPr id="0" name=""/>
        <dsp:cNvSpPr/>
      </dsp:nvSpPr>
      <dsp:spPr>
        <a:xfrm>
          <a:off x="2230236" y="668021"/>
          <a:ext cx="1953498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>
        <a:off x="2230236" y="668021"/>
        <a:ext cx="1953498" cy="3502619"/>
      </dsp:txXfrm>
    </dsp:sp>
    <dsp:sp modelId="{FB062E90-79B3-4887-B4BB-14D26A04D328}">
      <dsp:nvSpPr>
        <dsp:cNvPr id="0" name=""/>
        <dsp:cNvSpPr/>
      </dsp:nvSpPr>
      <dsp:spPr>
        <a:xfrm>
          <a:off x="4457224" y="34421"/>
          <a:ext cx="195349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Tablet</a:t>
          </a:r>
          <a:endParaRPr lang="en-US" sz="2200" kern="1200" dirty="0"/>
        </a:p>
      </dsp:txBody>
      <dsp:txXfrm>
        <a:off x="4457224" y="34421"/>
        <a:ext cx="1953498" cy="633600"/>
      </dsp:txXfrm>
    </dsp:sp>
    <dsp:sp modelId="{0FA916CB-4736-4886-B30A-CF2AE2A23588}">
      <dsp:nvSpPr>
        <dsp:cNvPr id="0" name=""/>
        <dsp:cNvSpPr/>
      </dsp:nvSpPr>
      <dsp:spPr>
        <a:xfrm>
          <a:off x="4457224" y="668021"/>
          <a:ext cx="1953498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>
        <a:off x="4457224" y="668021"/>
        <a:ext cx="1953498" cy="3502619"/>
      </dsp:txXfrm>
    </dsp:sp>
    <dsp:sp modelId="{11EE4AAF-298A-4AB6-8C23-B8FB6CD08BE5}">
      <dsp:nvSpPr>
        <dsp:cNvPr id="0" name=""/>
        <dsp:cNvSpPr/>
      </dsp:nvSpPr>
      <dsp:spPr>
        <a:xfrm>
          <a:off x="6684212" y="34421"/>
          <a:ext cx="1953498" cy="633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Phone</a:t>
          </a:r>
          <a:endParaRPr lang="en-US" sz="2200" kern="1200" dirty="0"/>
        </a:p>
      </dsp:txBody>
      <dsp:txXfrm>
        <a:off x="6684212" y="34421"/>
        <a:ext cx="1953498" cy="633600"/>
      </dsp:txXfrm>
    </dsp:sp>
    <dsp:sp modelId="{EFB99AF2-925F-4584-9CDE-275F2EC3F9E0}">
      <dsp:nvSpPr>
        <dsp:cNvPr id="0" name=""/>
        <dsp:cNvSpPr/>
      </dsp:nvSpPr>
      <dsp:spPr>
        <a:xfrm>
          <a:off x="6684212" y="668021"/>
          <a:ext cx="1953498" cy="350261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>
        <a:off x="6684212" y="668021"/>
        <a:ext cx="1953498" cy="3502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C073C-CA0F-4B51-86D5-B13E2695F0A1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1832-BE51-4C5E-BE95-1D56B9C29E95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153675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1772816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3501008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645024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63072" cy="1143000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kautettu asette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uva 7" descr="cloud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-252536" y="4778077"/>
            <a:ext cx="2705100" cy="1819275"/>
          </a:xfrm>
          <a:prstGeom prst="rect">
            <a:avLst/>
          </a:prstGeom>
        </p:spPr>
      </p:pic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0590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3E524-6BC0-4787-95C5-C72B8592B78C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32F54-FEF5-4C51-AD41-BCEAD3422049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city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  <p:pic>
        <p:nvPicPr>
          <p:cNvPr id="9" name="Kuva 8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067944" y="-323225"/>
            <a:ext cx="5687616" cy="3896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0B6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EE37C-AC12-4BDA-B7AE-D0C3DB4B341E}" type="datetimeFigureOut">
              <a:rPr lang="fi-FI" smtClean="0"/>
              <a:pPr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6CCA3-C34D-4E21-BA24-327A65CEE13D}" type="slidenum">
              <a:rPr lang="fi-FI" smtClean="0"/>
              <a:pPr/>
              <a:t>‹#›</a:t>
            </a:fld>
            <a:endParaRPr lang="fi-FI" dirty="0"/>
          </a:p>
        </p:txBody>
      </p:sp>
      <p:pic>
        <p:nvPicPr>
          <p:cNvPr id="7" name="Kuva 6" descr="logo_bc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909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pic>
        <p:nvPicPr>
          <p:cNvPr id="9" name="Kuva 8" descr="city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5376624"/>
            <a:ext cx="9144000" cy="15087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/>
          <p:cNvSpPr/>
          <p:nvPr/>
        </p:nvSpPr>
        <p:spPr>
          <a:xfrm>
            <a:off x="0" y="0"/>
            <a:ext cx="9144000" cy="1196752"/>
          </a:xfrm>
          <a:prstGeom prst="rect">
            <a:avLst/>
          </a:prstGeom>
          <a:solidFill>
            <a:srgbClr val="52C2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321296" y="44624"/>
            <a:ext cx="59870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i-FI" dirty="0" smtClean="0"/>
              <a:t>Muokkaa </a:t>
            </a:r>
            <a:r>
              <a:rPr lang="fi-FI" dirty="0" err="1" smtClean="0"/>
              <a:t>perustyyl</a:t>
            </a:r>
            <a:r>
              <a:rPr lang="fi-FI" dirty="0" smtClean="0"/>
              <a:t>. </a:t>
            </a:r>
            <a:r>
              <a:rPr lang="fi-FI" dirty="0" err="1" smtClean="0"/>
              <a:t>napsautt</a:t>
            </a:r>
            <a:r>
              <a:rPr lang="fi-FI" dirty="0" smtClean="0"/>
              <a:t>.</a:t>
            </a:r>
            <a:endParaRPr lang="fi-FI" dirty="0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smtClean="0"/>
              <a:t>Muokkaa tekstin perustyylejä napsauttamalla</a:t>
            </a:r>
          </a:p>
          <a:p>
            <a:pPr lvl="1"/>
            <a:r>
              <a:rPr lang="fi-FI" dirty="0" smtClean="0"/>
              <a:t>toinen taso</a:t>
            </a:r>
          </a:p>
          <a:p>
            <a:pPr lvl="2"/>
            <a:r>
              <a:rPr lang="fi-FI" dirty="0" smtClean="0"/>
              <a:t>kolmas taso</a:t>
            </a:r>
          </a:p>
          <a:p>
            <a:pPr lvl="3"/>
            <a:r>
              <a:rPr lang="fi-FI" dirty="0" smtClean="0"/>
              <a:t>neljäs taso</a:t>
            </a:r>
          </a:p>
          <a:p>
            <a:pPr lvl="4"/>
            <a:r>
              <a:rPr lang="fi-FI" dirty="0" smtClean="0"/>
              <a:t>viides taso</a:t>
            </a:r>
            <a:endParaRPr lang="fi-FI" dirty="0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28542-833B-490F-A2E7-8CA93ACE653C}" type="datetimeFigureOut">
              <a:rPr lang="fi-FI" smtClean="0"/>
              <a:t>28.9.2014</a:t>
            </a:fld>
            <a:endParaRPr lang="fi-FI" dirty="0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ACFC-355D-4675-8033-412203FFBB8E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8" name="Kuva 7" descr="logo_bc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796136" y="-243408"/>
            <a:ext cx="3815408" cy="2613705"/>
          </a:xfrm>
          <a:prstGeom prst="rect">
            <a:avLst/>
          </a:prstGeom>
        </p:spPr>
      </p:pic>
      <p:sp>
        <p:nvSpPr>
          <p:cNvPr id="11" name="Suorakulmio 10"/>
          <p:cNvSpPr/>
          <p:nvPr/>
        </p:nvSpPr>
        <p:spPr>
          <a:xfrm>
            <a:off x="0" y="6696744"/>
            <a:ext cx="9144000" cy="18864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pic>
        <p:nvPicPr>
          <p:cNvPr id="12" name="Kuva 11" descr="cloud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0" y="116632"/>
            <a:ext cx="1656184" cy="11138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apconsulting.co.uk/our-solutions/free-tools/workflow-essentials" TargetMode="Externa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illslade.wordpress.com/2011/12/29/people-use-what-works-well/" TargetMode="Externa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crmdatadetective.codeplex.com/" TargetMode="External"/><Relationship Id="rId2" Type="http://schemas.openxmlformats.org/officeDocument/2006/relationships/hyperlink" Target="http://xrmtoolbox.codeplex.com/" TargetMode="Externa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://www.crm2013quickstart.com/" TargetMode="Externa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niiranen.eu/crm/" TargetMode="External"/><Relationship Id="rId2" Type="http://schemas.openxmlformats.org/officeDocument/2006/relationships/hyperlink" Target="https://twitter.com/jukka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10 </a:t>
            </a:r>
            <a:r>
              <a:rPr lang="fi-FI" dirty="0" err="1" smtClean="0"/>
              <a:t>Tips</a:t>
            </a:r>
            <a:r>
              <a:rPr lang="fi-FI" dirty="0" smtClean="0"/>
              <a:t> for </a:t>
            </a:r>
            <a:r>
              <a:rPr lang="fi-FI" dirty="0" err="1" smtClean="0"/>
              <a:t>Designing</a:t>
            </a:r>
            <a:r>
              <a:rPr lang="fi-FI" dirty="0" smtClean="0"/>
              <a:t> a Great User </a:t>
            </a:r>
            <a:r>
              <a:rPr lang="fi-FI" dirty="0" err="1" smtClean="0"/>
              <a:t>Experience</a:t>
            </a:r>
            <a:r>
              <a:rPr lang="fi-FI" dirty="0" smtClean="0"/>
              <a:t> </a:t>
            </a:r>
            <a:r>
              <a:rPr lang="fi-FI" smtClean="0"/>
              <a:t>in Dynamics CRM</a:t>
            </a:r>
            <a:endParaRPr lang="fi-FI" dirty="0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Jukka Niiranen</a:t>
            </a:r>
          </a:p>
          <a:p>
            <a:r>
              <a:rPr lang="fi-FI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2014-09-23</a:t>
            </a:r>
            <a:endParaRPr lang="fi-FI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am I going to talk about today?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make your users love CRM even more!</a:t>
            </a:r>
          </a:p>
          <a:p>
            <a:pPr lvl="1"/>
            <a:r>
              <a:rPr lang="en-US" dirty="0" smtClean="0"/>
              <a:t>…Or hate it a bit less</a:t>
            </a:r>
          </a:p>
          <a:p>
            <a:r>
              <a:rPr lang="en-US" dirty="0" smtClean="0"/>
              <a:t>Show some design practices I (try to) follow when building CRM solutions</a:t>
            </a:r>
          </a:p>
          <a:p>
            <a:r>
              <a:rPr lang="en-US" dirty="0" smtClean="0"/>
              <a:t>Give you practical customization tips for the latest Dynamics CRM version</a:t>
            </a:r>
          </a:p>
          <a:p>
            <a:r>
              <a:rPr lang="en-US" dirty="0" smtClean="0"/>
              <a:t>Zero lines of </a:t>
            </a:r>
            <a:r>
              <a:rPr lang="en-US" smtClean="0"/>
              <a:t>code needed for all of these!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Tip 1: Understand what User Experience design means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0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smtClean="0"/>
              <a:t>What is this “</a:t>
            </a:r>
            <a:r>
              <a:rPr lang="en-US" b="1" i="1" smtClean="0"/>
              <a:t>UX</a:t>
            </a:r>
            <a:r>
              <a:rPr lang="en-US" i="1" smtClean="0"/>
              <a:t>” thing anyway?</a:t>
            </a:r>
            <a:endParaRPr lang="fi-FI" i="1"/>
          </a:p>
        </p:txBody>
      </p:sp>
    </p:spTree>
    <p:extLst>
      <p:ext uri="{BB962C8B-B14F-4D97-AF65-F5344CB8AC3E}">
        <p14:creationId xmlns:p14="http://schemas.microsoft.com/office/powerpoint/2010/main" val="383750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It’s not the same as User Interface design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628800"/>
            <a:ext cx="6264696" cy="468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9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UX design makes software better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smtClean="0"/>
              <a:t>“User knowing how to use the system” </a:t>
            </a:r>
            <a:r>
              <a:rPr lang="en-US" smtClean="0"/>
              <a:t>vs. </a:t>
            </a:r>
            <a:r>
              <a:rPr lang="en-US" i="1" smtClean="0"/>
              <a:t>“system knowing what the </a:t>
            </a:r>
            <a:r>
              <a:rPr lang="en-US" b="1" i="1" smtClean="0"/>
              <a:t>user</a:t>
            </a:r>
            <a:r>
              <a:rPr lang="en-US" i="1" smtClean="0"/>
              <a:t> wants”</a:t>
            </a:r>
          </a:p>
          <a:p>
            <a:r>
              <a:rPr lang="en-US" smtClean="0"/>
              <a:t>The human brain hates uncertainty – UX design can reduce uncertainty via:</a:t>
            </a:r>
          </a:p>
          <a:p>
            <a:pPr lvl="1"/>
            <a:r>
              <a:rPr lang="en-US" smtClean="0"/>
              <a:t>Choice reduction</a:t>
            </a:r>
          </a:p>
          <a:p>
            <a:pPr lvl="1"/>
            <a:r>
              <a:rPr lang="en-US" smtClean="0"/>
              <a:t>Visual cues</a:t>
            </a:r>
          </a:p>
          <a:p>
            <a:pPr lvl="1"/>
            <a:r>
              <a:rPr lang="en-US" smtClean="0"/>
              <a:t>Adapting to user interaction</a:t>
            </a:r>
          </a:p>
          <a:p>
            <a:pPr lvl="1"/>
            <a:r>
              <a:rPr lang="en-US" smtClean="0"/>
              <a:t>Following the user’s natural process</a:t>
            </a:r>
          </a:p>
        </p:txBody>
      </p:sp>
    </p:spTree>
    <p:extLst>
      <p:ext uri="{BB962C8B-B14F-4D97-AF65-F5344CB8AC3E}">
        <p14:creationId xmlns:p14="http://schemas.microsoft.com/office/powerpoint/2010/main" val="2710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User experience is about the whole process</a:t>
            </a:r>
            <a:endParaRPr lang="fi-FI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8" y="1556792"/>
            <a:ext cx="9036496" cy="3819732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323528" y="5589240"/>
            <a:ext cx="1224136" cy="936104"/>
          </a:xfrm>
          <a:prstGeom prst="wedgeRoundRectCallout">
            <a:avLst>
              <a:gd name="adj1" fmla="val 2105"/>
              <a:gd name="adj2" fmla="val -19499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Looks good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2843808" y="5589240"/>
            <a:ext cx="1224136" cy="936104"/>
          </a:xfrm>
          <a:prstGeom prst="wedgeRoundRectCallout">
            <a:avLst>
              <a:gd name="adj1" fmla="val 2105"/>
              <a:gd name="adj2" fmla="val -19499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Works well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7308304" y="5589240"/>
            <a:ext cx="1224136" cy="936104"/>
          </a:xfrm>
          <a:prstGeom prst="wedgeRoundRectCallout">
            <a:avLst>
              <a:gd name="adj1" fmla="val 2105"/>
              <a:gd name="adj2" fmla="val -19499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Feels great!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user experience </a:t>
            </a:r>
            <a:r>
              <a:rPr lang="en-US" smtClean="0"/>
              <a:t>is important for CRM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The frequency </a:t>
            </a:r>
            <a:r>
              <a:rPr lang="en-US" dirty="0" smtClean="0"/>
              <a:t>of user pain</a:t>
            </a:r>
          </a:p>
          <a:p>
            <a:pPr lvl="1"/>
            <a:r>
              <a:rPr lang="en-US" dirty="0" smtClean="0"/>
              <a:t>Online store customer: temporary pain caused during the commercial transaction</a:t>
            </a:r>
          </a:p>
          <a:p>
            <a:pPr lvl="1"/>
            <a:r>
              <a:rPr lang="en-US" smtClean="0"/>
              <a:t>CRM </a:t>
            </a:r>
            <a:r>
              <a:rPr lang="en-US" dirty="0" smtClean="0"/>
              <a:t>system user: continuous pain through repeated encounters with the </a:t>
            </a:r>
            <a:r>
              <a:rPr lang="en-US" smtClean="0"/>
              <a:t>day-to-day tools</a:t>
            </a:r>
          </a:p>
          <a:p>
            <a:r>
              <a:rPr lang="en-US" smtClean="0"/>
              <a:t>The variety of use cases and user groups</a:t>
            </a:r>
          </a:p>
          <a:p>
            <a:pPr lvl="1"/>
            <a:r>
              <a:rPr lang="en-US" smtClean="0"/>
              <a:t>People who don’t share the same processes trying to use the same customer information system</a:t>
            </a:r>
          </a:p>
          <a:p>
            <a:pPr lvl="1"/>
            <a:r>
              <a:rPr lang="en-US" smtClean="0"/>
              <a:t>Trying to deliver “something for everybody” will results in monolithic enterprise software</a:t>
            </a:r>
          </a:p>
        </p:txBody>
      </p:sp>
    </p:spTree>
    <p:extLst>
      <p:ext uri="{BB962C8B-B14F-4D97-AF65-F5344CB8AC3E}">
        <p14:creationId xmlns:p14="http://schemas.microsoft.com/office/powerpoint/2010/main" val="385095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it’s especially important with </a:t>
            </a:r>
            <a:r>
              <a:rPr lang="en-US" smtClean="0"/>
              <a:t>CRM 2013+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Higher user expectations due to relative ease of out-of-the-box functionality</a:t>
            </a:r>
          </a:p>
          <a:p>
            <a:r>
              <a:rPr lang="en-US" smtClean="0"/>
              <a:t>Simplified UI only delivers benefits when the actions visible are the relevant ones</a:t>
            </a:r>
          </a:p>
          <a:p>
            <a:r>
              <a:rPr lang="en-US"/>
              <a:t>Tons of new components to configure = more potential for UX success AND </a:t>
            </a:r>
            <a:r>
              <a:rPr lang="en-US" smtClean="0"/>
              <a:t>failure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3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Tip 2: start from the navigation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6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changed with CRM 2013?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Drivers for CRM 2013 UI re-design:</a:t>
            </a:r>
            <a:endParaRPr lang="en-US" dirty="0" smtClean="0"/>
          </a:p>
          <a:p>
            <a:pPr lvl="1"/>
            <a:r>
              <a:rPr lang="en-US" dirty="0" smtClean="0"/>
              <a:t>Single window = global navigation</a:t>
            </a:r>
          </a:p>
          <a:p>
            <a:pPr lvl="1"/>
            <a:r>
              <a:rPr lang="en-US" dirty="0" smtClean="0"/>
              <a:t>Touch enabled = bigger icons</a:t>
            </a:r>
          </a:p>
          <a:p>
            <a:pPr lvl="1"/>
            <a:r>
              <a:rPr lang="en-US" dirty="0" smtClean="0"/>
              <a:t>Content over UI chrome = hidden menus</a:t>
            </a:r>
          </a:p>
          <a:p>
            <a:r>
              <a:rPr lang="en-US" dirty="0" smtClean="0"/>
              <a:t>Casualties:</a:t>
            </a:r>
          </a:p>
          <a:p>
            <a:pPr lvl="1"/>
            <a:r>
              <a:rPr lang="en-US" dirty="0" smtClean="0"/>
              <a:t>Much fever menus immediately visible</a:t>
            </a:r>
          </a:p>
          <a:p>
            <a:pPr lvl="1"/>
            <a:r>
              <a:rPr lang="en-US" dirty="0" err="1" smtClean="0"/>
              <a:t>Nav</a:t>
            </a:r>
            <a:r>
              <a:rPr lang="en-US" dirty="0" smtClean="0"/>
              <a:t> Bar </a:t>
            </a:r>
            <a:r>
              <a:rPr lang="en-US" dirty="0" err="1"/>
              <a:t>m</a:t>
            </a:r>
            <a:r>
              <a:rPr lang="en-US" dirty="0" err="1" smtClean="0"/>
              <a:t>ouseover</a:t>
            </a:r>
            <a:r>
              <a:rPr lang="en-US" dirty="0" smtClean="0"/>
              <a:t> effect requires cursor precision</a:t>
            </a:r>
          </a:p>
          <a:p>
            <a:pPr lvl="1"/>
            <a:r>
              <a:rPr lang="en-US" dirty="0" smtClean="0"/>
              <a:t>“Vanilla CRM 2013 </a:t>
            </a:r>
            <a:r>
              <a:rPr lang="en-US" dirty="0" err="1" smtClean="0"/>
              <a:t>SiteMap</a:t>
            </a:r>
            <a:r>
              <a:rPr lang="en-US" dirty="0" smtClean="0"/>
              <a:t>” vs. upgrade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05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1281149"/>
            <a:ext cx="3404010" cy="52800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Optimization in the world of Dynamics CRM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95" y="1556792"/>
            <a:ext cx="5185909" cy="6733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574881"/>
            <a:ext cx="5184576" cy="6689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3588617"/>
            <a:ext cx="5184576" cy="6731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4606533"/>
            <a:ext cx="5184576" cy="673158"/>
          </a:xfrm>
          <a:prstGeom prst="rect">
            <a:avLst/>
          </a:prstGeom>
        </p:spPr>
      </p:pic>
      <p:cxnSp>
        <p:nvCxnSpPr>
          <p:cNvPr id="8" name="Elbow Connector 7"/>
          <p:cNvCxnSpPr>
            <a:stCxn id="3" idx="3"/>
            <a:endCxn id="4" idx="1"/>
          </p:cNvCxnSpPr>
          <p:nvPr/>
        </p:nvCxnSpPr>
        <p:spPr>
          <a:xfrm flipH="1">
            <a:off x="323528" y="1893458"/>
            <a:ext cx="5184576" cy="1015912"/>
          </a:xfrm>
          <a:prstGeom prst="bentConnector5">
            <a:avLst>
              <a:gd name="adj1" fmla="val -4409"/>
              <a:gd name="adj2" fmla="val 50107"/>
              <a:gd name="adj3" fmla="val 104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4" idx="3"/>
            <a:endCxn id="5" idx="1"/>
          </p:cNvCxnSpPr>
          <p:nvPr/>
        </p:nvCxnSpPr>
        <p:spPr>
          <a:xfrm flipH="1">
            <a:off x="323528" y="2909370"/>
            <a:ext cx="5184576" cy="1015826"/>
          </a:xfrm>
          <a:prstGeom prst="bentConnector5">
            <a:avLst>
              <a:gd name="adj1" fmla="val -4409"/>
              <a:gd name="adj2" fmla="val 49897"/>
              <a:gd name="adj3" fmla="val 104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5" idx="3"/>
            <a:endCxn id="6" idx="1"/>
          </p:cNvCxnSpPr>
          <p:nvPr/>
        </p:nvCxnSpPr>
        <p:spPr>
          <a:xfrm flipH="1">
            <a:off x="323528" y="3925196"/>
            <a:ext cx="5184576" cy="1017916"/>
          </a:xfrm>
          <a:prstGeom prst="bentConnector5">
            <a:avLst>
              <a:gd name="adj1" fmla="val -4409"/>
              <a:gd name="adj2" fmla="val 50000"/>
              <a:gd name="adj3" fmla="val 104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/>
          <p:cNvSpPr/>
          <p:nvPr/>
        </p:nvSpPr>
        <p:spPr>
          <a:xfrm>
            <a:off x="395536" y="5373216"/>
            <a:ext cx="2304256" cy="1224136"/>
          </a:xfrm>
          <a:prstGeom prst="wedgeRoundRectCallout">
            <a:avLst>
              <a:gd name="adj1" fmla="val 87837"/>
              <a:gd name="adj2" fmla="val -6623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Scrolling to the 4</a:t>
            </a:r>
            <a:r>
              <a:rPr lang="en-US" baseline="30000" dirty="0" smtClean="0"/>
              <a:t>th</a:t>
            </a:r>
            <a:r>
              <a:rPr lang="en-US" dirty="0" smtClean="0"/>
              <a:t> page of CRM 2013 </a:t>
            </a:r>
            <a:r>
              <a:rPr lang="en-US" dirty="0" err="1" smtClean="0"/>
              <a:t>Nav</a:t>
            </a:r>
            <a:r>
              <a:rPr lang="en-US" dirty="0" smtClean="0"/>
              <a:t> Bar is like…</a:t>
            </a:r>
            <a:endParaRPr lang="en-US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3563888" y="5373216"/>
            <a:ext cx="2304256" cy="1224136"/>
          </a:xfrm>
          <a:prstGeom prst="wedgeRoundRectCallout">
            <a:avLst>
              <a:gd name="adj1" fmla="val 78331"/>
              <a:gd name="adj2" fmla="val 3096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…Getting to the 4</a:t>
            </a:r>
            <a:r>
              <a:rPr lang="en-US" baseline="30000" dirty="0" smtClean="0"/>
              <a:t>th</a:t>
            </a:r>
            <a:r>
              <a:rPr lang="en-US" dirty="0" smtClean="0"/>
              <a:t> page on Google.</a:t>
            </a:r>
          </a:p>
          <a:p>
            <a:pPr algn="ctr"/>
            <a:r>
              <a:rPr lang="en-US" dirty="0" smtClean="0"/>
              <a:t>Not very likely.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77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Optimization tips for the new navigation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SiteMap</a:t>
            </a:r>
            <a:endParaRPr lang="en-US" dirty="0" smtClean="0"/>
          </a:p>
          <a:p>
            <a:pPr lvl="1"/>
            <a:r>
              <a:rPr lang="en-US" dirty="0" smtClean="0"/>
              <a:t>Make each process specific area self-sustained</a:t>
            </a:r>
          </a:p>
          <a:p>
            <a:pPr lvl="2"/>
            <a:r>
              <a:rPr lang="en-US" dirty="0"/>
              <a:t>K</a:t>
            </a:r>
            <a:r>
              <a:rPr lang="en-US" dirty="0" smtClean="0"/>
              <a:t>ill </a:t>
            </a:r>
            <a:r>
              <a:rPr lang="en-US" smtClean="0"/>
              <a:t>the Workplace </a:t>
            </a:r>
            <a:r>
              <a:rPr lang="en-US" dirty="0" smtClean="0"/>
              <a:t>while you’re at it</a:t>
            </a:r>
          </a:p>
          <a:p>
            <a:pPr lvl="1"/>
            <a:r>
              <a:rPr lang="en-US" dirty="0" smtClean="0"/>
              <a:t>Don’t be afraid to add more areas</a:t>
            </a:r>
          </a:p>
          <a:p>
            <a:pPr lvl="1"/>
            <a:r>
              <a:rPr lang="en-US" dirty="0" smtClean="0"/>
              <a:t>Configure a “landing page” dashboard for each area</a:t>
            </a:r>
          </a:p>
          <a:p>
            <a:r>
              <a:rPr lang="en-US" dirty="0" smtClean="0"/>
              <a:t>Form </a:t>
            </a:r>
            <a:r>
              <a:rPr lang="en-US" smtClean="0"/>
              <a:t>Related Records (“the 4</a:t>
            </a:r>
            <a:r>
              <a:rPr lang="en-US" baseline="30000" smtClean="0"/>
              <a:t>th</a:t>
            </a:r>
            <a:r>
              <a:rPr lang="en-US" smtClean="0"/>
              <a:t> level” in Nav Bar)</a:t>
            </a:r>
            <a:endParaRPr lang="en-US" dirty="0" smtClean="0"/>
          </a:p>
          <a:p>
            <a:pPr lvl="1"/>
            <a:r>
              <a:rPr lang="en-US" smtClean="0"/>
              <a:t>Remove menu items that already have a subgrid on the form</a:t>
            </a:r>
            <a:endParaRPr lang="en-US" dirty="0" smtClean="0"/>
          </a:p>
          <a:p>
            <a:pPr lvl="1"/>
            <a:r>
              <a:rPr lang="en-US" dirty="0" smtClean="0"/>
              <a:t>Prioritize the order based on presumed access frequency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45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3: </a:t>
            </a:r>
            <a:r>
              <a:rPr lang="en-US" dirty="0" smtClean="0"/>
              <a:t>Save clicks with view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What’s </a:t>
            </a:r>
            <a:r>
              <a:rPr lang="en-US" smtClean="0">
                <a:solidFill>
                  <a:schemeClr val="tx2"/>
                </a:solidFill>
              </a:rPr>
              <a:t>#SavedYouAClick</a:t>
            </a:r>
            <a:r>
              <a:rPr lang="en-US" smtClean="0"/>
              <a:t>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60848"/>
            <a:ext cx="5685714" cy="3857143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588224" y="1556792"/>
            <a:ext cx="2304256" cy="1224136"/>
          </a:xfrm>
          <a:prstGeom prst="wedgeRoundRectCallout">
            <a:avLst>
              <a:gd name="adj1" fmla="val -138019"/>
              <a:gd name="adj2" fmla="val 19589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Have to click through to a new page to get the information you want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6588224" y="3150096"/>
            <a:ext cx="2304256" cy="1224136"/>
          </a:xfrm>
          <a:prstGeom prst="wedgeRoundRectCallout">
            <a:avLst>
              <a:gd name="adj1" fmla="val -166304"/>
              <a:gd name="adj2" fmla="val 369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information you want, right there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CRM views and clicks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Two reasons for clicking a record in a view</a:t>
            </a:r>
          </a:p>
          <a:p>
            <a:pPr lvl="1"/>
            <a:r>
              <a:rPr lang="en-US" smtClean="0"/>
              <a:t>You want to access more information from it (minimum 1 click)</a:t>
            </a:r>
          </a:p>
          <a:p>
            <a:pPr lvl="1"/>
            <a:r>
              <a:rPr lang="en-US" smtClean="0"/>
              <a:t>You need to check if it’s the right record in the first place (1…N clicks)</a:t>
            </a:r>
          </a:p>
          <a:p>
            <a:r>
              <a:rPr lang="en-US" smtClean="0"/>
              <a:t>The best views </a:t>
            </a:r>
            <a:r>
              <a:rPr lang="en-US" b="1" smtClean="0"/>
              <a:t>don’t require a single click</a:t>
            </a:r>
          </a:p>
          <a:p>
            <a:pPr lvl="1"/>
            <a:r>
              <a:rPr lang="en-US" smtClean="0"/>
              <a:t>Columns provide the most important info</a:t>
            </a:r>
          </a:p>
          <a:p>
            <a:pPr lvl="1"/>
            <a:r>
              <a:rPr lang="en-US" smtClean="0"/>
              <a:t>Sorting promotes the most relevant records</a:t>
            </a:r>
          </a:p>
          <a:p>
            <a:pPr lvl="2"/>
            <a:r>
              <a:rPr lang="en-US" smtClean="0"/>
              <a:t>(Btw: 1 scroll/swipe effort &lt; 1 click effort)</a:t>
            </a:r>
          </a:p>
        </p:txBody>
      </p:sp>
    </p:spTree>
    <p:extLst>
      <p:ext uri="{BB962C8B-B14F-4D97-AF65-F5344CB8AC3E}">
        <p14:creationId xmlns:p14="http://schemas.microsoft.com/office/powerpoint/2010/main" val="51617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Default views that suck</a:t>
            </a:r>
            <a:endParaRPr lang="fi-FI"/>
          </a:p>
        </p:txBody>
      </p:sp>
      <p:sp>
        <p:nvSpPr>
          <p:cNvPr id="3" name="TextBox 2"/>
          <p:cNvSpPr txBox="1"/>
          <p:nvPr/>
        </p:nvSpPr>
        <p:spPr>
          <a:xfrm>
            <a:off x="24329" y="1504945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Marketing list members: </a:t>
            </a:r>
            <a:r>
              <a:rPr lang="en-US" smtClean="0"/>
              <a:t>which company/address/permission?</a:t>
            </a:r>
            <a:endParaRPr lang="fi-FI"/>
          </a:p>
        </p:txBody>
      </p:sp>
      <p:sp>
        <p:nvSpPr>
          <p:cNvPr id="4" name="TextBox 3"/>
          <p:cNvSpPr txBox="1"/>
          <p:nvPr/>
        </p:nvSpPr>
        <p:spPr>
          <a:xfrm>
            <a:off x="3060060" y="2134269"/>
            <a:ext cx="2808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Active Cases:</a:t>
            </a:r>
            <a:r>
              <a:rPr lang="en-US" smtClean="0"/>
              <a:t> who’s the customer? Or case owner?</a:t>
            </a:r>
            <a:endParaRPr lang="fi-FI"/>
          </a:p>
        </p:txBody>
      </p:sp>
      <p:sp>
        <p:nvSpPr>
          <p:cNvPr id="5" name="TextBox 4"/>
          <p:cNvSpPr txBox="1"/>
          <p:nvPr/>
        </p:nvSpPr>
        <p:spPr>
          <a:xfrm>
            <a:off x="6228412" y="1504944"/>
            <a:ext cx="3168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Price list items:</a:t>
            </a:r>
            <a:r>
              <a:rPr lang="en-US" smtClean="0"/>
              <a:t> where’s the product’s price????</a:t>
            </a:r>
            <a:endParaRPr lang="fi-FI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5893"/>
            <a:ext cx="2832413" cy="39576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288" y="2797607"/>
            <a:ext cx="3219872" cy="333590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965" y="2205812"/>
            <a:ext cx="2704907" cy="374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5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Custom views that suck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0768"/>
            <a:ext cx="4893537" cy="5251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2852936"/>
            <a:ext cx="4340360" cy="36450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1801" y="1204474"/>
            <a:ext cx="1942567" cy="15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4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Design views that minimize the clicks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Sorting</a:t>
            </a:r>
          </a:p>
          <a:p>
            <a:pPr lvl="1"/>
            <a:r>
              <a:rPr lang="en-US" dirty="0" smtClean="0"/>
              <a:t>Alphabetic sorting almost never makes sense</a:t>
            </a:r>
          </a:p>
          <a:p>
            <a:pPr lvl="1"/>
            <a:r>
              <a:rPr lang="en-US" dirty="0" smtClean="0"/>
              <a:t>Showing last modified/created records almost always makes sense</a:t>
            </a:r>
          </a:p>
          <a:p>
            <a:r>
              <a:rPr lang="en-US" dirty="0" smtClean="0"/>
              <a:t>Columns</a:t>
            </a:r>
          </a:p>
          <a:p>
            <a:pPr lvl="1"/>
            <a:r>
              <a:rPr lang="en-US" smtClean="0"/>
              <a:t>Include relevant fields for visual scanning and manual sorting</a:t>
            </a:r>
          </a:p>
          <a:p>
            <a:pPr lvl="1"/>
            <a:r>
              <a:rPr lang="en-US" smtClean="0"/>
              <a:t>Synchronize </a:t>
            </a:r>
            <a:r>
              <a:rPr lang="en-US" dirty="0" smtClean="0"/>
              <a:t>column order (and width!) across your views as much as possible</a:t>
            </a:r>
          </a:p>
          <a:p>
            <a:pPr lvl="1"/>
            <a:r>
              <a:rPr lang="en-US" dirty="0" smtClean="0"/>
              <a:t>Avoid using lookup fields to other entities as </a:t>
            </a:r>
            <a:r>
              <a:rPr lang="en-US" smtClean="0"/>
              <a:t>first columns (because the click will not take you to the record you expected)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33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4: Make your </a:t>
            </a:r>
            <a:r>
              <a:rPr lang="en-US" dirty="0" smtClean="0"/>
              <a:t>forms more responsive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Why so many entity forms suck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eternal dilemma:</a:t>
            </a:r>
          </a:p>
          <a:p>
            <a:pPr lvl="1"/>
            <a:r>
              <a:rPr lang="en-US" dirty="0" smtClean="0"/>
              <a:t>Process owners would like to have all the data</a:t>
            </a:r>
          </a:p>
          <a:p>
            <a:pPr lvl="1"/>
            <a:r>
              <a:rPr lang="en-US" dirty="0" smtClean="0"/>
              <a:t>Process actors would like to enter none of the data</a:t>
            </a:r>
          </a:p>
          <a:p>
            <a:r>
              <a:rPr lang="en-US" smtClean="0"/>
              <a:t>The varying relevance:</a:t>
            </a:r>
          </a:p>
          <a:p>
            <a:pPr lvl="1"/>
            <a:r>
              <a:rPr lang="en-US" smtClean="0"/>
              <a:t>Some information will never be known by the user upon record create</a:t>
            </a:r>
          </a:p>
          <a:p>
            <a:pPr lvl="1"/>
            <a:r>
              <a:rPr lang="en-US" smtClean="0"/>
              <a:t>Some information is only relevant in conjuction with other information</a:t>
            </a:r>
          </a:p>
          <a:p>
            <a:pPr lvl="1"/>
            <a:r>
              <a:rPr lang="en-US" smtClean="0"/>
              <a:t>Some information becomes irrelevant as the process moves forwards</a:t>
            </a:r>
          </a:p>
          <a:p>
            <a:r>
              <a:rPr lang="en-US" smtClean="0"/>
              <a:t>Entity attributes (data model) and entity presentation (UI) are two different design areas, because the presentation layer has a </a:t>
            </a:r>
            <a:r>
              <a:rPr lang="en-US" b="1" smtClean="0"/>
              <a:t>time dimension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372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things are just better kept hidden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1268760"/>
            <a:ext cx="5832150" cy="5365577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169168" y="1412776"/>
            <a:ext cx="2304256" cy="1224136"/>
          </a:xfrm>
          <a:prstGeom prst="wedgeRoundRectCallout">
            <a:avLst>
              <a:gd name="adj1" fmla="val 80238"/>
              <a:gd name="adj2" fmla="val -2411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These are all the </a:t>
            </a:r>
            <a:r>
              <a:rPr lang="en-US" b="1" dirty="0" smtClean="0"/>
              <a:t>standard</a:t>
            </a:r>
            <a:r>
              <a:rPr lang="en-US" dirty="0" smtClean="0"/>
              <a:t> hidden fields for the opportunity entity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169168" y="3933056"/>
            <a:ext cx="2304256" cy="2304256"/>
          </a:xfrm>
          <a:prstGeom prst="wedgeRoundRectCallout">
            <a:avLst>
              <a:gd name="adj1" fmla="val 80238"/>
              <a:gd name="adj2" fmla="val -2411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Imagine you were being trained to use a new CRM application. Would you want to see a form like this after clicking </a:t>
            </a:r>
            <a:r>
              <a:rPr lang="en-US" i="1" dirty="0" smtClean="0"/>
              <a:t>“add new record”</a:t>
            </a:r>
            <a:r>
              <a:rPr lang="en-US" dirty="0" smtClean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9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Use Business Rules to trim down the forms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Show/hide fields for new/existing record forms</a:t>
            </a:r>
          </a:p>
          <a:p>
            <a:pPr lvl="1"/>
            <a:r>
              <a:rPr lang="en-US" smtClean="0"/>
              <a:t>Conditions for Created On/By field</a:t>
            </a:r>
          </a:p>
          <a:p>
            <a:r>
              <a:rPr lang="en-US" smtClean="0"/>
              <a:t>Hide entire sections by setting all fields as hidden</a:t>
            </a:r>
          </a:p>
          <a:p>
            <a:r>
              <a:rPr lang="en-US" smtClean="0"/>
              <a:t>Target Business Rules to specific forms via hidden fields</a:t>
            </a:r>
          </a:p>
          <a:p>
            <a:pPr lvl="1"/>
            <a:r>
              <a:rPr lang="en-US" smtClean="0"/>
              <a:t>The rule will only run when all fields are present</a:t>
            </a:r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0568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5: Automate the business process (flow)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truth about Business Process Flows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Business Process Flows (BPF) are the opposite of workflows:</a:t>
            </a:r>
          </a:p>
          <a:p>
            <a:pPr lvl="1"/>
            <a:r>
              <a:rPr lang="en-US" smtClean="0"/>
              <a:t>Front &amp; center in the UI vs. behind the scenes</a:t>
            </a:r>
          </a:p>
          <a:p>
            <a:pPr lvl="1"/>
            <a:r>
              <a:rPr lang="en-US" smtClean="0"/>
              <a:t>All manual actions vs. fully automated process</a:t>
            </a:r>
          </a:p>
          <a:p>
            <a:r>
              <a:rPr lang="en-US" smtClean="0"/>
              <a:t>Business </a:t>
            </a:r>
            <a:r>
              <a:rPr lang="en-US" dirty="0"/>
              <a:t>Process Flows alone </a:t>
            </a:r>
            <a:r>
              <a:rPr lang="en-US"/>
              <a:t>are </a:t>
            </a:r>
            <a:r>
              <a:rPr lang="en-US" smtClean="0"/>
              <a:t>just a process map</a:t>
            </a:r>
          </a:p>
          <a:p>
            <a:pPr lvl="1"/>
            <a:r>
              <a:rPr lang="en-US" smtClean="0"/>
              <a:t>They show you what should be done next</a:t>
            </a:r>
          </a:p>
          <a:p>
            <a:pPr lvl="1"/>
            <a:r>
              <a:rPr lang="en-US" smtClean="0"/>
              <a:t>They don’t know when it’s time to move 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428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manual steps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53" y="1412776"/>
            <a:ext cx="8209524" cy="2809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16" y="4581128"/>
            <a:ext cx="8380952" cy="1923810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6228184" y="2420888"/>
            <a:ext cx="2304256" cy="1476770"/>
          </a:xfrm>
          <a:prstGeom prst="wedgeRoundRectCallout">
            <a:avLst>
              <a:gd name="adj1" fmla="val -72632"/>
              <a:gd name="adj2" fmla="val -62816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Switch Process: needs to be performed by the user from the Command Bar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4932040" y="4365104"/>
            <a:ext cx="2304256" cy="1012768"/>
          </a:xfrm>
          <a:prstGeom prst="wedgeRoundRectCallout">
            <a:avLst>
              <a:gd name="adj1" fmla="val 74376"/>
              <a:gd name="adj2" fmla="val 6440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Change Stage: needs to be done by the user from the BPF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1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Tips for smarter processes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Automate </a:t>
            </a:r>
            <a:r>
              <a:rPr lang="en-US" dirty="0" smtClean="0"/>
              <a:t>the </a:t>
            </a:r>
            <a:r>
              <a:rPr lang="en-US" smtClean="0"/>
              <a:t>process selection via workflows</a:t>
            </a:r>
          </a:p>
          <a:p>
            <a:pPr lvl="1"/>
            <a:r>
              <a:rPr lang="en-US"/>
              <a:t>Requires a custom workflow activity, Google for </a:t>
            </a:r>
            <a:r>
              <a:rPr lang="en-US" i="1"/>
              <a:t>“</a:t>
            </a:r>
            <a:r>
              <a:rPr lang="en-US" i="1">
                <a:hlinkClick r:id="rId2"/>
              </a:rPr>
              <a:t>dynamics crm workflow </a:t>
            </a:r>
            <a:r>
              <a:rPr lang="en-US" i="1" smtClean="0">
                <a:hlinkClick r:id="rId2"/>
              </a:rPr>
              <a:t>essentials</a:t>
            </a:r>
            <a:r>
              <a:rPr lang="en-US" i="1" smtClean="0"/>
              <a:t>”</a:t>
            </a:r>
            <a:endParaRPr lang="en-US" i="1" dirty="0" smtClean="0"/>
          </a:p>
          <a:p>
            <a:r>
              <a:rPr lang="en-US" dirty="0" smtClean="0"/>
              <a:t>Control process </a:t>
            </a:r>
            <a:r>
              <a:rPr lang="en-US" smtClean="0"/>
              <a:t>stage changes</a:t>
            </a:r>
          </a:p>
          <a:p>
            <a:pPr lvl="1"/>
            <a:r>
              <a:rPr lang="en-US" smtClean="0"/>
              <a:t>Run a workflow from </a:t>
            </a:r>
            <a:r>
              <a:rPr lang="en-US" i="1" smtClean="0"/>
              <a:t>stageid</a:t>
            </a:r>
            <a:r>
              <a:rPr lang="en-US" smtClean="0"/>
              <a:t> &amp; </a:t>
            </a:r>
            <a:r>
              <a:rPr lang="en-US" i="1" smtClean="0"/>
              <a:t>stepid </a:t>
            </a:r>
            <a:r>
              <a:rPr lang="en-US" smtClean="0"/>
              <a:t>field changes to trigger further actions</a:t>
            </a:r>
          </a:p>
          <a:p>
            <a:r>
              <a:rPr lang="en-US" smtClean="0"/>
              <a:t>Use process &amp; stage specific Business Rules to trim the forms</a:t>
            </a:r>
          </a:p>
          <a:p>
            <a:pPr lvl="1"/>
            <a:r>
              <a:rPr lang="en-US" smtClean="0"/>
              <a:t>Copy the stage value onto a custom field, so you can reference it via Business Rule conditions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423186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6: </a:t>
            </a:r>
            <a:r>
              <a:rPr lang="en-US" dirty="0" smtClean="0"/>
              <a:t>Show the user </a:t>
            </a:r>
            <a:r>
              <a:rPr lang="en-US" smtClean="0"/>
              <a:t>what’s going </a:t>
            </a:r>
            <a:r>
              <a:rPr lang="en-US" dirty="0" smtClean="0"/>
              <a:t>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1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CRM: is it just for storing records?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mtClean="0"/>
              <a:t>CRM solution design is often focused on planning what information needs to be </a:t>
            </a:r>
            <a:r>
              <a:rPr lang="en-US" i="1" smtClean="0"/>
              <a:t>captured</a:t>
            </a:r>
            <a:r>
              <a:rPr lang="en-US" smtClean="0"/>
              <a:t> for records (i.e. data entry) and how it is to be </a:t>
            </a:r>
            <a:r>
              <a:rPr lang="en-US" i="1" smtClean="0"/>
              <a:t>queried</a:t>
            </a:r>
            <a:r>
              <a:rPr lang="en-US" smtClean="0"/>
              <a:t> (views, charts, reports)</a:t>
            </a:r>
          </a:p>
          <a:p>
            <a:r>
              <a:rPr lang="en-US" smtClean="0"/>
              <a:t>This record centric approach is not very good at surfacing the </a:t>
            </a:r>
            <a:r>
              <a:rPr lang="en-US" i="1" smtClean="0"/>
              <a:t>actions</a:t>
            </a:r>
            <a:r>
              <a:rPr lang="en-US" smtClean="0"/>
              <a:t> performed by CRM users</a:t>
            </a:r>
          </a:p>
          <a:p>
            <a:r>
              <a:rPr lang="en-US" smtClean="0"/>
              <a:t>Yet these actions are a key component when users evaluate the validity and relevance of the data</a:t>
            </a:r>
          </a:p>
          <a:p>
            <a:pPr lvl="1"/>
            <a:r>
              <a:rPr lang="en-US" smtClean="0"/>
              <a:t>Account </a:t>
            </a:r>
            <a:r>
              <a:rPr lang="en-US" dirty="0" smtClean="0"/>
              <a:t>created today vs. last updated three </a:t>
            </a:r>
            <a:r>
              <a:rPr lang="en-US" smtClean="0"/>
              <a:t>years ago: which </a:t>
            </a:r>
            <a:r>
              <a:rPr lang="en-US" dirty="0" smtClean="0"/>
              <a:t>data would you trust </a:t>
            </a:r>
            <a:r>
              <a:rPr lang="en-US" smtClean="0"/>
              <a:t>more?</a:t>
            </a:r>
          </a:p>
          <a:p>
            <a:pPr lvl="1"/>
            <a:r>
              <a:rPr lang="en-US" smtClean="0"/>
              <a:t>Primary contact for customer account changes: will the account team discover this information on their own?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1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Static vs. dynamic information system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412776"/>
            <a:ext cx="5147208" cy="3744416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611560" y="5229200"/>
            <a:ext cx="2304256" cy="1008112"/>
          </a:xfrm>
          <a:prstGeom prst="wedgeRoundRectCallout">
            <a:avLst>
              <a:gd name="adj1" fmla="val 10058"/>
              <a:gd name="adj2" fmla="val -9802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Are we building just a static, glorified address book?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649819"/>
            <a:ext cx="3641039" cy="2579381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6156176" y="5301208"/>
            <a:ext cx="2304256" cy="1008112"/>
          </a:xfrm>
          <a:prstGeom prst="wedgeRoundRectCallout">
            <a:avLst>
              <a:gd name="adj1" fmla="val 10058"/>
              <a:gd name="adj2" fmla="val -98024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 can CRM tell the users what is going on RIGHT NOW?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4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Surfacing actions performed on CRM data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Show the timestamps on who created and modified the record, and when</a:t>
            </a:r>
          </a:p>
          <a:p>
            <a:r>
              <a:rPr lang="en-US" smtClean="0"/>
              <a:t>Identify </a:t>
            </a:r>
            <a:r>
              <a:rPr lang="en-US" dirty="0" smtClean="0"/>
              <a:t>events that are important enough </a:t>
            </a:r>
            <a:r>
              <a:rPr lang="en-US" smtClean="0"/>
              <a:t>to raise a special flag, then use a workflow to write the data (activity </a:t>
            </a:r>
            <a:r>
              <a:rPr lang="en-US" dirty="0" smtClean="0"/>
              <a:t>feed post</a:t>
            </a:r>
            <a:r>
              <a:rPr lang="en-US" smtClean="0"/>
              <a:t>, note, custom field)</a:t>
            </a:r>
          </a:p>
          <a:p>
            <a:r>
              <a:rPr lang="en-US" smtClean="0"/>
              <a:t>Always provide at least one view per entity that shows the latest created/modified records at the top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42705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7: </a:t>
            </a:r>
            <a:r>
              <a:rPr lang="en-US" dirty="0" smtClean="0"/>
              <a:t>Don’t forget your clients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48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twisted reality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System customizers live inside the web client, because opening CRM organizations with other clients requires jumping through hoops</a:t>
            </a:r>
          </a:p>
          <a:p>
            <a:r>
              <a:rPr lang="en-US" dirty="0" smtClean="0"/>
              <a:t>For the past ~10 years CRM Outlook client was the main selling point, today it’s the mobile apps</a:t>
            </a:r>
          </a:p>
          <a:p>
            <a:r>
              <a:rPr lang="en-US" dirty="0" smtClean="0"/>
              <a:t>CRM 2013 web client looks nice &amp; fresh, works great for demos and is the </a:t>
            </a:r>
            <a:r>
              <a:rPr lang="en-US" smtClean="0"/>
              <a:t>only practical tool for </a:t>
            </a:r>
            <a:r>
              <a:rPr lang="en-US" dirty="0" smtClean="0"/>
              <a:t>customization work</a:t>
            </a:r>
          </a:p>
          <a:p>
            <a:r>
              <a:rPr lang="en-US" dirty="0" smtClean="0"/>
              <a:t>So, what’s the problem?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8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CRM is not just a browser application</a:t>
            </a:r>
            <a:endParaRPr lang="en-US" dirty="0"/>
          </a:p>
        </p:txBody>
      </p:sp>
      <p:graphicFrame>
        <p:nvGraphicFramePr>
          <p:cNvPr id="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464919"/>
              </p:ext>
            </p:extLst>
          </p:nvPr>
        </p:nvGraphicFramePr>
        <p:xfrm>
          <a:off x="179512" y="1600200"/>
          <a:ext cx="8640960" cy="4205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0"/>
          <a:stretch/>
        </p:blipFill>
        <p:spPr>
          <a:xfrm>
            <a:off x="7164288" y="2420888"/>
            <a:ext cx="1348916" cy="270390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3768" y="2420889"/>
            <a:ext cx="1800200" cy="2805946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357" y="2420888"/>
            <a:ext cx="1794363" cy="2621764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6016" y="2420888"/>
            <a:ext cx="1800200" cy="2763887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5602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 </a:t>
            </a:r>
            <a:r>
              <a:rPr lang="en-US" smtClean="0"/>
              <a:t>the limitations of each 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Outlook</a:t>
            </a:r>
          </a:p>
          <a:p>
            <a:pPr lvl="1"/>
            <a:r>
              <a:rPr lang="en-US" dirty="0" smtClean="0"/>
              <a:t>Folder based navigation &amp; popup windows</a:t>
            </a:r>
          </a:p>
          <a:p>
            <a:pPr lvl="1"/>
            <a:r>
              <a:rPr lang="en-US" dirty="0" smtClean="0"/>
              <a:t>Reading Pane: single column form with multi-column subgrids</a:t>
            </a:r>
          </a:p>
          <a:p>
            <a:r>
              <a:rPr lang="en-US" dirty="0" smtClean="0"/>
              <a:t>Tablet</a:t>
            </a:r>
          </a:p>
          <a:p>
            <a:pPr lvl="1"/>
            <a:r>
              <a:rPr lang="en-US" smtClean="0"/>
              <a:t>Uses same form definition as web client, single form, </a:t>
            </a:r>
            <a:r>
              <a:rPr lang="en-US" dirty="0" smtClean="0"/>
              <a:t>“single </a:t>
            </a:r>
            <a:r>
              <a:rPr lang="en-US" smtClean="0"/>
              <a:t>row” rendering, first 75 fields or 5 tabs</a:t>
            </a:r>
            <a:endParaRPr lang="en-US" dirty="0" smtClean="0"/>
          </a:p>
          <a:p>
            <a:r>
              <a:rPr lang="en-US" dirty="0" smtClean="0"/>
              <a:t>Phone</a:t>
            </a:r>
          </a:p>
          <a:p>
            <a:pPr lvl="1"/>
            <a:r>
              <a:rPr lang="en-US" smtClean="0"/>
              <a:t>Separate Mobile form, single column, no scripts or Business Rules</a:t>
            </a:r>
          </a:p>
          <a:p>
            <a:pPr lvl="1"/>
            <a:r>
              <a:rPr lang="en-US" smtClean="0"/>
              <a:t>No </a:t>
            </a:r>
            <a:r>
              <a:rPr lang="en-US" dirty="0" smtClean="0"/>
              <a:t>process specific actions available, just “CRUD”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04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8: </a:t>
            </a:r>
            <a:r>
              <a:rPr lang="en-US" dirty="0" smtClean="0"/>
              <a:t>Sweat </a:t>
            </a:r>
            <a:r>
              <a:rPr lang="en-US" smtClean="0"/>
              <a:t>the little things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4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really matters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The longer you work with CRM, the easier it is to become blind to the small glitches</a:t>
            </a:r>
          </a:p>
          <a:p>
            <a:r>
              <a:rPr lang="en-US" smtClean="0"/>
              <a:t>The efforts of the customizer are not necessarily in any proportion to the significance of a design detail</a:t>
            </a:r>
          </a:p>
          <a:p>
            <a:pPr lvl="1"/>
            <a:r>
              <a:rPr lang="en-US" smtClean="0"/>
              <a:t>An expensive custom plugin may perform an action that the users will never actually notice</a:t>
            </a:r>
          </a:p>
          <a:p>
            <a:pPr lvl="1"/>
            <a:r>
              <a:rPr lang="en-US" smtClean="0"/>
              <a:t>A single choice of wording may frustrate and confuse the users every time they use the system</a:t>
            </a:r>
          </a:p>
          <a:p>
            <a:r>
              <a:rPr lang="en-US" smtClean="0"/>
              <a:t>“People use what works – well” (</a:t>
            </a:r>
            <a:r>
              <a:rPr lang="en-US" smtClean="0">
                <a:hlinkClick r:id="rId2"/>
              </a:rPr>
              <a:t>will.i.crm</a:t>
            </a:r>
            <a:r>
              <a:rPr lang="en-US" smtClean="0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6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 you even notice these details anymore?</a:t>
            </a:r>
            <a:endParaRPr lang="en-US" dirty="0"/>
          </a:p>
        </p:txBody>
      </p:sp>
      <p:pic>
        <p:nvPicPr>
          <p:cNvPr id="1026" name="Picture 2" descr="CRM_2013_Form_Information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348880"/>
            <a:ext cx="55626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ular Callout 3"/>
          <p:cNvSpPr/>
          <p:nvPr/>
        </p:nvSpPr>
        <p:spPr>
          <a:xfrm>
            <a:off x="107504" y="1556792"/>
            <a:ext cx="2602632" cy="1512168"/>
          </a:xfrm>
          <a:prstGeom prst="wedgeRoundRectCallout">
            <a:avLst>
              <a:gd name="adj1" fmla="val 115304"/>
              <a:gd name="adj2" fmla="val 73908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Do all of your updated CRM forms or custom entity forms say “information” in the header?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107504" y="4869160"/>
            <a:ext cx="2602632" cy="1368152"/>
          </a:xfrm>
          <a:prstGeom prst="wedgeRoundRectCallout">
            <a:avLst>
              <a:gd name="adj1" fmla="val 57014"/>
              <a:gd name="adj2" fmla="val -7372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Do you have useless tab labels at the start of your form, stealing screen estate?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63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Details that are A) important and B) cheap to fix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Field names:</a:t>
            </a:r>
          </a:p>
          <a:p>
            <a:pPr lvl="1"/>
            <a:r>
              <a:rPr lang="en-US" smtClean="0"/>
              <a:t>Avoid redundancy: “Case Title” vs. “Title”</a:t>
            </a:r>
          </a:p>
          <a:p>
            <a:pPr lvl="1"/>
            <a:r>
              <a:rPr lang="en-US" smtClean="0"/>
              <a:t>Group fields with (short) prefixes to help usage in Advanced Find</a:t>
            </a:r>
            <a:endParaRPr lang="en-US" dirty="0" smtClean="0"/>
          </a:p>
          <a:p>
            <a:r>
              <a:rPr lang="en-US" dirty="0" smtClean="0"/>
              <a:t>View names: think about the sorting</a:t>
            </a:r>
          </a:p>
          <a:p>
            <a:r>
              <a:rPr lang="en-US" smtClean="0"/>
              <a:t>Field descriptions: provide a tooltip for users</a:t>
            </a:r>
          </a:p>
          <a:p>
            <a:r>
              <a:rPr lang="en-US" smtClean="0"/>
              <a:t>Custom entities: icons are </a:t>
            </a:r>
            <a:r>
              <a:rPr lang="en-US" u="sng" smtClean="0"/>
              <a:t>not</a:t>
            </a:r>
            <a:r>
              <a:rPr lang="en-US" smtClean="0"/>
              <a:t> optional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Tip 9: </a:t>
            </a:r>
            <a:r>
              <a:rPr lang="en-US" dirty="0" smtClean="0"/>
              <a:t>Clean up after you’re done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messy construction site of CRM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Rome wasn’t built in a day, neither was your CRM</a:t>
            </a:r>
          </a:p>
          <a:p>
            <a:r>
              <a:rPr lang="en-US" smtClean="0"/>
              <a:t>Rome had a sanitation system, but does your CRM system have one?</a:t>
            </a:r>
          </a:p>
          <a:p>
            <a:r>
              <a:rPr lang="en-US" smtClean="0"/>
              <a:t>The system customization process usually starts with the </a:t>
            </a:r>
            <a:r>
              <a:rPr lang="en-US" i="1" smtClean="0"/>
              <a:t>“add more stuff” </a:t>
            </a:r>
            <a:r>
              <a:rPr lang="en-US" smtClean="0"/>
              <a:t>stage</a:t>
            </a:r>
          </a:p>
          <a:p>
            <a:r>
              <a:rPr lang="en-US" smtClean="0"/>
              <a:t>You should always include a </a:t>
            </a:r>
            <a:r>
              <a:rPr lang="en-US" i="1" smtClean="0"/>
              <a:t>“take stuff away” </a:t>
            </a:r>
            <a:r>
              <a:rPr lang="en-US" smtClean="0"/>
              <a:t>stage into that process, too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8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CRM comes with clutter right out of the box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2868765" cy="29533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81" y="1412776"/>
            <a:ext cx="3190338" cy="29618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490" y="2780928"/>
            <a:ext cx="2642619" cy="3787492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51520" y="4535744"/>
            <a:ext cx="2304256" cy="1008112"/>
          </a:xfrm>
          <a:prstGeom prst="wedgeRoundRectCallout">
            <a:avLst>
              <a:gd name="adj1" fmla="val 2843"/>
              <a:gd name="adj2" fmla="val -139253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Do all these account views make sense for your business?</a:t>
            </a:r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>
          <a:xfrm>
            <a:off x="3271300" y="1581897"/>
            <a:ext cx="2304256" cy="1008112"/>
          </a:xfrm>
          <a:prstGeom prst="wedgeRoundRectCallout">
            <a:avLst>
              <a:gd name="adj1" fmla="val -30978"/>
              <a:gd name="adj2" fmla="val 144197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Are you really using that many address fields?</a:t>
            </a:r>
            <a:endParaRPr lang="en-US" dirty="0"/>
          </a:p>
        </p:txBody>
      </p:sp>
      <p:sp>
        <p:nvSpPr>
          <p:cNvPr id="12" name="Rounded Rectangular Callout 11"/>
          <p:cNvSpPr/>
          <p:nvPr/>
        </p:nvSpPr>
        <p:spPr>
          <a:xfrm>
            <a:off x="6073823" y="4535744"/>
            <a:ext cx="2304256" cy="1008112"/>
          </a:xfrm>
          <a:prstGeom prst="wedgeRoundRectCallout">
            <a:avLst>
              <a:gd name="adj1" fmla="val 5098"/>
              <a:gd name="adj2" fmla="val -110392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Why do you need “social” vs. “non-social” dashboards?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6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Clean up that clutter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Hide unused fields from </a:t>
            </a:r>
            <a:r>
              <a:rPr lang="en-US" smtClean="0"/>
              <a:t>Advanced Find</a:t>
            </a:r>
          </a:p>
          <a:p>
            <a:pPr lvl="1"/>
            <a:r>
              <a:rPr lang="en-US" smtClean="0"/>
              <a:t>Use </a:t>
            </a:r>
            <a:r>
              <a:rPr lang="en-US" smtClean="0">
                <a:hlinkClick r:id="rId2"/>
              </a:rPr>
              <a:t>XrmToolBox</a:t>
            </a:r>
            <a:r>
              <a:rPr lang="en-US" smtClean="0"/>
              <a:t> to find fields not on forms</a:t>
            </a:r>
          </a:p>
          <a:p>
            <a:r>
              <a:rPr lang="en-US" smtClean="0"/>
              <a:t>Remove unused fields from forms</a:t>
            </a:r>
          </a:p>
          <a:p>
            <a:pPr lvl="1"/>
            <a:r>
              <a:rPr lang="en-US"/>
              <a:t>Use </a:t>
            </a:r>
            <a:r>
              <a:rPr lang="en-US">
                <a:hlinkClick r:id="rId3"/>
              </a:rPr>
              <a:t>CRM Data Detective</a:t>
            </a:r>
            <a:r>
              <a:rPr lang="en-US"/>
              <a:t> for quick statistics</a:t>
            </a:r>
          </a:p>
          <a:p>
            <a:r>
              <a:rPr lang="en-US" smtClean="0"/>
              <a:t>Deactivate unnecessary default components</a:t>
            </a:r>
            <a:endParaRPr lang="en-US" dirty="0" smtClean="0"/>
          </a:p>
          <a:p>
            <a:pPr lvl="1"/>
            <a:r>
              <a:rPr lang="en-US" smtClean="0"/>
              <a:t>Views </a:t>
            </a:r>
            <a:r>
              <a:rPr lang="en-US" dirty="0" smtClean="0"/>
              <a:t>that don’t </a:t>
            </a:r>
            <a:r>
              <a:rPr lang="en-US" smtClean="0"/>
              <a:t>make sense to you</a:t>
            </a:r>
            <a:endParaRPr lang="en-US" dirty="0" smtClean="0"/>
          </a:p>
          <a:p>
            <a:pPr lvl="1"/>
            <a:r>
              <a:rPr lang="en-US" smtClean="0"/>
              <a:t>Charts using fields that you are not using</a:t>
            </a:r>
          </a:p>
          <a:p>
            <a:pPr lvl="1"/>
            <a:r>
              <a:rPr lang="en-US" smtClean="0"/>
              <a:t>Dashboards without an audience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427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Tip 10: Get even more tips!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8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CRM 2013 QuickStart 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9492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What’s </a:t>
            </a:r>
            <a:r>
              <a:rPr lang="en-US" dirty="0" smtClean="0"/>
              <a:t>new/different in the CRM 2013 version</a:t>
            </a:r>
          </a:p>
          <a:p>
            <a:r>
              <a:rPr lang="en-US" dirty="0" smtClean="0"/>
              <a:t>For people who already know something about a previous Dynamics CRM version</a:t>
            </a:r>
          </a:p>
          <a:p>
            <a:r>
              <a:rPr lang="en-US"/>
              <a:t>11 chapters of content from 6 CRM </a:t>
            </a:r>
            <a:r>
              <a:rPr lang="en-US" smtClean="0"/>
              <a:t>MVPs</a:t>
            </a:r>
          </a:p>
          <a:p>
            <a:r>
              <a:rPr lang="en-US" b="1" smtClean="0"/>
              <a:t>Special </a:t>
            </a:r>
            <a:r>
              <a:rPr lang="en-US" b="1" dirty="0" smtClean="0"/>
              <a:t>20% discount code!</a:t>
            </a:r>
          </a:p>
          <a:p>
            <a:pPr lvl="1"/>
            <a:r>
              <a:rPr lang="en-US" sz="2400" dirty="0" err="1" smtClean="0">
                <a:solidFill>
                  <a:srgbClr val="FF0000"/>
                </a:solidFill>
              </a:rPr>
              <a:t>JukkaNiiranen</a:t>
            </a:r>
            <a:r>
              <a:rPr lang="en-US" sz="2400" dirty="0" err="1" smtClean="0">
                <a:solidFill>
                  <a:schemeClr val="tx2"/>
                </a:solidFill>
              </a:rPr>
              <a:t>CRMQuickStart</a:t>
            </a:r>
            <a:r>
              <a:rPr lang="en-US" sz="2400" dirty="0" err="1" smtClean="0">
                <a:solidFill>
                  <a:schemeClr val="accent3">
                    <a:lumMod val="75000"/>
                  </a:schemeClr>
                </a:solidFill>
              </a:rPr>
              <a:t>EBook</a:t>
            </a:r>
            <a:endParaRPr lang="en-US" sz="2400" dirty="0" smtClean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en-US" sz="2400" dirty="0">
                <a:hlinkClick r:id="rId2"/>
              </a:rPr>
              <a:t>http://www.crm2013quickstart.com</a:t>
            </a:r>
            <a:r>
              <a:rPr lang="en-US" sz="2400" dirty="0" smtClean="0">
                <a:hlinkClick r:id="rId2"/>
              </a:rPr>
              <a:t>/</a:t>
            </a:r>
            <a:r>
              <a:rPr lang="en-US" sz="2400" dirty="0" smtClean="0"/>
              <a:t> 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616968"/>
            <a:ext cx="302998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9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Recap</a:t>
            </a:r>
            <a:endParaRPr lang="fi-FI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6139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My 10 tips for better CRM user experience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mtClean="0"/>
              <a:t>Understand #UX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Start from the navigation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Save clicks with view design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Make your forms more responsive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Automate the business process (flow)</a:t>
            </a:r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Show the user what’s going on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Don’t forget your clients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Sweat </a:t>
            </a:r>
            <a:r>
              <a:rPr lang="en-US" smtClean="0"/>
              <a:t>the little things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Clean </a:t>
            </a:r>
            <a:r>
              <a:rPr lang="en-US" smtClean="0"/>
              <a:t>up after </a:t>
            </a:r>
            <a:r>
              <a:rPr lang="en-US" dirty="0" smtClean="0"/>
              <a:t>you’re done</a:t>
            </a:r>
          </a:p>
          <a:p>
            <a:pPr marL="514350" indent="-514350">
              <a:buFont typeface="+mj-lt"/>
              <a:buAutoNum type="arabicPeriod"/>
            </a:pPr>
            <a:r>
              <a:rPr lang="en-US" smtClean="0"/>
              <a:t>Know where to go for more tips!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3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listening!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bg1"/>
                </a:solidFill>
              </a:rPr>
              <a:t>You can follow </a:t>
            </a:r>
            <a:r>
              <a:rPr lang="en-US">
                <a:solidFill>
                  <a:schemeClr val="bg1"/>
                </a:solidFill>
              </a:rPr>
              <a:t>me </a:t>
            </a:r>
            <a:r>
              <a:rPr lang="en-US" smtClean="0">
                <a:solidFill>
                  <a:schemeClr val="bg1"/>
                </a:solidFill>
              </a:rPr>
              <a:t>at: </a:t>
            </a:r>
            <a:r>
              <a:rPr lang="en-US">
                <a:solidFill>
                  <a:schemeClr val="bg1"/>
                </a:solidFill>
                <a:hlinkClick r:id="rId2"/>
              </a:rPr>
              <a:t>https</a:t>
            </a:r>
            <a:r>
              <a:rPr lang="en-US">
                <a:solidFill>
                  <a:schemeClr val="bg1"/>
                </a:solidFill>
                <a:hlinkClick r:id="rId2"/>
              </a:rPr>
              <a:t>://</a:t>
            </a:r>
            <a:r>
              <a:rPr lang="en-US" smtClean="0">
                <a:solidFill>
                  <a:schemeClr val="bg1"/>
                </a:solidFill>
                <a:hlinkClick r:id="rId2"/>
              </a:rPr>
              <a:t>twitter.com/jukkan</a:t>
            </a:r>
            <a:r>
              <a:rPr lang="en-US" smtClean="0">
                <a:solidFill>
                  <a:schemeClr val="bg1"/>
                </a:solidFill>
              </a:rPr>
              <a:t> </a:t>
            </a:r>
          </a:p>
          <a:p>
            <a:r>
              <a:rPr lang="en-US">
                <a:solidFill>
                  <a:schemeClr val="bg1"/>
                </a:solidFill>
              </a:rPr>
              <a:t>…or read my Surviving </a:t>
            </a:r>
            <a:r>
              <a:rPr lang="en-US">
                <a:solidFill>
                  <a:schemeClr val="bg1"/>
                </a:solidFill>
              </a:rPr>
              <a:t>CRM </a:t>
            </a:r>
            <a:r>
              <a:rPr lang="en-US" smtClean="0">
                <a:solidFill>
                  <a:schemeClr val="bg1"/>
                </a:solidFill>
              </a:rPr>
              <a:t>blog: </a:t>
            </a:r>
            <a:r>
              <a:rPr lang="en-US">
                <a:solidFill>
                  <a:schemeClr val="bg1"/>
                </a:solidFill>
                <a:hlinkClick r:id="rId3"/>
              </a:rPr>
              <a:t>http://</a:t>
            </a:r>
            <a:r>
              <a:rPr lang="en-US">
                <a:solidFill>
                  <a:schemeClr val="bg1"/>
                </a:solidFill>
                <a:hlinkClick r:id="rId3"/>
              </a:rPr>
              <a:t>niiranen.eu/crm</a:t>
            </a:r>
            <a:r>
              <a:rPr lang="en-US" smtClean="0">
                <a:solidFill>
                  <a:schemeClr val="bg1"/>
                </a:solidFill>
                <a:hlinkClick r:id="rId3"/>
              </a:rPr>
              <a:t>/</a:t>
            </a:r>
            <a:r>
              <a:rPr lang="en-US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7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45D77A42-99A4-4F29-A5C4-CC61A13B99E4}"/>
    </a:ext>
  </a:extLst>
</a:theme>
</file>

<file path=ppt/theme/theme2.xml><?xml version="1.0" encoding="utf-8"?>
<a:theme xmlns:a="http://schemas.openxmlformats.org/drawingml/2006/main" name="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FFC12EE9-4900-4D96-BC6D-BE1F8A703730}"/>
    </a:ext>
  </a:extLst>
</a:theme>
</file>

<file path=ppt/theme/theme3.xml><?xml version="1.0" encoding="utf-8"?>
<a:theme xmlns:a="http://schemas.openxmlformats.org/drawingml/2006/main" name="1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9FBD5D33-D51F-43D9-93E4-80EF66E5D9C9}"/>
    </a:ext>
  </a:extLst>
</a:theme>
</file>

<file path=ppt/theme/theme4.xml><?xml version="1.0" encoding="utf-8"?>
<a:theme xmlns:a="http://schemas.openxmlformats.org/drawingml/2006/main" name="2_Mukautettu suunnittelumall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X_template.potx" id="{EB80BC65-1F7D-47FE-AE26-82DC4BBBDF8F}" vid="{DA1CC48D-9C7E-4C78-97C4-84668C6F7F9A}"/>
    </a:ext>
  </a:extLst>
</a:theme>
</file>

<file path=ppt/theme/theme5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I Document" ma:contentTypeID="0x010100E6A19B01B868244895E9E1DD18A8015F00CFEC1B033C0E194F9FCF606E5E4B8225" ma:contentTypeVersion="15" ma:contentTypeDescription="" ma:contentTypeScope="" ma:versionID="12b64278555ec8bb5fcf3b7a07c4f4ee">
  <xsd:schema xmlns:xsd="http://www.w3.org/2001/XMLSchema" xmlns:xs="http://www.w3.org/2001/XMLSchema" xmlns:p="http://schemas.microsoft.com/office/2006/metadata/properties" xmlns:ns2="a68957de-6112-48b5-9eb0-77d056a26262" targetNamespace="http://schemas.microsoft.com/office/2006/metadata/properties" ma:root="true" ma:fieldsID="e79fc47ad215c10967248eb4506130b9" ns2:_="">
    <xsd:import namespace="a68957de-6112-48b5-9eb0-77d056a2626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957de-6112-48b5-9eb0-77d056a26262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580554e9-393c-4bd7-a20d-be8c0080392c}" ma:internalName="TaxCatchAll" ma:showField="CatchAllData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580554e9-393c-4bd7-a20d-be8c0080392c}" ma:internalName="TaxCatchAllLabel" ma:readOnly="true" ma:showField="CatchAllDataLabel" ma:web="1e923678-eea3-4704-b7fe-d4e44de1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649a360c-ce61-4166-b87e-c4cdda515172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8957de-6112-48b5-9eb0-77d056a26262"/>
    <TaxKeywordTaxHTField xmlns="a68957de-6112-48b5-9eb0-77d056a26262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950DE21F-524A-43A6-939F-D5CFAFB7F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957de-6112-48b5-9eb0-77d056a262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020148-C318-41E1-8776-6CD8ABC444D8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3268629B-9075-4505-ACC9-29DA7209EE6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8D6B094-557C-46E5-A62E-A99772DA6067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a68957de-6112-48b5-9eb0-77d056a26262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3990</TotalTime>
  <Words>1894</Words>
  <Application>Microsoft Office PowerPoint</Application>
  <PresentationFormat>On-screen Show (4:3)</PresentationFormat>
  <Paragraphs>212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Office-teema</vt:lpstr>
      <vt:lpstr>Mukautettu suunnittelumalli</vt:lpstr>
      <vt:lpstr>1_Mukautettu suunnittelumalli</vt:lpstr>
      <vt:lpstr>2_Mukautettu suunnittelumalli</vt:lpstr>
      <vt:lpstr>10 Tips for Designing a Great User Experience in Dynamics CRM</vt:lpstr>
      <vt:lpstr>What am I going to talk about today?</vt:lpstr>
      <vt:lpstr>Tip 1: Understand what User Experience design means</vt:lpstr>
      <vt:lpstr>What is this “UX” thing anyway?</vt:lpstr>
      <vt:lpstr>It’s not the same as User Interface design</vt:lpstr>
      <vt:lpstr>How UX design makes software better</vt:lpstr>
      <vt:lpstr>User experience is about the whole process</vt:lpstr>
      <vt:lpstr>Why user experience is important for CRM systems</vt:lpstr>
      <vt:lpstr>Why it’s especially important with CRM 2013+</vt:lpstr>
      <vt:lpstr>Tip 2: start from the navigation</vt:lpstr>
      <vt:lpstr>What changed with CRM 2013?</vt:lpstr>
      <vt:lpstr>Optimization in the world of Dynamics CRM</vt:lpstr>
      <vt:lpstr>Optimization tips for the new navigation</vt:lpstr>
      <vt:lpstr>Tip 3: Save clicks with view design</vt:lpstr>
      <vt:lpstr>What’s #SavedYouAClick?</vt:lpstr>
      <vt:lpstr>CRM views and clicks</vt:lpstr>
      <vt:lpstr>Default views that suck</vt:lpstr>
      <vt:lpstr>Custom views that suck</vt:lpstr>
      <vt:lpstr>Design views that minimize the clicks</vt:lpstr>
      <vt:lpstr>Tip 4: Make your forms more responsive</vt:lpstr>
      <vt:lpstr>Why so many entity forms suck</vt:lpstr>
      <vt:lpstr>Some things are just better kept hidden</vt:lpstr>
      <vt:lpstr>Use Business Rules to trim down the forms</vt:lpstr>
      <vt:lpstr>Tip 5: Automate the business process (flow)</vt:lpstr>
      <vt:lpstr>The truth about Business Process Flows</vt:lpstr>
      <vt:lpstr>The manual steps</vt:lpstr>
      <vt:lpstr>Tips for smarter processes</vt:lpstr>
      <vt:lpstr>Tip 6: Show the user what’s going on</vt:lpstr>
      <vt:lpstr>CRM: is it just for storing records?</vt:lpstr>
      <vt:lpstr>Static vs. dynamic information system</vt:lpstr>
      <vt:lpstr>Surfacing actions performed on CRM data</vt:lpstr>
      <vt:lpstr>Tip 7: Don’t forget your clients</vt:lpstr>
      <vt:lpstr>Our twisted reality</vt:lpstr>
      <vt:lpstr>CRM is not just a browser application</vt:lpstr>
      <vt:lpstr>Know the limitations of each client</vt:lpstr>
      <vt:lpstr>Tip 8: Sweat the little things</vt:lpstr>
      <vt:lpstr>What really matters</vt:lpstr>
      <vt:lpstr>Do you even notice these details anymore?</vt:lpstr>
      <vt:lpstr>Details that are A) important and B) cheap to fix</vt:lpstr>
      <vt:lpstr>Tip 9: Clean up after you’re done</vt:lpstr>
      <vt:lpstr>The messy construction site of CRM</vt:lpstr>
      <vt:lpstr>CRM comes with clutter right out of the box</vt:lpstr>
      <vt:lpstr>Clean up that clutter</vt:lpstr>
      <vt:lpstr>Tip 10: Get even more tips!</vt:lpstr>
      <vt:lpstr>CRM 2013 QuickStart Book</vt:lpstr>
      <vt:lpstr>Recap</vt:lpstr>
      <vt:lpstr>My 10 tips for better CRM user experience</vt:lpstr>
      <vt:lpstr>Thank you for listening!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Tips for Designing a Great User Experience in Dynamics CRM</dc:title>
  <dc:creator>Jukka Niiranen</dc:creator>
  <cp:lastModifiedBy>Jukka Niiranen</cp:lastModifiedBy>
  <cp:revision>102</cp:revision>
  <dcterms:created xsi:type="dcterms:W3CDTF">2014-09-04T11:49:05Z</dcterms:created>
  <dcterms:modified xsi:type="dcterms:W3CDTF">2014-09-28T11:03:17Z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0x010100E6A19B01B868244895E9E1DD18A8015F00CFEC1B033C0E194F9FCF606E5E4B8225</vt:lpwstr>
  </property>
  <property fmtid="{D5CDD505-2E9C-101B-9397-08002B2CF9AE}" pid="3" name="_dlc_DocIdItemGuid">
    <vt:lpwstr>0b637fa5-84ed-461a-b878-3934951bf2fc</vt:lpwstr>
  </property>
</Properties>
</file>