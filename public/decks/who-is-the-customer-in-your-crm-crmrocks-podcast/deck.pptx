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  <p:sldMasterId id="2147483660" r:id="rId6"/>
    <p:sldMasterId id="2147483673" r:id="rId7"/>
    <p:sldMasterId id="2147483685" r:id="rId8"/>
  </p:sldMasterIdLst>
  <p:notesMasterIdLst>
    <p:notesMasterId r:id="rId31"/>
  </p:notesMasterIdLst>
  <p:sldIdLst>
    <p:sldId id="256" r:id="rId9"/>
    <p:sldId id="277" r:id="rId10"/>
    <p:sldId id="259" r:id="rId11"/>
    <p:sldId id="263" r:id="rId12"/>
    <p:sldId id="260" r:id="rId13"/>
    <p:sldId id="261" r:id="rId14"/>
    <p:sldId id="264" r:id="rId15"/>
    <p:sldId id="265" r:id="rId16"/>
    <p:sldId id="266" r:id="rId17"/>
    <p:sldId id="267" r:id="rId18"/>
    <p:sldId id="268" r:id="rId19"/>
    <p:sldId id="272" r:id="rId20"/>
    <p:sldId id="274" r:id="rId21"/>
    <p:sldId id="271" r:id="rId22"/>
    <p:sldId id="273" r:id="rId23"/>
    <p:sldId id="275" r:id="rId24"/>
    <p:sldId id="262" r:id="rId25"/>
    <p:sldId id="257" r:id="rId26"/>
    <p:sldId id="258" r:id="rId27"/>
    <p:sldId id="269" r:id="rId28"/>
    <p:sldId id="270" r:id="rId29"/>
    <p:sldId id="276" r:id="rId30"/>
  </p:sldIdLst>
  <p:sldSz cx="9144000" cy="6858000" type="screen4x3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B6AE"/>
    <a:srgbClr val="52C2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61" autoAdjust="0"/>
    <p:restoredTop sz="85470" autoAdjust="0"/>
  </p:normalViewPr>
  <p:slideViewPr>
    <p:cSldViewPr>
      <p:cViewPr varScale="1">
        <p:scale>
          <a:sx n="80" d="100"/>
          <a:sy n="80" d="100"/>
        </p:scale>
        <p:origin x="108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" Type="http://schemas.openxmlformats.org/officeDocument/2006/relationships/customXml" Target="../customXml/item3.xml"/><Relationship Id="rId21" Type="http://schemas.openxmlformats.org/officeDocument/2006/relationships/slide" Target="slides/slide13.xml"/><Relationship Id="rId34" Type="http://schemas.openxmlformats.org/officeDocument/2006/relationships/theme" Target="theme/theme1.xml"/><Relationship Id="rId7" Type="http://schemas.openxmlformats.org/officeDocument/2006/relationships/slideMaster" Target="slideMasters/slideMaster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slide" Target="slides/slide2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presProps" Target="presProp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tableStyles" Target="tableStyles.xml"/><Relationship Id="rId8" Type="http://schemas.openxmlformats.org/officeDocument/2006/relationships/slideMaster" Target="slideMasters/slideMaster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Ylätunnisteen paikkamerkki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i-FI" dirty="0"/>
          </a:p>
        </p:txBody>
      </p:sp>
      <p:sp>
        <p:nvSpPr>
          <p:cNvPr id="3" name="Päivämäärän paikkamerkki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2C073C-CA0F-4B51-86D5-B13E2695F0A1}" type="datetimeFigureOut">
              <a:rPr lang="fi-FI" smtClean="0"/>
              <a:pPr/>
              <a:t>8.12.2014</a:t>
            </a:fld>
            <a:endParaRPr lang="fi-FI" dirty="0"/>
          </a:p>
        </p:txBody>
      </p:sp>
      <p:sp>
        <p:nvSpPr>
          <p:cNvPr id="4" name="Dian kuvan paikkamerkki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i-FI" dirty="0"/>
          </a:p>
        </p:txBody>
      </p:sp>
      <p:sp>
        <p:nvSpPr>
          <p:cNvPr id="5" name="Huomautusten paikkamerkki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i-FI" dirty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191832-BE51-4C5E-BE95-1D56B9C29E95}" type="slidenum">
              <a:rPr lang="fi-FI" smtClean="0"/>
              <a:pPr/>
              <a:t>‹#›</a:t>
            </a:fld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3153675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Osan ylätunn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722313" y="1772816"/>
            <a:ext cx="7772400" cy="1362075"/>
          </a:xfrm>
        </p:spPr>
        <p:txBody>
          <a:bodyPr anchor="t"/>
          <a:lstStyle>
            <a:lvl1pPr algn="ctr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fi-FI" dirty="0"/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722313" y="3501008"/>
            <a:ext cx="7772400" cy="1500187"/>
          </a:xfrm>
        </p:spPr>
        <p:txBody>
          <a:bodyPr anchor="b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3E524-6BC0-4787-95C5-C72B8592B78C}" type="datetimeFigureOut">
              <a:rPr lang="fi-FI" smtClean="0"/>
              <a:pPr/>
              <a:t>8.12.2014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32F54-FEF5-4C51-AD41-BCEAD3422049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tsikko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fi-FI"/>
          </a:p>
        </p:txBody>
      </p:sp>
      <p:sp>
        <p:nvSpPr>
          <p:cNvPr id="3" name="Alaotsikko 2"/>
          <p:cNvSpPr>
            <a:spLocks noGrp="1"/>
          </p:cNvSpPr>
          <p:nvPr>
            <p:ph type="subTitle" idx="1"/>
          </p:nvPr>
        </p:nvSpPr>
        <p:spPr>
          <a:xfrm>
            <a:off x="1371600" y="3645024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fi-FI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3E524-6BC0-4787-95C5-C72B8592B78C}" type="datetimeFigureOut">
              <a:rPr lang="fi-FI" smtClean="0"/>
              <a:pPr/>
              <a:t>8.12.2014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32F54-FEF5-4C51-AD41-BCEAD3422049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aksi sisältökohdet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i-FI"/>
          </a:p>
        </p:txBody>
      </p:sp>
      <p:sp>
        <p:nvSpPr>
          <p:cNvPr id="3" name="Sisällön paikkamerkki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i-FI"/>
          </a:p>
        </p:txBody>
      </p:sp>
      <p:sp>
        <p:nvSpPr>
          <p:cNvPr id="4" name="Sisällön paikkamerkki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i-FI"/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3E524-6BC0-4787-95C5-C72B8592B78C}" type="datetimeFigureOut">
              <a:rPr lang="fi-FI" smtClean="0"/>
              <a:pPr/>
              <a:t>8.12.2014</a:t>
            </a:fld>
            <a:endParaRPr lang="fi-FI" dirty="0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32F54-FEF5-4C51-AD41-BCEAD3422049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tai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fi-FI"/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Sisällön paikkamerkki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i-FI"/>
          </a:p>
        </p:txBody>
      </p:sp>
      <p:sp>
        <p:nvSpPr>
          <p:cNvPr id="5" name="Tekstin paikkamerkki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Sisällön paikkamerkki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i-FI"/>
          </a:p>
        </p:txBody>
      </p:sp>
      <p:sp>
        <p:nvSpPr>
          <p:cNvPr id="7" name="Päivämäärän paikkamerkki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3E524-6BC0-4787-95C5-C72B8592B78C}" type="datetimeFigureOut">
              <a:rPr lang="fi-FI" smtClean="0"/>
              <a:pPr/>
              <a:t>8.12.2014</a:t>
            </a:fld>
            <a:endParaRPr lang="fi-FI" dirty="0"/>
          </a:p>
        </p:txBody>
      </p:sp>
      <p:sp>
        <p:nvSpPr>
          <p:cNvPr id="8" name="Alatunnisteen paikkamerk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9" name="Dian numeron paikkamerkki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32F54-FEF5-4C51-AD41-BCEAD3422049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Vain otsik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i-FI"/>
          </a:p>
        </p:txBody>
      </p:sp>
      <p:sp>
        <p:nvSpPr>
          <p:cNvPr id="3" name="Päivämäärän paikkamerkki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3E524-6BC0-4787-95C5-C72B8592B78C}" type="datetimeFigureOut">
              <a:rPr lang="fi-FI" smtClean="0"/>
              <a:pPr/>
              <a:t>8.12.2014</a:t>
            </a:fld>
            <a:endParaRPr lang="fi-FI" dirty="0"/>
          </a:p>
        </p:txBody>
      </p:sp>
      <p:sp>
        <p:nvSpPr>
          <p:cNvPr id="4" name="Alatunnisteen paikkamerk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5" name="Dian numeron paikkamerkki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32F54-FEF5-4C51-AD41-BCEAD3422049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yhj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äivämäärän paikkamerkki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3E524-6BC0-4787-95C5-C72B8592B78C}" type="datetimeFigureOut">
              <a:rPr lang="fi-FI" smtClean="0"/>
              <a:pPr/>
              <a:t>8.12.2014</a:t>
            </a:fld>
            <a:endParaRPr lang="fi-FI" dirty="0"/>
          </a:p>
        </p:txBody>
      </p:sp>
      <p:sp>
        <p:nvSpPr>
          <p:cNvPr id="3" name="Alatunnisteen paikkamerk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32F54-FEF5-4C51-AD41-BCEAD3422049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tsikollinen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fi-FI"/>
          </a:p>
        </p:txBody>
      </p:sp>
      <p:sp>
        <p:nvSpPr>
          <p:cNvPr id="3" name="Sisällön paikkamerkki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i-FI"/>
          </a:p>
        </p:txBody>
      </p:sp>
      <p:sp>
        <p:nvSpPr>
          <p:cNvPr id="4" name="Tekstin paikkamerkki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3E524-6BC0-4787-95C5-C72B8592B78C}" type="datetimeFigureOut">
              <a:rPr lang="fi-FI" smtClean="0"/>
              <a:pPr/>
              <a:t>8.12.2014</a:t>
            </a:fld>
            <a:endParaRPr lang="fi-FI" dirty="0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32F54-FEF5-4C51-AD41-BCEAD3422049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tsikollinen ku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fi-FI"/>
          </a:p>
        </p:txBody>
      </p:sp>
      <p:sp>
        <p:nvSpPr>
          <p:cNvPr id="3" name="Kuvan paikkamerkki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fi-FI" dirty="0"/>
          </a:p>
        </p:txBody>
      </p:sp>
      <p:sp>
        <p:nvSpPr>
          <p:cNvPr id="4" name="Tekstin paikkamerkki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3E524-6BC0-4787-95C5-C72B8592B78C}" type="datetimeFigureOut">
              <a:rPr lang="fi-FI" smtClean="0"/>
              <a:pPr/>
              <a:t>8.12.2014</a:t>
            </a:fld>
            <a:endParaRPr lang="fi-FI" dirty="0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32F54-FEF5-4C51-AD41-BCEAD3422049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Otsikko ja pystysuor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i-FI"/>
          </a:p>
        </p:txBody>
      </p:sp>
      <p:sp>
        <p:nvSpPr>
          <p:cNvPr id="3" name="Pystysuoran tekstin paikkamerkki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i-FI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3E524-6BC0-4787-95C5-C72B8592B78C}" type="datetimeFigureOut">
              <a:rPr lang="fi-FI" smtClean="0"/>
              <a:pPr/>
              <a:t>8.12.2014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32F54-FEF5-4C51-AD41-BCEAD3422049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Pystysuora otsikko j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ystysuora otsikko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fi-FI"/>
          </a:p>
        </p:txBody>
      </p:sp>
      <p:sp>
        <p:nvSpPr>
          <p:cNvPr id="3" name="Pystysuoran tekstin paikkamerkki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i-FI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3E524-6BC0-4787-95C5-C72B8592B78C}" type="datetimeFigureOut">
              <a:rPr lang="fi-FI" smtClean="0"/>
              <a:pPr/>
              <a:t>8.12.2014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32F54-FEF5-4C51-AD41-BCEAD3422049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tsikko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Alaotsikk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 smtClean="0"/>
              <a:t>Muokkaa alaotsikon perustyyliä napsautt.</a:t>
            </a:r>
            <a:endParaRPr lang="fi-FI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E37C-AC12-4BDA-B7AE-D0C3DB4B341E}" type="datetimeFigureOut">
              <a:rPr lang="fi-FI" smtClean="0"/>
              <a:pPr/>
              <a:t>8.12.2014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6CCA3-C34D-4E21-BA24-327A65CEE13D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tsikko ja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563072" cy="1143000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</a:defRPr>
            </a:lvl1pPr>
          </a:lstStyle>
          <a:p>
            <a:r>
              <a:rPr lang="fi-FI" dirty="0" smtClean="0"/>
              <a:t>Muokkaa </a:t>
            </a:r>
            <a:r>
              <a:rPr lang="fi-FI" dirty="0" err="1" smtClean="0"/>
              <a:t>perustyyl</a:t>
            </a:r>
            <a:r>
              <a:rPr lang="fi-FI" dirty="0" smtClean="0"/>
              <a:t>. </a:t>
            </a:r>
            <a:r>
              <a:rPr lang="fi-FI" dirty="0" err="1" smtClean="0"/>
              <a:t>napsautt</a:t>
            </a:r>
            <a:r>
              <a:rPr lang="fi-FI" dirty="0" smtClean="0"/>
              <a:t>.</a:t>
            </a:r>
            <a:endParaRPr lang="fi-FI" dirty="0"/>
          </a:p>
        </p:txBody>
      </p:sp>
      <p:sp>
        <p:nvSpPr>
          <p:cNvPr id="3" name="Sisällön paikkamerkki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i-FI" dirty="0" smtClean="0"/>
              <a:t>Muokkaa tekstin perustyylejä napsauttamalla</a:t>
            </a:r>
          </a:p>
          <a:p>
            <a:pPr lvl="1"/>
            <a:r>
              <a:rPr lang="fi-FI" dirty="0" smtClean="0"/>
              <a:t>toinen taso</a:t>
            </a:r>
          </a:p>
          <a:p>
            <a:pPr lvl="2"/>
            <a:r>
              <a:rPr lang="fi-FI" dirty="0" smtClean="0"/>
              <a:t>kolmas taso</a:t>
            </a:r>
          </a:p>
          <a:p>
            <a:pPr lvl="3"/>
            <a:r>
              <a:rPr lang="fi-FI" dirty="0" smtClean="0"/>
              <a:t>neljäs taso</a:t>
            </a:r>
          </a:p>
          <a:p>
            <a:pPr lvl="4"/>
            <a:r>
              <a:rPr lang="fi-FI" dirty="0" smtClean="0"/>
              <a:t>viides taso</a:t>
            </a:r>
            <a:endParaRPr lang="fi-FI" dirty="0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E37C-AC12-4BDA-B7AE-D0C3DB4B341E}" type="datetimeFigureOut">
              <a:rPr lang="fi-FI" smtClean="0"/>
              <a:pPr/>
              <a:t>8.12.2014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6CCA3-C34D-4E21-BA24-327A65CEE13D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Osan ylätunn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 smtClean="0"/>
              <a:t>Muokkaa tekstin perustyylejä napsauttamalla</a:t>
            </a:r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E37C-AC12-4BDA-B7AE-D0C3DB4B341E}" type="datetimeFigureOut">
              <a:rPr lang="fi-FI" smtClean="0"/>
              <a:pPr/>
              <a:t>8.12.2014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6CCA3-C34D-4E21-BA24-327A65CEE13D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aksi sisältökohdet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Sisällön paikkamerkki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4" name="Sisällön paikkamerkki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E37C-AC12-4BDA-B7AE-D0C3DB4B341E}" type="datetimeFigureOut">
              <a:rPr lang="fi-FI" smtClean="0"/>
              <a:pPr/>
              <a:t>8.12.2014</a:t>
            </a:fld>
            <a:endParaRPr lang="fi-FI" dirty="0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6CCA3-C34D-4E21-BA24-327A65CEE13D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tai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 smtClean="0"/>
              <a:t>Muokkaa tekstin perustyylejä napsauttamalla</a:t>
            </a:r>
          </a:p>
        </p:txBody>
      </p:sp>
      <p:sp>
        <p:nvSpPr>
          <p:cNvPr id="4" name="Sisällön paikkamerkki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5" name="Tekstin paikkamerkki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 smtClean="0"/>
              <a:t>Muokkaa tekstin perustyylejä napsauttamalla</a:t>
            </a:r>
          </a:p>
        </p:txBody>
      </p:sp>
      <p:sp>
        <p:nvSpPr>
          <p:cNvPr id="6" name="Sisällön paikkamerkki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7" name="Päivämäärän paikkamerkki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E37C-AC12-4BDA-B7AE-D0C3DB4B341E}" type="datetimeFigureOut">
              <a:rPr lang="fi-FI" smtClean="0"/>
              <a:pPr/>
              <a:t>8.12.2014</a:t>
            </a:fld>
            <a:endParaRPr lang="fi-FI" dirty="0"/>
          </a:p>
        </p:txBody>
      </p:sp>
      <p:sp>
        <p:nvSpPr>
          <p:cNvPr id="8" name="Alatunnisteen paikkamerk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9" name="Dian numeron paikkamerkki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6CCA3-C34D-4E21-BA24-327A65CEE13D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Vain otsik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Päivämäärän paikkamerkki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E37C-AC12-4BDA-B7AE-D0C3DB4B341E}" type="datetimeFigureOut">
              <a:rPr lang="fi-FI" smtClean="0"/>
              <a:pPr/>
              <a:t>8.12.2014</a:t>
            </a:fld>
            <a:endParaRPr lang="fi-FI" dirty="0"/>
          </a:p>
        </p:txBody>
      </p:sp>
      <p:sp>
        <p:nvSpPr>
          <p:cNvPr id="4" name="Alatunnisteen paikkamerk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5" name="Dian numeron paikkamerkki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6CCA3-C34D-4E21-BA24-327A65CEE13D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yhj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äivämäärän paikkamerkki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E37C-AC12-4BDA-B7AE-D0C3DB4B341E}" type="datetimeFigureOut">
              <a:rPr lang="fi-FI" smtClean="0"/>
              <a:pPr/>
              <a:t>8.12.2014</a:t>
            </a:fld>
            <a:endParaRPr lang="fi-FI" dirty="0"/>
          </a:p>
        </p:txBody>
      </p:sp>
      <p:sp>
        <p:nvSpPr>
          <p:cNvPr id="3" name="Alatunnisteen paikkamerk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6CCA3-C34D-4E21-BA24-327A65CEE13D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tsikollinen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Sisällön paikkamerkki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4" name="Tekstin paikkamerkki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E37C-AC12-4BDA-B7AE-D0C3DB4B341E}" type="datetimeFigureOut">
              <a:rPr lang="fi-FI" smtClean="0"/>
              <a:pPr/>
              <a:t>8.12.2014</a:t>
            </a:fld>
            <a:endParaRPr lang="fi-FI" dirty="0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6CCA3-C34D-4E21-BA24-327A65CEE13D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tsikollinen ku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Kuvan paikkamerkki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i-FI" dirty="0"/>
          </a:p>
        </p:txBody>
      </p:sp>
      <p:sp>
        <p:nvSpPr>
          <p:cNvPr id="4" name="Tekstin paikkamerkki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E37C-AC12-4BDA-B7AE-D0C3DB4B341E}" type="datetimeFigureOut">
              <a:rPr lang="fi-FI" smtClean="0"/>
              <a:pPr/>
              <a:t>8.12.2014</a:t>
            </a:fld>
            <a:endParaRPr lang="fi-FI" dirty="0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6CCA3-C34D-4E21-BA24-327A65CEE13D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Otsikko ja pystysuor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Pystysuoran tekstin paikkamerkki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E37C-AC12-4BDA-B7AE-D0C3DB4B341E}" type="datetimeFigureOut">
              <a:rPr lang="fi-FI" smtClean="0"/>
              <a:pPr/>
              <a:t>8.12.2014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6CCA3-C34D-4E21-BA24-327A65CEE13D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Pystysuora otsikko j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ystysuora otsikko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Pystysuoran tekstin paikkamerkki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E37C-AC12-4BDA-B7AE-D0C3DB4B341E}" type="datetimeFigureOut">
              <a:rPr lang="fi-FI" smtClean="0"/>
              <a:pPr/>
              <a:t>8.12.2014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6CCA3-C34D-4E21-BA24-327A65CEE13D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kautettu asette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Päivämäärän paikkamerkki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E37C-AC12-4BDA-B7AE-D0C3DB4B341E}" type="datetimeFigureOut">
              <a:rPr lang="fi-FI" smtClean="0"/>
              <a:pPr/>
              <a:t>8.12.2014</a:t>
            </a:fld>
            <a:endParaRPr lang="fi-FI" dirty="0"/>
          </a:p>
        </p:txBody>
      </p:sp>
      <p:sp>
        <p:nvSpPr>
          <p:cNvPr id="4" name="Alatunnisteen paikkamerk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5" name="Dian numeron paikkamerkki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6CCA3-C34D-4E21-BA24-327A65CEE13D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tsikko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Alaotsikk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 smtClean="0"/>
              <a:t>Muokkaa alaotsikon perustyyliä napsautt.</a:t>
            </a:r>
            <a:endParaRPr lang="fi-FI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8.12.2014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tsikko ja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Sisällön paikkamerkk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8.12.2014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Osan ylätunn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 smtClean="0"/>
              <a:t>Muokkaa tekstin perustyylejä napsauttamalla</a:t>
            </a:r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8.12.2014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aksi sisältökohdet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Sisällön paikkamerkki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4" name="Sisällön paikkamerkki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8.12.2014</a:t>
            </a:fld>
            <a:endParaRPr lang="fi-FI" dirty="0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tai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 smtClean="0"/>
              <a:t>Muokkaa tekstin perustyylejä napsauttamalla</a:t>
            </a:r>
          </a:p>
        </p:txBody>
      </p:sp>
      <p:sp>
        <p:nvSpPr>
          <p:cNvPr id="4" name="Sisällön paikkamerkki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5" name="Tekstin paikkamerkki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 smtClean="0"/>
              <a:t>Muokkaa tekstin perustyylejä napsauttamalla</a:t>
            </a:r>
          </a:p>
        </p:txBody>
      </p:sp>
      <p:sp>
        <p:nvSpPr>
          <p:cNvPr id="6" name="Sisällön paikkamerkki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7" name="Päivämäärän paikkamerkki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8.12.2014</a:t>
            </a:fld>
            <a:endParaRPr lang="fi-FI" dirty="0"/>
          </a:p>
        </p:txBody>
      </p:sp>
      <p:sp>
        <p:nvSpPr>
          <p:cNvPr id="8" name="Alatunnisteen paikkamerk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9" name="Dian numeron paikkamerkki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Vain otsik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Päivämäärän paikkamerkki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8.12.2014</a:t>
            </a:fld>
            <a:endParaRPr lang="fi-FI" dirty="0"/>
          </a:p>
        </p:txBody>
      </p:sp>
      <p:sp>
        <p:nvSpPr>
          <p:cNvPr id="4" name="Alatunnisteen paikkamerk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5" name="Dian numeron paikkamerkki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yhj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äivämäärän paikkamerkki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8.12.2014</a:t>
            </a:fld>
            <a:endParaRPr lang="fi-FI" dirty="0"/>
          </a:p>
        </p:txBody>
      </p:sp>
      <p:sp>
        <p:nvSpPr>
          <p:cNvPr id="3" name="Alatunnisteen paikkamerk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tsikollinen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Sisällön paikkamerkki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4" name="Tekstin paikkamerkki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8.12.2014</a:t>
            </a:fld>
            <a:endParaRPr lang="fi-FI" dirty="0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tsikollinen ku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Kuvan paikkamerkki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i-FI" dirty="0"/>
          </a:p>
        </p:txBody>
      </p:sp>
      <p:sp>
        <p:nvSpPr>
          <p:cNvPr id="4" name="Tekstin paikkamerkki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8.12.2014</a:t>
            </a:fld>
            <a:endParaRPr lang="fi-FI" dirty="0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Otsikko ja pystysuor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Pystysuoran tekstin paikkamerkki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8.12.2014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Pystysuora otsikko j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ystysuora otsikko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Pystysuoran tekstin paikkamerkki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8.12.2014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tsikko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Alaotsikk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 smtClean="0"/>
              <a:t>Muokkaa alaotsikon perustyyliä napsautt.</a:t>
            </a:r>
            <a:endParaRPr lang="fi-FI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8.12.2014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tsikko ja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Sisällön paikkamerkk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8.12.2014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Osan ylätunn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 smtClean="0"/>
              <a:t>Muokkaa tekstin perustyylejä napsauttamalla</a:t>
            </a:r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8.12.2014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aksi sisältökohdet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Sisällön paikkamerkki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4" name="Sisällön paikkamerkki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8.12.2014</a:t>
            </a:fld>
            <a:endParaRPr lang="fi-FI" dirty="0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tai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 smtClean="0"/>
              <a:t>Muokkaa tekstin perustyylejä napsauttamalla</a:t>
            </a:r>
          </a:p>
        </p:txBody>
      </p:sp>
      <p:sp>
        <p:nvSpPr>
          <p:cNvPr id="4" name="Sisällön paikkamerkki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5" name="Tekstin paikkamerkki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 smtClean="0"/>
              <a:t>Muokkaa tekstin perustyylejä napsauttamalla</a:t>
            </a:r>
          </a:p>
        </p:txBody>
      </p:sp>
      <p:sp>
        <p:nvSpPr>
          <p:cNvPr id="6" name="Sisällön paikkamerkki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7" name="Päivämäärän paikkamerkki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8.12.2014</a:t>
            </a:fld>
            <a:endParaRPr lang="fi-FI" dirty="0"/>
          </a:p>
        </p:txBody>
      </p:sp>
      <p:sp>
        <p:nvSpPr>
          <p:cNvPr id="8" name="Alatunnisteen paikkamerk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9" name="Dian numeron paikkamerkki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Vain otsik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Päivämäärän paikkamerkki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8.12.2014</a:t>
            </a:fld>
            <a:endParaRPr lang="fi-FI" dirty="0"/>
          </a:p>
        </p:txBody>
      </p:sp>
      <p:sp>
        <p:nvSpPr>
          <p:cNvPr id="4" name="Alatunnisteen paikkamerk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5" name="Dian numeron paikkamerkki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yhj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äivämäärän paikkamerkki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8.12.2014</a:t>
            </a:fld>
            <a:endParaRPr lang="fi-FI" dirty="0"/>
          </a:p>
        </p:txBody>
      </p:sp>
      <p:sp>
        <p:nvSpPr>
          <p:cNvPr id="3" name="Alatunnisteen paikkamerk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tsikollinen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Sisällön paikkamerkki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4" name="Tekstin paikkamerkki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8.12.2014</a:t>
            </a:fld>
            <a:endParaRPr lang="fi-FI" dirty="0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tsikollinen ku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Kuvan paikkamerkki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i-FI" dirty="0"/>
          </a:p>
        </p:txBody>
      </p:sp>
      <p:sp>
        <p:nvSpPr>
          <p:cNvPr id="4" name="Tekstin paikkamerkki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8.12.2014</a:t>
            </a:fld>
            <a:endParaRPr lang="fi-FI" dirty="0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Otsikko ja pystysuor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Pystysuoran tekstin paikkamerkki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8.12.2014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Pystysuora otsikko j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ystysuora otsikko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Pystysuoran tekstin paikkamerkki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8.12.2014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B6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Kuva 7" descr="cloud.png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-252536" y="4778077"/>
            <a:ext cx="2705100" cy="1819275"/>
          </a:xfrm>
          <a:prstGeom prst="rect">
            <a:avLst/>
          </a:prstGeom>
        </p:spPr>
      </p:pic>
      <p:sp>
        <p:nvSpPr>
          <p:cNvPr id="2" name="Otsikon paikkamerkki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05901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 dirty="0" smtClean="0"/>
              <a:t>Muokkaa </a:t>
            </a:r>
            <a:r>
              <a:rPr lang="fi-FI" dirty="0" err="1" smtClean="0"/>
              <a:t>perustyyl</a:t>
            </a:r>
            <a:r>
              <a:rPr lang="fi-FI" dirty="0" smtClean="0"/>
              <a:t>. </a:t>
            </a:r>
            <a:r>
              <a:rPr lang="fi-FI" dirty="0" err="1" smtClean="0"/>
              <a:t>napsautt</a:t>
            </a:r>
            <a:r>
              <a:rPr lang="fi-FI" dirty="0" smtClean="0"/>
              <a:t>.</a:t>
            </a:r>
            <a:endParaRPr lang="fi-FI" dirty="0"/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A3E524-6BC0-4787-95C5-C72B8592B78C}" type="datetimeFigureOut">
              <a:rPr lang="fi-FI" smtClean="0"/>
              <a:pPr/>
              <a:t>8.12.2014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632F54-FEF5-4C51-AD41-BCEAD3422049}" type="slidenum">
              <a:rPr lang="fi-FI" smtClean="0"/>
              <a:pPr/>
              <a:t>‹#›</a:t>
            </a:fld>
            <a:endParaRPr lang="fi-FI" dirty="0"/>
          </a:p>
        </p:txBody>
      </p:sp>
      <p:pic>
        <p:nvPicPr>
          <p:cNvPr id="7" name="Kuva 6" descr="city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0" y="5376624"/>
            <a:ext cx="9144000" cy="1508760"/>
          </a:xfrm>
          <a:prstGeom prst="rect">
            <a:avLst/>
          </a:prstGeom>
        </p:spPr>
      </p:pic>
      <p:pic>
        <p:nvPicPr>
          <p:cNvPr id="9" name="Kuva 8" descr="logo_bc.png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4067944" y="-323225"/>
            <a:ext cx="5687616" cy="3896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49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0B6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on paikkamerkki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 dirty="0" smtClean="0"/>
              <a:t>Muokkaa </a:t>
            </a:r>
            <a:r>
              <a:rPr lang="fi-FI" dirty="0" err="1" smtClean="0"/>
              <a:t>perustyyl</a:t>
            </a:r>
            <a:r>
              <a:rPr lang="fi-FI" dirty="0" smtClean="0"/>
              <a:t>. </a:t>
            </a:r>
            <a:r>
              <a:rPr lang="fi-FI" dirty="0" err="1" smtClean="0"/>
              <a:t>napsautt</a:t>
            </a:r>
            <a:r>
              <a:rPr lang="fi-FI" dirty="0" smtClean="0"/>
              <a:t>.</a:t>
            </a:r>
            <a:endParaRPr lang="fi-FI" dirty="0"/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 dirty="0" smtClean="0"/>
              <a:t>Muokkaa tekstin perustyylejä napsauttamalla</a:t>
            </a:r>
          </a:p>
          <a:p>
            <a:pPr lvl="1"/>
            <a:r>
              <a:rPr lang="fi-FI" dirty="0" smtClean="0"/>
              <a:t>toinen taso</a:t>
            </a:r>
          </a:p>
          <a:p>
            <a:pPr lvl="2"/>
            <a:r>
              <a:rPr lang="fi-FI" dirty="0" smtClean="0"/>
              <a:t>kolmas taso</a:t>
            </a:r>
          </a:p>
          <a:p>
            <a:pPr lvl="3"/>
            <a:r>
              <a:rPr lang="fi-FI" dirty="0" smtClean="0"/>
              <a:t>neljäs taso</a:t>
            </a:r>
          </a:p>
          <a:p>
            <a:pPr lvl="4"/>
            <a:r>
              <a:rPr lang="fi-FI" dirty="0" smtClean="0"/>
              <a:t>viides taso</a:t>
            </a:r>
            <a:endParaRPr lang="fi-FI" dirty="0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8EE37C-AC12-4BDA-B7AE-D0C3DB4B341E}" type="datetimeFigureOut">
              <a:rPr lang="fi-FI" smtClean="0"/>
              <a:pPr/>
              <a:t>8.12.2014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B6CCA3-C34D-4E21-BA24-327A65CEE13D}" type="slidenum">
              <a:rPr lang="fi-FI" smtClean="0"/>
              <a:pPr/>
              <a:t>‹#›</a:t>
            </a:fld>
            <a:endParaRPr lang="fi-FI" dirty="0"/>
          </a:p>
        </p:txBody>
      </p:sp>
      <p:pic>
        <p:nvPicPr>
          <p:cNvPr id="7" name="Kuva 6" descr="logo_bc.png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5796136" y="-243408"/>
            <a:ext cx="3815408" cy="261370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on paikkamerkki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77909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 dirty="0" smtClean="0"/>
              <a:t>Muokkaa tekstin perustyylejä napsauttamalla</a:t>
            </a:r>
          </a:p>
          <a:p>
            <a:pPr lvl="1"/>
            <a:r>
              <a:rPr lang="fi-FI" dirty="0" smtClean="0"/>
              <a:t>toinen taso</a:t>
            </a:r>
          </a:p>
          <a:p>
            <a:pPr lvl="2"/>
            <a:r>
              <a:rPr lang="fi-FI" dirty="0" smtClean="0"/>
              <a:t>kolmas taso</a:t>
            </a:r>
          </a:p>
          <a:p>
            <a:pPr lvl="3"/>
            <a:r>
              <a:rPr lang="fi-FI" dirty="0" smtClean="0"/>
              <a:t>neljäs taso</a:t>
            </a:r>
          </a:p>
          <a:p>
            <a:pPr lvl="4"/>
            <a:r>
              <a:rPr lang="fi-FI" dirty="0" smtClean="0"/>
              <a:t>viides taso</a:t>
            </a:r>
            <a:endParaRPr lang="fi-FI" dirty="0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528542-833B-490F-A2E7-8CA93ACE653C}" type="datetimeFigureOut">
              <a:rPr lang="fi-FI" smtClean="0"/>
              <a:t>8.12.2014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  <p:pic>
        <p:nvPicPr>
          <p:cNvPr id="8" name="Kuva 7" descr="logo_bc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5796136" y="-243408"/>
            <a:ext cx="3815408" cy="2613705"/>
          </a:xfrm>
          <a:prstGeom prst="rect">
            <a:avLst/>
          </a:prstGeom>
        </p:spPr>
      </p:pic>
      <p:pic>
        <p:nvPicPr>
          <p:cNvPr id="9" name="Kuva 8" descr="city.png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0" y="5376624"/>
            <a:ext cx="9144000" cy="150876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b="1" kern="1200">
          <a:solidFill>
            <a:schemeClr val="bg2">
              <a:lumMod val="2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orakulmio 9"/>
          <p:cNvSpPr/>
          <p:nvPr/>
        </p:nvSpPr>
        <p:spPr>
          <a:xfrm>
            <a:off x="0" y="0"/>
            <a:ext cx="9144000" cy="1196752"/>
          </a:xfrm>
          <a:prstGeom prst="rect">
            <a:avLst/>
          </a:prstGeom>
          <a:solidFill>
            <a:srgbClr val="52C2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sp>
        <p:nvSpPr>
          <p:cNvPr id="2" name="Otsikon paikkamerkki 1"/>
          <p:cNvSpPr>
            <a:spLocks noGrp="1"/>
          </p:cNvSpPr>
          <p:nvPr>
            <p:ph type="title"/>
          </p:nvPr>
        </p:nvSpPr>
        <p:spPr>
          <a:xfrm>
            <a:off x="1321296" y="44624"/>
            <a:ext cx="598700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i-FI" dirty="0" smtClean="0"/>
              <a:t>Muokkaa </a:t>
            </a:r>
            <a:r>
              <a:rPr lang="fi-FI" dirty="0" err="1" smtClean="0"/>
              <a:t>perustyyl</a:t>
            </a:r>
            <a:r>
              <a:rPr lang="fi-FI" dirty="0" smtClean="0"/>
              <a:t>. </a:t>
            </a:r>
            <a:r>
              <a:rPr lang="fi-FI" dirty="0" err="1" smtClean="0"/>
              <a:t>napsautt</a:t>
            </a:r>
            <a:r>
              <a:rPr lang="fi-FI" dirty="0" smtClean="0"/>
              <a:t>.</a:t>
            </a:r>
            <a:endParaRPr lang="fi-FI" dirty="0"/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 dirty="0" smtClean="0"/>
              <a:t>Muokkaa tekstin perustyylejä napsauttamalla</a:t>
            </a:r>
          </a:p>
          <a:p>
            <a:pPr lvl="1"/>
            <a:r>
              <a:rPr lang="fi-FI" dirty="0" smtClean="0"/>
              <a:t>toinen taso</a:t>
            </a:r>
          </a:p>
          <a:p>
            <a:pPr lvl="2"/>
            <a:r>
              <a:rPr lang="fi-FI" dirty="0" smtClean="0"/>
              <a:t>kolmas taso</a:t>
            </a:r>
          </a:p>
          <a:p>
            <a:pPr lvl="3"/>
            <a:r>
              <a:rPr lang="fi-FI" dirty="0" smtClean="0"/>
              <a:t>neljäs taso</a:t>
            </a:r>
          </a:p>
          <a:p>
            <a:pPr lvl="4"/>
            <a:r>
              <a:rPr lang="fi-FI" dirty="0" smtClean="0"/>
              <a:t>viides taso</a:t>
            </a:r>
            <a:endParaRPr lang="fi-FI" dirty="0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528542-833B-490F-A2E7-8CA93ACE653C}" type="datetimeFigureOut">
              <a:rPr lang="fi-FI" smtClean="0"/>
              <a:t>8.12.2014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  <p:pic>
        <p:nvPicPr>
          <p:cNvPr id="8" name="Kuva 7" descr="logo_bc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5796136" y="-243408"/>
            <a:ext cx="3815408" cy="2613705"/>
          </a:xfrm>
          <a:prstGeom prst="rect">
            <a:avLst/>
          </a:prstGeom>
        </p:spPr>
      </p:pic>
      <p:sp>
        <p:nvSpPr>
          <p:cNvPr id="11" name="Suorakulmio 10"/>
          <p:cNvSpPr/>
          <p:nvPr/>
        </p:nvSpPr>
        <p:spPr>
          <a:xfrm>
            <a:off x="0" y="6696744"/>
            <a:ext cx="9144000" cy="18864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pic>
        <p:nvPicPr>
          <p:cNvPr id="12" name="Kuva 11" descr="cloud.png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0" y="116632"/>
            <a:ext cx="1656184" cy="111384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0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crmrocks.com/2014/12/01/who-is-the-customer/" TargetMode="External"/><Relationship Id="rId7" Type="http://schemas.openxmlformats.org/officeDocument/2006/relationships/hyperlink" Target="https://twitter.com/MarkusErlandsso" TargetMode="External"/><Relationship Id="rId2" Type="http://schemas.openxmlformats.org/officeDocument/2006/relationships/hyperlink" Target="http://crmrocks.com/" TargetMode="External"/><Relationship Id="rId1" Type="http://schemas.openxmlformats.org/officeDocument/2006/relationships/slideLayout" Target="../slideLayouts/slideLayout35.xml"/><Relationship Id="rId6" Type="http://schemas.openxmlformats.org/officeDocument/2006/relationships/hyperlink" Target="https://twitter.com/jukkan" TargetMode="External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econsultancy.com/blog/i.1bzytxp10pzdnh" TargetMode="External"/><Relationship Id="rId2" Type="http://schemas.openxmlformats.org/officeDocument/2006/relationships/hyperlink" Target="http://blogs.wsj.com/cmo/2014/11/17/brands-are-wasting-money-on-facebook-and-twitter-forrester-says/" TargetMode="External"/><Relationship Id="rId1" Type="http://schemas.openxmlformats.org/officeDocument/2006/relationships/slideLayout" Target="../slideLayouts/slideLayout35.xml"/><Relationship Id="rId4" Type="http://schemas.openxmlformats.org/officeDocument/2006/relationships/hyperlink" Target="http://www.cluetrain.com/book/markets.html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://www.zdnet.com/crm-has-failed-i-am-so-tired-of-hearing-that-7000033967/" TargetMode="External"/><Relationship Id="rId1" Type="http://schemas.openxmlformats.org/officeDocument/2006/relationships/slideLayout" Target="../slideLayouts/slideLayout3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://niiranen.eu/cr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fi-FI" dirty="0" smtClean="0"/>
              <a:t>Who is the customer in your CRM?</a:t>
            </a:r>
            <a:br>
              <a:rPr lang="fi-FI" dirty="0" smtClean="0"/>
            </a:br>
            <a:r>
              <a:rPr lang="fi-FI" dirty="0" smtClean="0"/>
              <a:t>#CRMRocks podcast</a:t>
            </a:r>
            <a:endParaRPr lang="fi-FI" dirty="0"/>
          </a:p>
        </p:txBody>
      </p:sp>
      <p:sp>
        <p:nvSpPr>
          <p:cNvPr id="3" name="Alaotsikk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i-FI" b="1" dirty="0" smtClean="0"/>
              <a:t>Jukka Niiranen</a:t>
            </a:r>
          </a:p>
          <a:p>
            <a:r>
              <a:rPr lang="fi-FI" dirty="0" smtClean="0"/>
              <a:t>2014-11-24</a:t>
            </a:r>
            <a:endParaRPr lang="fi-FI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About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793130" cy="4525963"/>
          </a:xfrm>
        </p:spPr>
        <p:txBody>
          <a:bodyPr>
            <a:normAutofit/>
          </a:bodyPr>
          <a:lstStyle/>
          <a:p>
            <a:r>
              <a:rPr lang="fi-FI" dirty="0" smtClean="0"/>
              <a:t>These are my notes from an episode of the </a:t>
            </a:r>
            <a:r>
              <a:rPr lang="fi-FI" dirty="0" smtClean="0">
                <a:hlinkClick r:id="rId2"/>
              </a:rPr>
              <a:t>CRM Rocks</a:t>
            </a:r>
            <a:r>
              <a:rPr lang="fi-FI" dirty="0" smtClean="0"/>
              <a:t> podcast, recorded on Nov 24th</a:t>
            </a:r>
          </a:p>
          <a:p>
            <a:r>
              <a:rPr lang="fi-FI" dirty="0" smtClean="0"/>
              <a:t>You can listen </a:t>
            </a:r>
            <a:r>
              <a:rPr lang="fi-FI" dirty="0"/>
              <a:t>to the full discussion between Markus and me </a:t>
            </a:r>
            <a:r>
              <a:rPr lang="fi-FI" dirty="0" smtClean="0"/>
              <a:t>at: </a:t>
            </a:r>
            <a:r>
              <a:rPr lang="fi-FI" dirty="0">
                <a:hlinkClick r:id="rId3"/>
              </a:rPr>
              <a:t>http://crmrocks.com/2014/12/01/who-is-the-customer</a:t>
            </a:r>
            <a:r>
              <a:rPr lang="fi-FI" dirty="0" smtClean="0">
                <a:hlinkClick r:id="rId3"/>
              </a:rPr>
              <a:t>/</a:t>
            </a:r>
            <a:r>
              <a:rPr lang="fi-FI" dirty="0" smtClean="0"/>
              <a:t>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248" y="1484784"/>
            <a:ext cx="1466850" cy="1466850"/>
          </a:xfrm>
          <a:prstGeom prst="rect">
            <a:avLst/>
          </a:prstGeom>
        </p:spPr>
      </p:pic>
      <p:pic>
        <p:nvPicPr>
          <p:cNvPr id="1026" name="Picture 2" descr="Markus Erlandsson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6907" y="4075841"/>
            <a:ext cx="1466850" cy="1466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300192" y="2924944"/>
            <a:ext cx="25202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dirty="0" smtClean="0"/>
              <a:t>Jukka Niiranen</a:t>
            </a:r>
          </a:p>
          <a:p>
            <a:pPr algn="ctr"/>
            <a:r>
              <a:rPr lang="fi-FI" sz="1400" dirty="0" smtClean="0">
                <a:hlinkClick r:id="rId6"/>
              </a:rPr>
              <a:t>@jukkan</a:t>
            </a:r>
            <a:endParaRPr lang="fi-FI" sz="1400" dirty="0" smtClean="0"/>
          </a:p>
          <a:p>
            <a:pPr algn="ctr"/>
            <a:r>
              <a:rPr lang="fi-FI" sz="1400" dirty="0" smtClean="0"/>
              <a:t>Consultant @ Digital Illustrated</a:t>
            </a:r>
          </a:p>
          <a:p>
            <a:pPr algn="ctr"/>
            <a:r>
              <a:rPr lang="fi-FI" sz="1400" dirty="0" smtClean="0"/>
              <a:t>Microsoft Dynamics CRM MVP</a:t>
            </a:r>
            <a:endParaRPr lang="en-US" sz="1400" dirty="0"/>
          </a:p>
        </p:txBody>
      </p:sp>
      <p:sp>
        <p:nvSpPr>
          <p:cNvPr id="7" name="TextBox 6"/>
          <p:cNvSpPr txBox="1"/>
          <p:nvPr/>
        </p:nvSpPr>
        <p:spPr>
          <a:xfrm>
            <a:off x="6327395" y="5542692"/>
            <a:ext cx="25202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dirty="0"/>
              <a:t>Markus </a:t>
            </a:r>
            <a:r>
              <a:rPr lang="fi-FI" dirty="0" smtClean="0"/>
              <a:t>Erlandsson</a:t>
            </a:r>
          </a:p>
          <a:p>
            <a:pPr algn="ctr"/>
            <a:r>
              <a:rPr lang="fi-FI" sz="1400" dirty="0">
                <a:hlinkClick r:id="rId7"/>
              </a:rPr>
              <a:t>@MarkusErlandsso</a:t>
            </a:r>
            <a:endParaRPr lang="fi-FI" sz="1400" dirty="0"/>
          </a:p>
          <a:p>
            <a:pPr algn="ctr"/>
            <a:r>
              <a:rPr lang="fi-FI" sz="1400" dirty="0" smtClean="0"/>
              <a:t>Consultant @ MMP</a:t>
            </a:r>
          </a:p>
          <a:p>
            <a:pPr algn="ctr"/>
            <a:r>
              <a:rPr lang="fi-FI" sz="1400" dirty="0" smtClean="0"/>
              <a:t>CRM Rocks podcast host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044973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Topics</a:t>
            </a:r>
            <a:endParaRPr lang="fi-FI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 smtClean="0"/>
              <a:t>Who is your customer?</a:t>
            </a:r>
          </a:p>
          <a:p>
            <a:r>
              <a:rPr lang="fi-FI" dirty="0" smtClean="0"/>
              <a:t>B2B customer modeling</a:t>
            </a:r>
          </a:p>
          <a:p>
            <a:r>
              <a:rPr lang="fi-FI" dirty="0" smtClean="0"/>
              <a:t>Segmenting your customers</a:t>
            </a:r>
          </a:p>
          <a:p>
            <a:r>
              <a:rPr lang="fi-FI" dirty="0" smtClean="0"/>
              <a:t>The role of non-customers in CRM</a:t>
            </a:r>
          </a:p>
          <a:p>
            <a:r>
              <a:rPr lang="fi-FI" dirty="0" smtClean="0"/>
              <a:t>Why Social CRM is the new CRM</a:t>
            </a:r>
          </a:p>
          <a:p>
            <a:pPr lvl="1"/>
            <a:r>
              <a:rPr lang="fi-FI" dirty="0" smtClean="0"/>
              <a:t>..and what it means to your CRM system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1090292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i-FI" smtClean="0"/>
              <a:t>Who is your customer?</a:t>
            </a:r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833973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smtClean="0"/>
              <a:t>How to determine the customer</a:t>
            </a:r>
            <a:endParaRPr lang="fi-FI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fontAlgn="base"/>
            <a:r>
              <a:rPr lang="en-US" smtClean="0"/>
              <a:t>The customer lifecycle perspective:</a:t>
            </a:r>
            <a:endParaRPr lang="en-US"/>
          </a:p>
          <a:p>
            <a:pPr lvl="1" fontAlgn="base"/>
            <a:r>
              <a:rPr lang="en-US"/>
              <a:t>Who could be a customer to you?</a:t>
            </a:r>
          </a:p>
          <a:p>
            <a:pPr lvl="1" fontAlgn="base"/>
            <a:r>
              <a:rPr lang="en-US"/>
              <a:t>Who are your customers today?</a:t>
            </a:r>
          </a:p>
          <a:p>
            <a:pPr lvl="1" fontAlgn="base"/>
            <a:r>
              <a:rPr lang="en-US"/>
              <a:t>Who are no longer your customers</a:t>
            </a:r>
            <a:r>
              <a:rPr lang="en-US" smtClean="0"/>
              <a:t>?</a:t>
            </a:r>
          </a:p>
          <a:p>
            <a:pPr fontAlgn="base"/>
            <a:r>
              <a:rPr lang="en-US" smtClean="0"/>
              <a:t>It’s not enough to get a list of customer records from ERP and migrate them into CRM</a:t>
            </a:r>
          </a:p>
          <a:p>
            <a:pPr fontAlgn="base"/>
            <a:r>
              <a:rPr lang="en-US" smtClean="0"/>
              <a:t>Your CRM system needs to continuously support the full lifecycle of the customer</a:t>
            </a:r>
          </a:p>
          <a:p>
            <a:pPr lvl="1" fontAlgn="base"/>
            <a:r>
              <a:rPr lang="en-US" smtClean="0"/>
              <a:t>Tracking the changes</a:t>
            </a:r>
          </a:p>
          <a:p>
            <a:pPr lvl="1" fontAlgn="base"/>
            <a:r>
              <a:rPr lang="en-US" smtClean="0"/>
              <a:t>Guiding the process</a:t>
            </a:r>
          </a:p>
          <a:p>
            <a:pPr lvl="1" fontAlgn="base"/>
            <a:r>
              <a:rPr lang="en-US" smtClean="0"/>
              <a:t>Showing the results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404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smtClean="0"/>
              <a:t>Customer vs. customer relationship</a:t>
            </a:r>
            <a:endParaRPr lang="fi-FI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fi-FI" dirty="0" smtClean="0"/>
              <a:t>If you sell more than one product, you may have more customer relationships than actual customers</a:t>
            </a:r>
          </a:p>
          <a:p>
            <a:pPr lvl="1"/>
            <a:r>
              <a:rPr lang="fi-FI" dirty="0" smtClean="0"/>
              <a:t>Repeat purchases vs. concurrent subscriptions</a:t>
            </a:r>
          </a:p>
          <a:p>
            <a:r>
              <a:rPr lang="fi-FI" dirty="0" smtClean="0"/>
              <a:t>You’ll need to get it right at the start when desiging your data model</a:t>
            </a:r>
          </a:p>
          <a:p>
            <a:pPr lvl="1"/>
            <a:r>
              <a:rPr lang="fi-FI" dirty="0" smtClean="0"/>
              <a:t>What attributes of a ”customer</a:t>
            </a:r>
            <a:r>
              <a:rPr lang="fi-FI" dirty="0" smtClean="0"/>
              <a:t>”(1) </a:t>
            </a:r>
            <a:r>
              <a:rPr lang="fi-FI" dirty="0" smtClean="0"/>
              <a:t>belong to the customer relationship level (N)?</a:t>
            </a:r>
          </a:p>
          <a:p>
            <a:pPr lvl="1"/>
            <a:r>
              <a:rPr lang="fi-FI" dirty="0" smtClean="0"/>
              <a:t>Which are unique for a company/consumer?</a:t>
            </a:r>
          </a:p>
          <a:p>
            <a:pPr lvl="1"/>
            <a:r>
              <a:rPr lang="fi-FI" dirty="0" smtClean="0"/>
              <a:t>How do your </a:t>
            </a:r>
            <a:r>
              <a:rPr lang="fi-FI" dirty="0" smtClean="0"/>
              <a:t>different products/services vary </a:t>
            </a:r>
            <a:r>
              <a:rPr lang="fi-FI" dirty="0" smtClean="0"/>
              <a:t>in terms of the relationship attributes that need to be managed?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1992456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i-FI" smtClean="0"/>
              <a:t>B2B customer modeling</a:t>
            </a:r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614903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smtClean="0"/>
              <a:t>Hierarchy</a:t>
            </a:r>
            <a:endParaRPr lang="fi-FI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i-FI" dirty="0" smtClean="0"/>
              <a:t>Account hierarchy is a crucial feature in CRM</a:t>
            </a:r>
          </a:p>
          <a:p>
            <a:pPr lvl="1"/>
            <a:r>
              <a:rPr lang="fi-FI" dirty="0" smtClean="0"/>
              <a:t>Data rollup in </a:t>
            </a:r>
            <a:r>
              <a:rPr lang="fi-FI" dirty="0" smtClean="0"/>
              <a:t>views, user rights cascading</a:t>
            </a:r>
            <a:endParaRPr lang="fi-FI" dirty="0" smtClean="0"/>
          </a:p>
          <a:p>
            <a:r>
              <a:rPr lang="fi-FI" dirty="0" smtClean="0"/>
              <a:t>How to choose what the ”account” represents?</a:t>
            </a:r>
          </a:p>
          <a:p>
            <a:pPr lvl="1"/>
            <a:r>
              <a:rPr lang="fi-FI" dirty="0" smtClean="0"/>
              <a:t>Customer, legal entity, division, branch office?</a:t>
            </a:r>
          </a:p>
          <a:p>
            <a:r>
              <a:rPr lang="fi-FI" dirty="0" smtClean="0"/>
              <a:t>Avoid unnecessary hierarchy </a:t>
            </a:r>
            <a:r>
              <a:rPr lang="fi-FI" dirty="0" smtClean="0"/>
              <a:t>levels to keep things simple for finding the right customer</a:t>
            </a:r>
            <a:endParaRPr lang="fi-FI" dirty="0" smtClean="0"/>
          </a:p>
          <a:p>
            <a:pPr lvl="1"/>
            <a:r>
              <a:rPr lang="fi-FI" dirty="0" smtClean="0"/>
              <a:t>De-coupling addresses from </a:t>
            </a:r>
            <a:r>
              <a:rPr lang="fi-FI" dirty="0" smtClean="0"/>
              <a:t>accounts may help</a:t>
            </a:r>
            <a:endParaRPr lang="fi-FI" dirty="0" smtClean="0"/>
          </a:p>
          <a:p>
            <a:r>
              <a:rPr lang="fi-FI" dirty="0" smtClean="0"/>
              <a:t>New built-in functionality in CRM 2015 for managing hierarchies</a:t>
            </a:r>
          </a:p>
          <a:p>
            <a:pPr lvl="1"/>
            <a:r>
              <a:rPr lang="fi-FI" dirty="0" smtClean="0"/>
              <a:t>Visualization, AF filters, security model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205075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smtClean="0"/>
              <a:t>Network</a:t>
            </a:r>
            <a:endParaRPr lang="fi-FI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i-FI" dirty="0" smtClean="0"/>
              <a:t>Real-life customers rarely are strictly hierarchical in their structure</a:t>
            </a:r>
          </a:p>
          <a:p>
            <a:pPr lvl="1"/>
            <a:r>
              <a:rPr lang="fi-FI" dirty="0" smtClean="0"/>
              <a:t>Networks of companies, supply rings for price negotiation etc.</a:t>
            </a:r>
          </a:p>
          <a:p>
            <a:pPr lvl="1"/>
            <a:r>
              <a:rPr lang="fi-FI" dirty="0" smtClean="0"/>
              <a:t>Contacts working at or influencing several accounts</a:t>
            </a:r>
          </a:p>
          <a:p>
            <a:pPr lvl="1"/>
            <a:r>
              <a:rPr lang="fi-FI" dirty="0" smtClean="0"/>
              <a:t>Distributors in between you and the end customer</a:t>
            </a:r>
          </a:p>
          <a:p>
            <a:r>
              <a:rPr lang="fi-FI" dirty="0" smtClean="0"/>
              <a:t>Connections are one choice for modeling the data in CRM – but not the only one</a:t>
            </a:r>
          </a:p>
          <a:p>
            <a:pPr lvl="1"/>
            <a:r>
              <a:rPr lang="fi-FI" dirty="0" smtClean="0"/>
              <a:t>No </a:t>
            </a:r>
            <a:r>
              <a:rPr lang="fi-FI" dirty="0" smtClean="0"/>
              <a:t>UI updates </a:t>
            </a:r>
            <a:r>
              <a:rPr lang="fi-FI" dirty="0" smtClean="0"/>
              <a:t>since CRM </a:t>
            </a:r>
            <a:r>
              <a:rPr lang="fi-FI" dirty="0" smtClean="0"/>
              <a:t>2011, </a:t>
            </a:r>
            <a:r>
              <a:rPr lang="fi-FI" dirty="0" smtClean="0"/>
              <a:t>beware of limitations</a:t>
            </a:r>
          </a:p>
          <a:p>
            <a:pPr lvl="1"/>
            <a:r>
              <a:rPr lang="fi-FI" dirty="0" smtClean="0"/>
              <a:t>N:N relationships may be </a:t>
            </a:r>
            <a:r>
              <a:rPr lang="fi-FI" dirty="0" smtClean="0"/>
              <a:t>easy but insufficient</a:t>
            </a:r>
            <a:endParaRPr lang="fi-FI" dirty="0" smtClean="0"/>
          </a:p>
          <a:p>
            <a:pPr lvl="1"/>
            <a:r>
              <a:rPr lang="fi-FI" dirty="0" smtClean="0"/>
              <a:t>Intermediate relationship entities give </a:t>
            </a:r>
            <a:r>
              <a:rPr lang="fi-FI" dirty="0" smtClean="0"/>
              <a:t>the most configuration options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15365322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smtClean="0"/>
              <a:t>Data sources</a:t>
            </a:r>
            <a:endParaRPr lang="fi-FI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fi-FI" dirty="0" smtClean="0"/>
              <a:t>Identify your lead sources and </a:t>
            </a:r>
            <a:r>
              <a:rPr lang="fi-FI" dirty="0" smtClean="0"/>
              <a:t>plan their </a:t>
            </a:r>
            <a:r>
              <a:rPr lang="fi-FI" dirty="0" smtClean="0"/>
              <a:t>qualification </a:t>
            </a:r>
            <a:r>
              <a:rPr lang="fi-FI" dirty="0" smtClean="0"/>
              <a:t>process properly</a:t>
            </a:r>
            <a:endParaRPr lang="fi-FI" dirty="0" smtClean="0"/>
          </a:p>
          <a:p>
            <a:pPr lvl="1"/>
            <a:r>
              <a:rPr lang="fi-FI" dirty="0" smtClean="0"/>
              <a:t>Temporary data or permanent customer records?</a:t>
            </a:r>
          </a:p>
          <a:p>
            <a:pPr lvl="1"/>
            <a:r>
              <a:rPr lang="fi-FI" dirty="0" smtClean="0"/>
              <a:t>Changes in lead management </a:t>
            </a:r>
            <a:r>
              <a:rPr lang="fi-FI" dirty="0" smtClean="0"/>
              <a:t>functionality with </a:t>
            </a:r>
            <a:r>
              <a:rPr lang="fi-FI" dirty="0" smtClean="0"/>
              <a:t>CRM 2013</a:t>
            </a:r>
          </a:p>
          <a:p>
            <a:r>
              <a:rPr lang="fi-FI" dirty="0" smtClean="0"/>
              <a:t>Make smart compromises about your data model so that you can live with </a:t>
            </a:r>
            <a:r>
              <a:rPr lang="fi-FI" dirty="0" smtClean="0"/>
              <a:t>it in practice, not just theory</a:t>
            </a:r>
            <a:endParaRPr lang="fi-FI" dirty="0" smtClean="0"/>
          </a:p>
          <a:p>
            <a:pPr lvl="1"/>
            <a:r>
              <a:rPr lang="fi-FI" dirty="0" smtClean="0"/>
              <a:t>Updating customer records from external company directory services</a:t>
            </a:r>
          </a:p>
          <a:p>
            <a:pPr lvl="1"/>
            <a:r>
              <a:rPr lang="fi-FI" dirty="0" smtClean="0"/>
              <a:t>Synchronizing customer records with your ERP / production systems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36801698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i-FI" smtClean="0"/>
              <a:t>Segmenting your customers</a:t>
            </a:r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8328932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smtClean="0"/>
              <a:t>What makes segmenting so difficult?</a:t>
            </a:r>
            <a:endParaRPr lang="fi-FI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fi-FI" dirty="0" smtClean="0"/>
              <a:t>It’s something you may not have done yet</a:t>
            </a:r>
          </a:p>
          <a:p>
            <a:pPr lvl="1"/>
            <a:r>
              <a:rPr lang="fi-FI" dirty="0" smtClean="0"/>
              <a:t>If you don’t have a working CRM system in place to manage the data, segmentation can </a:t>
            </a:r>
            <a:r>
              <a:rPr lang="fi-FI" dirty="0" smtClean="0"/>
              <a:t>remain just </a:t>
            </a:r>
            <a:r>
              <a:rPr lang="fi-FI" dirty="0" smtClean="0"/>
              <a:t>a hypothetical </a:t>
            </a:r>
            <a:r>
              <a:rPr lang="fi-FI" dirty="0" smtClean="0"/>
              <a:t>exercise and not a concrete activity</a:t>
            </a:r>
            <a:endParaRPr lang="fi-FI" dirty="0" smtClean="0"/>
          </a:p>
          <a:p>
            <a:r>
              <a:rPr lang="fi-FI" dirty="0" smtClean="0"/>
              <a:t>It’s not something that CRM will ”do” for you</a:t>
            </a:r>
          </a:p>
          <a:p>
            <a:pPr lvl="1"/>
            <a:r>
              <a:rPr lang="fi-FI" dirty="0" smtClean="0"/>
              <a:t>There is no automated segmentation engine in CRM that would ”crunch the numbers” and spit out the results</a:t>
            </a:r>
          </a:p>
          <a:p>
            <a:r>
              <a:rPr lang="fi-FI" dirty="0" smtClean="0"/>
              <a:t>It’s not something you just set up once</a:t>
            </a:r>
          </a:p>
          <a:p>
            <a:pPr lvl="1"/>
            <a:r>
              <a:rPr lang="fi-FI" dirty="0" smtClean="0"/>
              <a:t>Segmentation is all about the time dimension: defining the starting point, measuring the results, adjusting </a:t>
            </a:r>
            <a:r>
              <a:rPr lang="fi-FI" dirty="0" smtClean="0"/>
              <a:t>segmentation </a:t>
            </a:r>
            <a:r>
              <a:rPr lang="fi-FI" dirty="0" smtClean="0"/>
              <a:t>practices </a:t>
            </a:r>
            <a:r>
              <a:rPr lang="fi-FI" dirty="0" smtClean="0"/>
              <a:t>based </a:t>
            </a:r>
            <a:r>
              <a:rPr lang="fi-FI" dirty="0" smtClean="0"/>
              <a:t>on lessons learned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8864737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smtClean="0"/>
              <a:t>Examples of basic segmentation models</a:t>
            </a:r>
            <a:endParaRPr lang="fi-FI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i-FI" dirty="0" smtClean="0"/>
              <a:t>Lifecycle stages</a:t>
            </a:r>
          </a:p>
          <a:p>
            <a:pPr lvl="1"/>
            <a:r>
              <a:rPr lang="fi-FI" dirty="0" smtClean="0"/>
              <a:t>Understanding the new customer journey</a:t>
            </a:r>
          </a:p>
          <a:p>
            <a:pPr lvl="1"/>
            <a:r>
              <a:rPr lang="fi-FI" dirty="0" smtClean="0"/>
              <a:t>Identifying changing needs/value over time</a:t>
            </a:r>
          </a:p>
          <a:p>
            <a:r>
              <a:rPr lang="fi-FI" dirty="0" smtClean="0"/>
              <a:t>Lifetime value</a:t>
            </a:r>
          </a:p>
          <a:p>
            <a:pPr lvl="1"/>
            <a:r>
              <a:rPr lang="fi-FI" dirty="0" smtClean="0"/>
              <a:t>Past purchases vs. potential purchases</a:t>
            </a:r>
          </a:p>
          <a:p>
            <a:pPr lvl="1"/>
            <a:r>
              <a:rPr lang="fi-FI" dirty="0" smtClean="0"/>
              <a:t>Often need to be mixed with other criteria determining strategic fit/significance</a:t>
            </a:r>
          </a:p>
          <a:p>
            <a:r>
              <a:rPr lang="fi-FI" dirty="0" smtClean="0"/>
              <a:t>Behavioral</a:t>
            </a:r>
          </a:p>
          <a:p>
            <a:pPr lvl="1"/>
            <a:r>
              <a:rPr lang="fi-FI" dirty="0" smtClean="0"/>
              <a:t>Scoring customers based on online </a:t>
            </a:r>
            <a:r>
              <a:rPr lang="fi-FI" dirty="0" smtClean="0"/>
              <a:t>interactions</a:t>
            </a:r>
            <a:endParaRPr lang="fi-FI" dirty="0" smtClean="0"/>
          </a:p>
          <a:p>
            <a:pPr lvl="1"/>
            <a:r>
              <a:rPr lang="fi-FI" dirty="0" smtClean="0"/>
              <a:t>RFM: recency, frequency, monetary value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8685335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i-FI"/>
              <a:t>The role of non-customers in CRM</a:t>
            </a:r>
          </a:p>
        </p:txBody>
      </p:sp>
    </p:spTree>
    <p:extLst>
      <p:ext uri="{BB962C8B-B14F-4D97-AF65-F5344CB8AC3E}">
        <p14:creationId xmlns:p14="http://schemas.microsoft.com/office/powerpoint/2010/main" val="31220024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smtClean="0"/>
              <a:t>If the ”C” in CRM stands for ”Customer” then why…</a:t>
            </a:r>
            <a:endParaRPr lang="fi-FI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i-FI" dirty="0" smtClean="0"/>
              <a:t>Accounts &lt;&gt; Customers!</a:t>
            </a:r>
          </a:p>
          <a:p>
            <a:pPr lvl="1"/>
            <a:r>
              <a:rPr lang="fi-FI" dirty="0" smtClean="0"/>
              <a:t>...even though it might be translated as such </a:t>
            </a:r>
            <a:r>
              <a:rPr lang="fi-FI" dirty="0" smtClean="0"/>
              <a:t>by default in your localized Dynamics CRM instance</a:t>
            </a:r>
            <a:endParaRPr lang="fi-FI" dirty="0" smtClean="0"/>
          </a:p>
          <a:p>
            <a:r>
              <a:rPr lang="fi-FI" dirty="0" smtClean="0"/>
              <a:t>It’s about organizations and persons, not accounts and contacts</a:t>
            </a:r>
          </a:p>
          <a:p>
            <a:pPr lvl="1"/>
            <a:r>
              <a:rPr lang="fi-FI" dirty="0" smtClean="0"/>
              <a:t>Your own organization, however, should be modeled as users, not </a:t>
            </a:r>
            <a:r>
              <a:rPr lang="fi-FI" dirty="0" smtClean="0"/>
              <a:t>contacts</a:t>
            </a:r>
            <a:endParaRPr lang="fi-FI" dirty="0" smtClean="0"/>
          </a:p>
          <a:p>
            <a:r>
              <a:rPr lang="fi-FI" dirty="0" smtClean="0"/>
              <a:t>If you limit the scope to Customers only, you’ll miss the real potential of ”R” in the platform</a:t>
            </a:r>
          </a:p>
          <a:p>
            <a:pPr lvl="1"/>
            <a:r>
              <a:rPr lang="fi-FI" dirty="0" smtClean="0"/>
              <a:t>Many of the CRM features can improve employee productivity also in other usage scenarios</a:t>
            </a:r>
          </a:p>
          <a:p>
            <a:r>
              <a:rPr lang="fi-FI" dirty="0" smtClean="0"/>
              <a:t>The first step towards XRM (”any relationship management”) is in not paying too much attention to the ”C” when designing the business solution you </a:t>
            </a:r>
            <a:r>
              <a:rPr lang="fi-FI" dirty="0" smtClean="0"/>
              <a:t>need</a:t>
            </a:r>
            <a:endParaRPr lang="fi-FI" dirty="0" smtClean="0"/>
          </a:p>
        </p:txBody>
      </p:sp>
    </p:spTree>
    <p:extLst>
      <p:ext uri="{BB962C8B-B14F-4D97-AF65-F5344CB8AC3E}">
        <p14:creationId xmlns:p14="http://schemas.microsoft.com/office/powerpoint/2010/main" val="12674319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Who should be in your CRM then?</a:t>
            </a:r>
            <a:endParaRPr lang="fi-FI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i-FI" dirty="0" smtClean="0"/>
              <a:t>Any party that you interact with as a part of your customer processes should be created in CRM</a:t>
            </a:r>
          </a:p>
          <a:p>
            <a:pPr lvl="1"/>
            <a:r>
              <a:rPr lang="fi-FI" dirty="0" smtClean="0"/>
              <a:t>Email tracking and to/from/cc</a:t>
            </a:r>
          </a:p>
          <a:p>
            <a:pPr lvl="1"/>
            <a:r>
              <a:rPr lang="fi-FI" dirty="0" smtClean="0"/>
              <a:t>Appointment required/optional</a:t>
            </a:r>
          </a:p>
          <a:p>
            <a:r>
              <a:rPr lang="fi-FI" dirty="0" smtClean="0"/>
              <a:t>Account &amp; contact is </a:t>
            </a:r>
            <a:r>
              <a:rPr lang="fi-FI" dirty="0" smtClean="0"/>
              <a:t>often the most logical </a:t>
            </a:r>
            <a:r>
              <a:rPr lang="fi-FI" dirty="0" smtClean="0"/>
              <a:t>place for all organizations and </a:t>
            </a:r>
            <a:r>
              <a:rPr lang="fi-FI" dirty="0" smtClean="0"/>
              <a:t>persons to exist in the data model</a:t>
            </a:r>
            <a:endParaRPr lang="fi-FI" dirty="0" smtClean="0"/>
          </a:p>
          <a:p>
            <a:pPr lvl="1"/>
            <a:r>
              <a:rPr lang="fi-FI" dirty="0" smtClean="0"/>
              <a:t>Take non-customers into consideration with your categories, views &amp; segmentation right from the start</a:t>
            </a:r>
          </a:p>
          <a:p>
            <a:r>
              <a:rPr lang="fi-FI" dirty="0" smtClean="0"/>
              <a:t>What about the Competitor entity in CRM?</a:t>
            </a:r>
          </a:p>
          <a:p>
            <a:pPr lvl="1"/>
            <a:r>
              <a:rPr lang="fi-FI" dirty="0" smtClean="0"/>
              <a:t>Has special features in the sales process</a:t>
            </a:r>
          </a:p>
          <a:p>
            <a:pPr lvl="1"/>
            <a:r>
              <a:rPr lang="fi-FI" dirty="0" smtClean="0"/>
              <a:t>Can’t act as an activity party, nor be enabled</a:t>
            </a:r>
          </a:p>
          <a:p>
            <a:pPr lvl="1"/>
            <a:r>
              <a:rPr lang="fi-FI" dirty="0" smtClean="0"/>
              <a:t>Organization owned, no security configuration options</a:t>
            </a:r>
          </a:p>
          <a:p>
            <a:pPr lvl="1"/>
            <a:r>
              <a:rPr lang="fi-FI" dirty="0" smtClean="0"/>
              <a:t>Did you notice that ”Competitor</a:t>
            </a:r>
            <a:r>
              <a:rPr lang="fi-FI" dirty="0" smtClean="0"/>
              <a:t>” </a:t>
            </a:r>
            <a:r>
              <a:rPr lang="fi-FI" dirty="0" smtClean="0"/>
              <a:t>is also </a:t>
            </a:r>
            <a:r>
              <a:rPr lang="fi-FI" dirty="0" smtClean="0"/>
              <a:t>one </a:t>
            </a:r>
            <a:r>
              <a:rPr lang="fi-FI" dirty="0" smtClean="0"/>
              <a:t>of the standard </a:t>
            </a:r>
            <a:r>
              <a:rPr lang="fi-FI" dirty="0" smtClean="0"/>
              <a:t>Relationship Type </a:t>
            </a:r>
            <a:r>
              <a:rPr lang="fi-FI" dirty="0" smtClean="0"/>
              <a:t>values for </a:t>
            </a:r>
            <a:r>
              <a:rPr lang="fi-FI" dirty="0" smtClean="0"/>
              <a:t>account records...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2718047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i-FI" smtClean="0"/>
              <a:t>Why Social CRM is the new CRM</a:t>
            </a:r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3256420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smtClean="0"/>
              <a:t>A few stats on social engagement</a:t>
            </a:r>
            <a:endParaRPr lang="fi-FI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i-FI" dirty="0" smtClean="0"/>
              <a:t>”Facebook </a:t>
            </a:r>
            <a:r>
              <a:rPr lang="fi-FI" dirty="0" smtClean="0"/>
              <a:t>&amp; Twitter updates by brands reach just 2% of their followers, </a:t>
            </a:r>
            <a:r>
              <a:rPr lang="fi-FI" dirty="0" smtClean="0"/>
              <a:t>and only </a:t>
            </a:r>
            <a:r>
              <a:rPr lang="fi-FI" dirty="0" smtClean="0"/>
              <a:t>&lt;0.1% </a:t>
            </a:r>
            <a:r>
              <a:rPr lang="fi-FI" dirty="0" smtClean="0"/>
              <a:t>interact”</a:t>
            </a:r>
            <a:endParaRPr lang="fi-FI" dirty="0" smtClean="0"/>
          </a:p>
          <a:p>
            <a:pPr lvl="1"/>
            <a:r>
              <a:rPr lang="fi-FI" sz="2400" dirty="0" smtClean="0">
                <a:hlinkClick r:id="rId2"/>
              </a:rPr>
              <a:t>http</a:t>
            </a:r>
            <a:r>
              <a:rPr lang="fi-FI" sz="2400" dirty="0">
                <a:hlinkClick r:id="rId2"/>
              </a:rPr>
              <a:t>://blogs.wsj.com/cmo/2014/11/17/brands-are-wasting-money-on-facebook-and-twitter-forrester-says</a:t>
            </a:r>
            <a:r>
              <a:rPr lang="fi-FI" sz="2400" dirty="0" smtClean="0">
                <a:hlinkClick r:id="rId2"/>
              </a:rPr>
              <a:t>/</a:t>
            </a:r>
            <a:r>
              <a:rPr lang="fi-FI" sz="2400" dirty="0" smtClean="0"/>
              <a:t> </a:t>
            </a:r>
          </a:p>
          <a:p>
            <a:r>
              <a:rPr lang="fi-FI" dirty="0" smtClean="0"/>
              <a:t>”Only </a:t>
            </a:r>
            <a:r>
              <a:rPr lang="fi-FI" dirty="0" smtClean="0"/>
              <a:t>9% of tweets mentioning companies start with @, which means 91% of people are talking </a:t>
            </a:r>
            <a:r>
              <a:rPr lang="fi-FI" b="1" dirty="0" smtClean="0"/>
              <a:t>ABOUT</a:t>
            </a:r>
            <a:r>
              <a:rPr lang="fi-FI" dirty="0" smtClean="0"/>
              <a:t> you, not </a:t>
            </a:r>
            <a:r>
              <a:rPr lang="fi-FI" b="1" dirty="0" smtClean="0"/>
              <a:t>TO</a:t>
            </a:r>
            <a:r>
              <a:rPr lang="fi-FI" dirty="0" smtClean="0"/>
              <a:t> </a:t>
            </a:r>
            <a:r>
              <a:rPr lang="fi-FI" dirty="0" smtClean="0"/>
              <a:t>you”</a:t>
            </a:r>
            <a:endParaRPr lang="fi-FI" dirty="0" smtClean="0"/>
          </a:p>
          <a:p>
            <a:pPr lvl="1"/>
            <a:r>
              <a:rPr lang="fi-FI" sz="2200" dirty="0">
                <a:hlinkClick r:id="rId3"/>
              </a:rPr>
              <a:t>https://</a:t>
            </a:r>
            <a:r>
              <a:rPr lang="fi-FI" sz="2200" dirty="0" smtClean="0">
                <a:hlinkClick r:id="rId3"/>
              </a:rPr>
              <a:t>econsultancy.com/blog/i.1bzytxp10pzdnh</a:t>
            </a:r>
            <a:r>
              <a:rPr lang="fi-FI" sz="2200" dirty="0" smtClean="0"/>
              <a:t> </a:t>
            </a:r>
            <a:endParaRPr lang="fi-FI" sz="2200" dirty="0" smtClean="0"/>
          </a:p>
          <a:p>
            <a:r>
              <a:rPr lang="fi-FI" dirty="0" smtClean="0"/>
              <a:t>Markets are </a:t>
            </a:r>
            <a:r>
              <a:rPr lang="fi-FI" dirty="0" smtClean="0">
                <a:hlinkClick r:id="rId4"/>
              </a:rPr>
              <a:t>conversations</a:t>
            </a:r>
            <a:r>
              <a:rPr lang="fi-FI" dirty="0" smtClean="0"/>
              <a:t>, as they always have been. Now the companies and brands just control an ever shrinking portion of it.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41577215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Flipping the old CRM patterns upside down</a:t>
            </a:r>
            <a:endParaRPr lang="fi-FI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i-FI" dirty="0" smtClean="0"/>
              <a:t>When it comes to marketing, outbound is ”out”, inbound is ”in”</a:t>
            </a:r>
          </a:p>
          <a:p>
            <a:r>
              <a:rPr lang="fi-FI" dirty="0" smtClean="0"/>
              <a:t>When it comes to service, your callcenter is the last point of contact for customers</a:t>
            </a:r>
          </a:p>
          <a:p>
            <a:r>
              <a:rPr lang="fi-FI" dirty="0" smtClean="0"/>
              <a:t>The consumers today often have better ”CRM systems” in place than you </a:t>
            </a:r>
            <a:r>
              <a:rPr lang="fi-FI" dirty="0" smtClean="0"/>
              <a:t>do:</a:t>
            </a:r>
            <a:endParaRPr lang="fi-FI" dirty="0" smtClean="0"/>
          </a:p>
          <a:p>
            <a:pPr lvl="1"/>
            <a:r>
              <a:rPr lang="fi-FI" dirty="0" smtClean="0"/>
              <a:t>Managing connections via FB &amp; LinkedIn</a:t>
            </a:r>
          </a:p>
          <a:p>
            <a:pPr lvl="1"/>
            <a:r>
              <a:rPr lang="fi-FI" dirty="0" smtClean="0"/>
              <a:t>Publishing and consuming content via blogs</a:t>
            </a:r>
          </a:p>
          <a:p>
            <a:pPr lvl="1"/>
            <a:r>
              <a:rPr lang="fi-FI" dirty="0" smtClean="0"/>
              <a:t>Monitoring signals via </a:t>
            </a:r>
            <a:r>
              <a:rPr lang="fi-FI" dirty="0" smtClean="0"/>
              <a:t>Twitter hashtags</a:t>
            </a:r>
            <a:endParaRPr lang="fi-FI" dirty="0" smtClean="0"/>
          </a:p>
          <a:p>
            <a:pPr lvl="1"/>
            <a:r>
              <a:rPr lang="fi-FI" dirty="0" smtClean="0"/>
              <a:t>Negotiating deals via auction &amp; price comparison sites</a:t>
            </a:r>
          </a:p>
          <a:p>
            <a:pPr lvl="1"/>
            <a:r>
              <a:rPr lang="fi-FI" dirty="0" smtClean="0"/>
              <a:t>Acquiring help </a:t>
            </a:r>
            <a:r>
              <a:rPr lang="fi-FI" dirty="0" smtClean="0"/>
              <a:t>via public forums (from eachother)</a:t>
            </a:r>
            <a:endParaRPr lang="fi-FI" dirty="0" smtClean="0"/>
          </a:p>
        </p:txBody>
      </p:sp>
    </p:spTree>
    <p:extLst>
      <p:ext uri="{BB962C8B-B14F-4D97-AF65-F5344CB8AC3E}">
        <p14:creationId xmlns:p14="http://schemas.microsoft.com/office/powerpoint/2010/main" val="37970824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smtClean="0"/>
              <a:t>Why CEM isn’t the new CRM</a:t>
            </a:r>
            <a:endParaRPr lang="fi-FI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i-FI" dirty="0" smtClean="0"/>
              <a:t>Some vendors claim that ”CRM has failed” and have started to talk </a:t>
            </a:r>
            <a:r>
              <a:rPr lang="fi-FI" dirty="0" smtClean="0"/>
              <a:t>only about </a:t>
            </a:r>
            <a:r>
              <a:rPr lang="fi-FI" dirty="0" smtClean="0"/>
              <a:t>CEM instead</a:t>
            </a:r>
          </a:p>
          <a:p>
            <a:pPr lvl="1"/>
            <a:r>
              <a:rPr lang="fi-FI" dirty="0" smtClean="0"/>
              <a:t>...Which of course stands for Customer </a:t>
            </a:r>
            <a:r>
              <a:rPr lang="fi-FI" dirty="0" smtClean="0"/>
              <a:t>Experience </a:t>
            </a:r>
            <a:r>
              <a:rPr lang="fi-FI" dirty="0" smtClean="0"/>
              <a:t>Management, or </a:t>
            </a:r>
            <a:r>
              <a:rPr lang="fi-FI" dirty="0" smtClean="0"/>
              <a:t>”Engagement</a:t>
            </a:r>
            <a:r>
              <a:rPr lang="fi-FI" dirty="0" smtClean="0"/>
              <a:t>”</a:t>
            </a:r>
            <a:endParaRPr lang="fi-FI" dirty="0" smtClean="0"/>
          </a:p>
          <a:p>
            <a:r>
              <a:rPr lang="fi-FI" dirty="0" smtClean="0"/>
              <a:t>Systems of engagement (CEM) </a:t>
            </a:r>
            <a:r>
              <a:rPr lang="fi-FI" dirty="0" smtClean="0"/>
              <a:t>are </a:t>
            </a:r>
            <a:r>
              <a:rPr lang="fi-FI" dirty="0" smtClean="0"/>
              <a:t>not </a:t>
            </a:r>
            <a:r>
              <a:rPr lang="fi-FI" dirty="0" smtClean="0"/>
              <a:t>going to replace </a:t>
            </a:r>
            <a:r>
              <a:rPr lang="fi-FI" dirty="0" smtClean="0"/>
              <a:t>the system of record (CRM), but they do complement one </a:t>
            </a:r>
            <a:r>
              <a:rPr lang="fi-FI" dirty="0" smtClean="0"/>
              <a:t>another (or should)</a:t>
            </a:r>
            <a:endParaRPr lang="fi-FI" dirty="0" smtClean="0"/>
          </a:p>
          <a:p>
            <a:pPr lvl="1"/>
            <a:r>
              <a:rPr lang="fi-FI" dirty="0">
                <a:hlinkClick r:id="rId2"/>
              </a:rPr>
              <a:t>http://www.zdnet.com/crm-has-failed-i-am-so-tired-of-hearing-that-7000033967</a:t>
            </a:r>
            <a:r>
              <a:rPr lang="fi-FI" dirty="0" smtClean="0">
                <a:hlinkClick r:id="rId2"/>
              </a:rPr>
              <a:t>/</a:t>
            </a:r>
            <a:r>
              <a:rPr lang="fi-FI" dirty="0" smtClean="0"/>
              <a:t> </a:t>
            </a:r>
          </a:p>
          <a:p>
            <a:r>
              <a:rPr lang="fi-FI" dirty="0" smtClean="0"/>
              <a:t>Regardless of this, your old CRM </a:t>
            </a:r>
            <a:r>
              <a:rPr lang="fi-FI" dirty="0" smtClean="0"/>
              <a:t>sitting inside your firewall, maintained only via manual entries from your sales reps, will gradually become obsolete</a:t>
            </a:r>
          </a:p>
          <a:p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24442779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i-FI" dirty="0" smtClean="0"/>
              <a:t>How Microsoft’s CRM offering has adapted to this</a:t>
            </a:r>
            <a:endParaRPr lang="fi-FI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i-FI" dirty="0" smtClean="0"/>
              <a:t>The Dynamics stack has grown to reflect the changing role of </a:t>
            </a:r>
            <a:r>
              <a:rPr lang="fi-FI" dirty="0" smtClean="0"/>
              <a:t>CRM via new cloud based layers:</a:t>
            </a:r>
            <a:endParaRPr lang="fi-FI" dirty="0" smtClean="0"/>
          </a:p>
          <a:p>
            <a:pPr lvl="1"/>
            <a:r>
              <a:rPr lang="fi-FI" dirty="0" smtClean="0"/>
              <a:t>Social Listening: monitoring the discussions, measuring sentiment</a:t>
            </a:r>
          </a:p>
          <a:p>
            <a:pPr lvl="1"/>
            <a:r>
              <a:rPr lang="fi-FI" dirty="0" smtClean="0"/>
              <a:t>Dynamics Marketing: data collection, lead nurturing, target segments</a:t>
            </a:r>
          </a:p>
          <a:p>
            <a:pPr lvl="1"/>
            <a:r>
              <a:rPr lang="fi-FI" dirty="0" smtClean="0"/>
              <a:t>Insights (via InsideView): identifying the right influencers for sales</a:t>
            </a:r>
          </a:p>
          <a:p>
            <a:pPr lvl="1"/>
            <a:r>
              <a:rPr lang="fi-FI" dirty="0" smtClean="0"/>
              <a:t>Parature: knowledge management, social customer service</a:t>
            </a:r>
          </a:p>
          <a:p>
            <a:r>
              <a:rPr lang="fi-FI" dirty="0" smtClean="0"/>
              <a:t>These </a:t>
            </a:r>
            <a:r>
              <a:rPr lang="fi-FI" dirty="0" smtClean="0"/>
              <a:t>new services are </a:t>
            </a:r>
            <a:r>
              <a:rPr lang="fi-FI" dirty="0" smtClean="0"/>
              <a:t>not phsically </a:t>
            </a:r>
            <a:r>
              <a:rPr lang="fi-FI" i="1" dirty="0" smtClean="0"/>
              <a:t>inside</a:t>
            </a:r>
            <a:r>
              <a:rPr lang="fi-FI" dirty="0" smtClean="0"/>
              <a:t> CRM, but the customer master </a:t>
            </a:r>
            <a:r>
              <a:rPr lang="fi-FI" dirty="0" smtClean="0"/>
              <a:t>record remains </a:t>
            </a:r>
            <a:r>
              <a:rPr lang="fi-FI" dirty="0" smtClean="0"/>
              <a:t>there via </a:t>
            </a:r>
            <a:r>
              <a:rPr lang="fi-FI" dirty="0" smtClean="0"/>
              <a:t>data integrations</a:t>
            </a:r>
          </a:p>
          <a:p>
            <a:r>
              <a:rPr lang="fi-FI" dirty="0" smtClean="0"/>
              <a:t>If a traditional CRM project started with defining </a:t>
            </a:r>
            <a:r>
              <a:rPr lang="fi-FI" i="1" dirty="0" smtClean="0"/>
              <a:t>”who is the customer”</a:t>
            </a:r>
            <a:r>
              <a:rPr lang="fi-FI" dirty="0" smtClean="0"/>
              <a:t>, perhaps now it would be more relevant to start with </a:t>
            </a:r>
            <a:r>
              <a:rPr lang="fi-FI" i="1" dirty="0" smtClean="0"/>
              <a:t>”</a:t>
            </a:r>
            <a:r>
              <a:rPr lang="fi-FI" b="1" i="1" dirty="0" smtClean="0"/>
              <a:t>where </a:t>
            </a:r>
            <a:r>
              <a:rPr lang="fi-FI" i="1" dirty="0" smtClean="0"/>
              <a:t>is the customer”</a:t>
            </a:r>
            <a:r>
              <a:rPr lang="fi-FI" dirty="0" smtClean="0"/>
              <a:t>?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40953968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i-FI" dirty="0" smtClean="0"/>
              <a:t>Thanks for reading/listening!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fi-FI" sz="2400" dirty="0" smtClean="0">
                <a:solidFill>
                  <a:schemeClr val="bg1"/>
                </a:solidFill>
              </a:rPr>
              <a:t>Subscribe to the </a:t>
            </a:r>
            <a:r>
              <a:rPr lang="fi-FI" sz="2400" b="1" dirty="0" smtClean="0">
                <a:solidFill>
                  <a:schemeClr val="bg1"/>
                </a:solidFill>
              </a:rPr>
              <a:t>Surviving CRM</a:t>
            </a:r>
            <a:r>
              <a:rPr lang="fi-FI" sz="2400" dirty="0" smtClean="0">
                <a:solidFill>
                  <a:schemeClr val="bg1"/>
                </a:solidFill>
              </a:rPr>
              <a:t> blog feed for more customer relationship management &amp; Dynamics CRM related content:</a:t>
            </a:r>
          </a:p>
          <a:p>
            <a:r>
              <a:rPr lang="en-US" sz="2400" dirty="0">
                <a:solidFill>
                  <a:schemeClr val="bg1"/>
                </a:solidFill>
                <a:hlinkClick r:id="rId2"/>
              </a:rPr>
              <a:t>http://niiranen.eu/crm</a:t>
            </a:r>
            <a:r>
              <a:rPr lang="en-US" sz="2400" dirty="0" smtClean="0">
                <a:solidFill>
                  <a:schemeClr val="bg1"/>
                </a:solidFill>
                <a:hlinkClick r:id="rId2"/>
              </a:rPr>
              <a:t>/</a:t>
            </a:r>
            <a:r>
              <a:rPr lang="en-US" sz="2400" dirty="0" smtClean="0">
                <a:solidFill>
                  <a:schemeClr val="bg1"/>
                </a:solidFill>
              </a:rPr>
              <a:t> 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9346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X_template.potx" id="{EB80BC65-1F7D-47FE-AE26-82DC4BBBDF8F}" vid="{45D77A42-99A4-4F29-A5C4-CC61A13B99E4}"/>
    </a:ext>
  </a:extLst>
</a:theme>
</file>

<file path=ppt/theme/theme2.xml><?xml version="1.0" encoding="utf-8"?>
<a:theme xmlns:a="http://schemas.openxmlformats.org/drawingml/2006/main" name="Mukautettu suunnittelumalli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X_template.potx" id="{EB80BC65-1F7D-47FE-AE26-82DC4BBBDF8F}" vid="{FFC12EE9-4900-4D96-BC6D-BE1F8A703730}"/>
    </a:ext>
  </a:extLst>
</a:theme>
</file>

<file path=ppt/theme/theme3.xml><?xml version="1.0" encoding="utf-8"?>
<a:theme xmlns:a="http://schemas.openxmlformats.org/drawingml/2006/main" name="1_Mukautettu suunnittelumalli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X_template.potx" id="{EB80BC65-1F7D-47FE-AE26-82DC4BBBDF8F}" vid="{9FBD5D33-D51F-43D9-93E4-80EF66E5D9C9}"/>
    </a:ext>
  </a:extLst>
</a:theme>
</file>

<file path=ppt/theme/theme4.xml><?xml version="1.0" encoding="utf-8"?>
<a:theme xmlns:a="http://schemas.openxmlformats.org/drawingml/2006/main" name="2_Mukautettu suunnittelumalli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X_template.potx" id="{EB80BC65-1F7D-47FE-AE26-82DC4BBBDF8F}" vid="{DA1CC48D-9C7E-4C78-97C4-84668C6F7F9A}"/>
    </a:ext>
  </a:extLst>
</a:theme>
</file>

<file path=ppt/theme/theme5.xml><?xml version="1.0" encoding="utf-8"?>
<a:theme xmlns:a="http://schemas.openxmlformats.org/drawingml/2006/main" name="Office-te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customXsn xmlns="http://schemas.microsoft.com/office/2006/metadata/customXsn">
  <xsnLocation/>
  <cached>True</cached>
  <openByDefault>True</openByDefault>
  <xsnScope/>
</customXsn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I Document" ma:contentTypeID="0x010100E6A19B01B868244895E9E1DD18A8015F00CFEC1B033C0E194F9FCF606E5E4B8225" ma:contentTypeVersion="15" ma:contentTypeDescription="" ma:contentTypeScope="" ma:versionID="12b64278555ec8bb5fcf3b7a07c4f4ee">
  <xsd:schema xmlns:xsd="http://www.w3.org/2001/XMLSchema" xmlns:xs="http://www.w3.org/2001/XMLSchema" xmlns:p="http://schemas.microsoft.com/office/2006/metadata/properties" xmlns:ns2="a68957de-6112-48b5-9eb0-77d056a26262" targetNamespace="http://schemas.microsoft.com/office/2006/metadata/properties" ma:root="true" ma:fieldsID="e79fc47ad215c10967248eb4506130b9" ns2:_="">
    <xsd:import namespace="a68957de-6112-48b5-9eb0-77d056a26262"/>
    <xsd:element name="properties">
      <xsd:complexType>
        <xsd:sequence>
          <xsd:element name="documentManagement">
            <xsd:complexType>
              <xsd:all>
                <xsd:element ref="ns2:TaxCatchAll" minOccurs="0"/>
                <xsd:element ref="ns2:TaxCatchAllLabel" minOccurs="0"/>
                <xsd:element ref="ns2:TaxKeyword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8957de-6112-48b5-9eb0-77d056a26262" elementFormDefault="qualified">
    <xsd:import namespace="http://schemas.microsoft.com/office/2006/documentManagement/types"/>
    <xsd:import namespace="http://schemas.microsoft.com/office/infopath/2007/PartnerControls"/>
    <xsd:element name="TaxCatchAll" ma:index="8" nillable="true" ma:displayName="Taxonomy Catch All Column" ma:hidden="true" ma:list="{580554e9-393c-4bd7-a20d-be8c0080392c}" ma:internalName="TaxCatchAll" ma:showField="CatchAllData" ma:web="1e923678-eea3-4704-b7fe-d4e44de1662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9" nillable="true" ma:displayName="Taxonomy Catch All Column1" ma:hidden="true" ma:list="{580554e9-393c-4bd7-a20d-be8c0080392c}" ma:internalName="TaxCatchAllLabel" ma:readOnly="true" ma:showField="CatchAllDataLabel" ma:web="1e923678-eea3-4704-b7fe-d4e44de1662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KeywordTaxHTField" ma:index="10" nillable="true" ma:taxonomy="true" ma:internalName="TaxKeywordTaxHTField" ma:taxonomyFieldName="TaxKeyword" ma:displayName="Enterprise Keywords" ma:fieldId="{23f27201-bee3-471e-b2e7-b64fd8b7ca38}" ma:taxonomyMulti="true" ma:sspId="649a360c-ce61-4166-b87e-c4cdda515172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68957de-6112-48b5-9eb0-77d056a26262"/>
    <TaxKeywordTaxHTField xmlns="a68957de-6112-48b5-9eb0-77d056a26262">
      <Terms xmlns="http://schemas.microsoft.com/office/infopath/2007/PartnerControls"/>
    </TaxKeywordTaxHTField>
  </documentManagement>
</p:properties>
</file>

<file path=customXml/itemProps1.xml><?xml version="1.0" encoding="utf-8"?>
<ds:datastoreItem xmlns:ds="http://schemas.openxmlformats.org/officeDocument/2006/customXml" ds:itemID="{AB020148-C318-41E1-8776-6CD8ABC444D8}">
  <ds:schemaRefs>
    <ds:schemaRef ds:uri="http://schemas.microsoft.com/office/2006/metadata/customXsn"/>
  </ds:schemaRefs>
</ds:datastoreItem>
</file>

<file path=customXml/itemProps2.xml><?xml version="1.0" encoding="utf-8"?>
<ds:datastoreItem xmlns:ds="http://schemas.openxmlformats.org/officeDocument/2006/customXml" ds:itemID="{950DE21F-524A-43A6-939F-D5CFAFB7F1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68957de-6112-48b5-9eb0-77d056a2626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268629B-9075-4505-ACC9-29DA7209EE62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28D6B094-557C-46E5-A62E-A99772DA6067}">
  <ds:schemaRefs>
    <ds:schemaRef ds:uri="http://purl.org/dc/terms/"/>
    <ds:schemaRef ds:uri="http://schemas.microsoft.com/office/2006/documentManagement/types"/>
    <ds:schemaRef ds:uri="http://www.w3.org/XML/1998/namespace"/>
    <ds:schemaRef ds:uri="http://purl.org/dc/elements/1.1/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a68957de-6112-48b5-9eb0-77d056a2626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313</TotalTime>
  <Words>1303</Words>
  <Application>Microsoft Office PowerPoint</Application>
  <PresentationFormat>On-screen Show (4:3)</PresentationFormat>
  <Paragraphs>136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Office-teema</vt:lpstr>
      <vt:lpstr>Mukautettu suunnittelumalli</vt:lpstr>
      <vt:lpstr>1_Mukautettu suunnittelumalli</vt:lpstr>
      <vt:lpstr>2_Mukautettu suunnittelumalli</vt:lpstr>
      <vt:lpstr>Who is the customer in your CRM? #CRMRocks podcast</vt:lpstr>
      <vt:lpstr>About</vt:lpstr>
      <vt:lpstr>Topics</vt:lpstr>
      <vt:lpstr>Who is your customer?</vt:lpstr>
      <vt:lpstr>How to determine the customer</vt:lpstr>
      <vt:lpstr>Customer vs. customer relationship</vt:lpstr>
      <vt:lpstr>B2B customer modeling</vt:lpstr>
      <vt:lpstr>Hierarchy</vt:lpstr>
      <vt:lpstr>Network</vt:lpstr>
      <vt:lpstr>Data sources</vt:lpstr>
      <vt:lpstr>Segmenting your customers</vt:lpstr>
      <vt:lpstr>What makes segmenting so difficult?</vt:lpstr>
      <vt:lpstr>Examples of basic segmentation models</vt:lpstr>
      <vt:lpstr>The role of non-customers in CRM</vt:lpstr>
      <vt:lpstr>If the ”C” in CRM stands for ”Customer” then why…</vt:lpstr>
      <vt:lpstr>Who should be in your CRM then?</vt:lpstr>
      <vt:lpstr>Why Social CRM is the new CRM</vt:lpstr>
      <vt:lpstr>A few stats on social engagement</vt:lpstr>
      <vt:lpstr>Flipping the old CRM patterns upside down</vt:lpstr>
      <vt:lpstr>Why CEM isn’t the new CRM</vt:lpstr>
      <vt:lpstr>How Microsoft’s CRM offering has adapted to this</vt:lpstr>
      <vt:lpstr>Thanks for reading/listening!</vt:lpstr>
    </vt:vector>
  </TitlesOfParts>
  <Company>Hewlett-Packard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Who is the customer in your CRM?</dc:title>
  <dc:creator>Jukka Niiranen</dc:creator>
  <cp:lastModifiedBy>Jukka Niiranen</cp:lastModifiedBy>
  <cp:revision>37</cp:revision>
  <dcterms:created xsi:type="dcterms:W3CDTF">2014-11-24T16:31:08Z</dcterms:created>
  <dcterms:modified xsi:type="dcterms:W3CDTF">2014-12-08T20:04:14Z</dcterms:modified>
  <cp:category>Podcast, CRM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0x010100E6A19B01B868244895E9E1DD18A8015F00CFEC1B033C0E194F9FCF606E5E4B8225</vt:lpwstr>
  </property>
  <property fmtid="{D5CDD505-2E9C-101B-9397-08002B2CF9AE}" pid="3" name="_dlc_DocIdItemGuid">
    <vt:lpwstr>0b637fa5-84ed-461a-b878-3934951bf2fc</vt:lpwstr>
  </property>
</Properties>
</file>