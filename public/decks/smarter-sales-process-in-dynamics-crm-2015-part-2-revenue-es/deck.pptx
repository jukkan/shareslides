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  <p:sldMasterId id="2147483660" r:id="rId6"/>
    <p:sldMasterId id="2147483673" r:id="rId7"/>
    <p:sldMasterId id="2147483685" r:id="rId8"/>
  </p:sldMasterIdLst>
  <p:notesMasterIdLst>
    <p:notesMasterId r:id="rId28"/>
  </p:notesMasterIdLst>
  <p:sldIdLst>
    <p:sldId id="256" r:id="rId9"/>
    <p:sldId id="301" r:id="rId10"/>
    <p:sldId id="286" r:id="rId11"/>
    <p:sldId id="300" r:id="rId12"/>
    <p:sldId id="258" r:id="rId13"/>
    <p:sldId id="260" r:id="rId14"/>
    <p:sldId id="305" r:id="rId15"/>
    <p:sldId id="306" r:id="rId16"/>
    <p:sldId id="307" r:id="rId17"/>
    <p:sldId id="308" r:id="rId18"/>
    <p:sldId id="309" r:id="rId19"/>
    <p:sldId id="310" r:id="rId20"/>
    <p:sldId id="311" r:id="rId21"/>
    <p:sldId id="312" r:id="rId22"/>
    <p:sldId id="313" r:id="rId23"/>
    <p:sldId id="314" r:id="rId24"/>
    <p:sldId id="315" r:id="rId25"/>
    <p:sldId id="302" r:id="rId26"/>
    <p:sldId id="303" r:id="rId27"/>
  </p:sldIdLst>
  <p:sldSz cx="9144000" cy="6858000" type="screen4x3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B6AE"/>
    <a:srgbClr val="52C2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>
      <p:cViewPr varScale="1">
        <p:scale>
          <a:sx n="116" d="100"/>
          <a:sy n="116" d="100"/>
        </p:scale>
        <p:origin x="1500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87FE64-C2BB-4301-B7F2-BCE47EB5A8A1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</dgm:pt>
    <dgm:pt modelId="{9F0E073A-640B-4BF5-88C9-D781341EFD8E}">
      <dgm:prSet phldrT="[Text]"/>
      <dgm:spPr/>
      <dgm:t>
        <a:bodyPr/>
        <a:lstStyle/>
        <a:p>
          <a:r>
            <a:rPr lang="fi-FI" smtClean="0"/>
            <a:t>1. Lead qualification</a:t>
          </a:r>
          <a:endParaRPr lang="fi-FI"/>
        </a:p>
      </dgm:t>
    </dgm:pt>
    <dgm:pt modelId="{89916C81-5C51-4407-BE2E-7FC1505F2520}" type="parTrans" cxnId="{CC4A8533-69F8-4BBD-8C43-4BF73DE40E48}">
      <dgm:prSet/>
      <dgm:spPr/>
      <dgm:t>
        <a:bodyPr/>
        <a:lstStyle/>
        <a:p>
          <a:endParaRPr lang="fi-FI"/>
        </a:p>
      </dgm:t>
    </dgm:pt>
    <dgm:pt modelId="{80DDFE8E-AD40-4262-8ED8-EE25603E7DEA}" type="sibTrans" cxnId="{CC4A8533-69F8-4BBD-8C43-4BF73DE40E48}">
      <dgm:prSet/>
      <dgm:spPr/>
      <dgm:t>
        <a:bodyPr/>
        <a:lstStyle/>
        <a:p>
          <a:endParaRPr lang="fi-FI"/>
        </a:p>
      </dgm:t>
    </dgm:pt>
    <dgm:pt modelId="{5C1C9C49-9D29-428B-B8FC-2E999A0DEBE9}">
      <dgm:prSet phldrT="[Text]"/>
      <dgm:spPr/>
      <dgm:t>
        <a:bodyPr/>
        <a:lstStyle/>
        <a:p>
          <a:r>
            <a:rPr lang="fi-FI" dirty="0" smtClean="0"/>
            <a:t>2. </a:t>
          </a:r>
          <a:r>
            <a:rPr lang="fi-FI" smtClean="0"/>
            <a:t>Opportunity revenue estimation</a:t>
          </a:r>
          <a:endParaRPr lang="fi-FI" dirty="0"/>
        </a:p>
      </dgm:t>
    </dgm:pt>
    <dgm:pt modelId="{A16DCC53-40A6-4BEB-8C25-F8E56595A551}" type="parTrans" cxnId="{B543C497-DD4F-46A0-905F-C4AF03B2E759}">
      <dgm:prSet/>
      <dgm:spPr/>
      <dgm:t>
        <a:bodyPr/>
        <a:lstStyle/>
        <a:p>
          <a:endParaRPr lang="fi-FI"/>
        </a:p>
      </dgm:t>
    </dgm:pt>
    <dgm:pt modelId="{8D24CDA5-24DF-492F-85C2-FCB4570674A4}" type="sibTrans" cxnId="{B543C497-DD4F-46A0-905F-C4AF03B2E759}">
      <dgm:prSet/>
      <dgm:spPr/>
      <dgm:t>
        <a:bodyPr/>
        <a:lstStyle/>
        <a:p>
          <a:endParaRPr lang="fi-FI"/>
        </a:p>
      </dgm:t>
    </dgm:pt>
    <dgm:pt modelId="{96138742-60ED-44AE-892F-A90C11A8E995}">
      <dgm:prSet phldrT="[Text]"/>
      <dgm:spPr/>
      <dgm:t>
        <a:bodyPr/>
        <a:lstStyle/>
        <a:p>
          <a:r>
            <a:rPr lang="fi-FI" dirty="0" smtClean="0"/>
            <a:t>Convert leads to influencers instead of new opportunities</a:t>
          </a:r>
          <a:endParaRPr lang="fi-FI" dirty="0"/>
        </a:p>
      </dgm:t>
    </dgm:pt>
    <dgm:pt modelId="{F2D8563A-8DB5-49D2-A5CD-AF75AC7B815B}" type="parTrans" cxnId="{04D349E3-FAC3-4009-A16B-B0C54313383C}">
      <dgm:prSet/>
      <dgm:spPr/>
      <dgm:t>
        <a:bodyPr/>
        <a:lstStyle/>
        <a:p>
          <a:endParaRPr lang="fi-FI"/>
        </a:p>
      </dgm:t>
    </dgm:pt>
    <dgm:pt modelId="{8F6A1A03-0C38-43AD-B343-3F58132B2E83}" type="sibTrans" cxnId="{04D349E3-FAC3-4009-A16B-B0C54313383C}">
      <dgm:prSet/>
      <dgm:spPr/>
      <dgm:t>
        <a:bodyPr/>
        <a:lstStyle/>
        <a:p>
          <a:endParaRPr lang="fi-FI"/>
        </a:p>
      </dgm:t>
    </dgm:pt>
    <dgm:pt modelId="{D9D0F459-4D3B-495E-A5C6-D6A1BE061048}">
      <dgm:prSet phldrT="[Text]"/>
      <dgm:spPr/>
      <dgm:t>
        <a:bodyPr/>
        <a:lstStyle/>
        <a:p>
          <a:r>
            <a:rPr lang="fi-FI" dirty="0" smtClean="0"/>
            <a:t>Calculate opportunity total value from day &amp; rate fields</a:t>
          </a:r>
          <a:endParaRPr lang="fi-FI" dirty="0"/>
        </a:p>
      </dgm:t>
    </dgm:pt>
    <dgm:pt modelId="{65E24E88-5C02-4F0B-8752-64799FC3424C}" type="parTrans" cxnId="{F41043E6-05EC-4C9A-985C-A2AAF9852048}">
      <dgm:prSet/>
      <dgm:spPr/>
      <dgm:t>
        <a:bodyPr/>
        <a:lstStyle/>
        <a:p>
          <a:endParaRPr lang="fi-FI"/>
        </a:p>
      </dgm:t>
    </dgm:pt>
    <dgm:pt modelId="{5C0D36D0-FCE7-400C-8CC5-C11623ECAB21}" type="sibTrans" cxnId="{F41043E6-05EC-4C9A-985C-A2AAF9852048}">
      <dgm:prSet/>
      <dgm:spPr/>
      <dgm:t>
        <a:bodyPr/>
        <a:lstStyle/>
        <a:p>
          <a:endParaRPr lang="fi-FI"/>
        </a:p>
      </dgm:t>
    </dgm:pt>
    <dgm:pt modelId="{D7C9A7BE-2417-428B-9524-31D170AA44D3}">
      <dgm:prSet phldrT="[Text]"/>
      <dgm:spPr/>
      <dgm:t>
        <a:bodyPr/>
        <a:lstStyle/>
        <a:p>
          <a:r>
            <a:rPr lang="fi-FI" smtClean="0"/>
            <a:t>3. Pipeline development</a:t>
          </a:r>
          <a:endParaRPr lang="fi-FI"/>
        </a:p>
      </dgm:t>
    </dgm:pt>
    <dgm:pt modelId="{EEBEB180-8409-49F8-B053-691255906D35}" type="parTrans" cxnId="{442EA19D-4F50-498C-BBEF-EBD3D215A39C}">
      <dgm:prSet/>
      <dgm:spPr/>
      <dgm:t>
        <a:bodyPr/>
        <a:lstStyle/>
        <a:p>
          <a:endParaRPr lang="fi-FI"/>
        </a:p>
      </dgm:t>
    </dgm:pt>
    <dgm:pt modelId="{67B7C185-F0C4-4078-BD48-C99002C2EF6C}" type="sibTrans" cxnId="{442EA19D-4F50-498C-BBEF-EBD3D215A39C}">
      <dgm:prSet/>
      <dgm:spPr/>
      <dgm:t>
        <a:bodyPr/>
        <a:lstStyle/>
        <a:p>
          <a:endParaRPr lang="fi-FI"/>
        </a:p>
      </dgm:t>
    </dgm:pt>
    <dgm:pt modelId="{E47301C1-5CCB-4056-B1EA-D12FF7E9F61E}">
      <dgm:prSet phldrT="[Text]"/>
      <dgm:spPr/>
      <dgm:t>
        <a:bodyPr/>
        <a:lstStyle/>
        <a:p>
          <a:r>
            <a:rPr lang="fi-FI" dirty="0" smtClean="0"/>
            <a:t>Capture opportunity count and revenue per sales stage</a:t>
          </a:r>
          <a:endParaRPr lang="fi-FI" dirty="0"/>
        </a:p>
      </dgm:t>
    </dgm:pt>
    <dgm:pt modelId="{986194D5-51A3-4B1F-9A2F-41AB6B207A0B}" type="parTrans" cxnId="{B6C34A62-EF08-4961-B00D-0C6C706D0E68}">
      <dgm:prSet/>
      <dgm:spPr/>
      <dgm:t>
        <a:bodyPr/>
        <a:lstStyle/>
        <a:p>
          <a:endParaRPr lang="fi-FI"/>
        </a:p>
      </dgm:t>
    </dgm:pt>
    <dgm:pt modelId="{EAE78C0B-4664-4C28-B562-ECB8D2F7A72A}" type="sibTrans" cxnId="{B6C34A62-EF08-4961-B00D-0C6C706D0E68}">
      <dgm:prSet/>
      <dgm:spPr/>
      <dgm:t>
        <a:bodyPr/>
        <a:lstStyle/>
        <a:p>
          <a:endParaRPr lang="fi-FI"/>
        </a:p>
      </dgm:t>
    </dgm:pt>
    <dgm:pt modelId="{63AE6570-59A5-41D1-AD20-B5B9C0066A95}">
      <dgm:prSet phldrT="[Text]"/>
      <dgm:spPr/>
      <dgm:t>
        <a:bodyPr/>
        <a:lstStyle/>
        <a:p>
          <a:r>
            <a:rPr lang="fi-FI" dirty="0" smtClean="0"/>
            <a:t>Streamline data entry for leads on existing accounts &amp; contacts</a:t>
          </a:r>
          <a:endParaRPr lang="fi-FI" dirty="0"/>
        </a:p>
      </dgm:t>
    </dgm:pt>
    <dgm:pt modelId="{F7C70AAA-0EB3-45D4-B28B-704B1B34685E}" type="parTrans" cxnId="{75D3E539-38C2-44C7-8EC6-E3D157AD4CFD}">
      <dgm:prSet/>
      <dgm:spPr/>
      <dgm:t>
        <a:bodyPr/>
        <a:lstStyle/>
        <a:p>
          <a:endParaRPr lang="en-US"/>
        </a:p>
      </dgm:t>
    </dgm:pt>
    <dgm:pt modelId="{19760A60-D84C-4A30-8980-DD95DE823024}" type="sibTrans" cxnId="{75D3E539-38C2-44C7-8EC6-E3D157AD4CFD}">
      <dgm:prSet/>
      <dgm:spPr/>
      <dgm:t>
        <a:bodyPr/>
        <a:lstStyle/>
        <a:p>
          <a:endParaRPr lang="en-US"/>
        </a:p>
      </dgm:t>
    </dgm:pt>
    <dgm:pt modelId="{063B73BF-F252-4336-AD7D-0DBE2C6841A3}">
      <dgm:prSet phldrT="[Text]"/>
      <dgm:spPr/>
      <dgm:t>
        <a:bodyPr/>
        <a:lstStyle/>
        <a:p>
          <a:r>
            <a:rPr lang="fi-FI" dirty="0" smtClean="0"/>
            <a:t>Schedule data snapshots of historical pipeline size</a:t>
          </a:r>
          <a:endParaRPr lang="fi-FI" dirty="0"/>
        </a:p>
      </dgm:t>
    </dgm:pt>
    <dgm:pt modelId="{C4CD97B3-EC37-45FC-B831-D8984E338889}" type="parTrans" cxnId="{89774B2D-B364-4652-8A20-6AF3C747A9DD}">
      <dgm:prSet/>
      <dgm:spPr/>
      <dgm:t>
        <a:bodyPr/>
        <a:lstStyle/>
        <a:p>
          <a:endParaRPr lang="en-US"/>
        </a:p>
      </dgm:t>
    </dgm:pt>
    <dgm:pt modelId="{80CB20BB-76AE-4C20-A75E-3117A21DAA8A}" type="sibTrans" cxnId="{89774B2D-B364-4652-8A20-6AF3C747A9DD}">
      <dgm:prSet/>
      <dgm:spPr/>
      <dgm:t>
        <a:bodyPr/>
        <a:lstStyle/>
        <a:p>
          <a:endParaRPr lang="en-US"/>
        </a:p>
      </dgm:t>
    </dgm:pt>
    <dgm:pt modelId="{592E6204-DE1C-4ABC-A59D-E7696CAD8E9F}">
      <dgm:prSet phldrT="[Text]"/>
      <dgm:spPr/>
      <dgm:t>
        <a:bodyPr/>
        <a:lstStyle/>
        <a:p>
          <a:r>
            <a:rPr lang="fi-FI" dirty="0" smtClean="0"/>
            <a:t>Replace opportunity product lines with predefined cost estimate fields</a:t>
          </a:r>
          <a:endParaRPr lang="fi-FI" dirty="0"/>
        </a:p>
      </dgm:t>
    </dgm:pt>
    <dgm:pt modelId="{214BCB3B-3B82-47AF-8C7A-C8263E0B9B8B}" type="parTrans" cxnId="{53969597-839D-41FE-8F09-7645D94275C1}">
      <dgm:prSet/>
      <dgm:spPr/>
      <dgm:t>
        <a:bodyPr/>
        <a:lstStyle/>
        <a:p>
          <a:endParaRPr lang="en-US"/>
        </a:p>
      </dgm:t>
    </dgm:pt>
    <dgm:pt modelId="{68705A3D-2BC7-497D-9BED-47B2E9350867}" type="sibTrans" cxnId="{53969597-839D-41FE-8F09-7645D94275C1}">
      <dgm:prSet/>
      <dgm:spPr/>
      <dgm:t>
        <a:bodyPr/>
        <a:lstStyle/>
        <a:p>
          <a:endParaRPr lang="en-US"/>
        </a:p>
      </dgm:t>
    </dgm:pt>
    <dgm:pt modelId="{8AB1583F-9843-4E83-BB0A-FE994500197A}" type="pres">
      <dgm:prSet presAssocID="{B787FE64-C2BB-4301-B7F2-BCE47EB5A8A1}" presName="linearFlow" presStyleCnt="0">
        <dgm:presLayoutVars>
          <dgm:dir/>
          <dgm:animLvl val="lvl"/>
          <dgm:resizeHandles val="exact"/>
        </dgm:presLayoutVars>
      </dgm:prSet>
      <dgm:spPr/>
    </dgm:pt>
    <dgm:pt modelId="{09F29E2F-C511-4CD4-AACB-89D164589693}" type="pres">
      <dgm:prSet presAssocID="{9F0E073A-640B-4BF5-88C9-D781341EFD8E}" presName="composite" presStyleCnt="0"/>
      <dgm:spPr/>
    </dgm:pt>
    <dgm:pt modelId="{8592E055-5121-413D-8221-CC13F3757FBB}" type="pres">
      <dgm:prSet presAssocID="{9F0E073A-640B-4BF5-88C9-D781341EFD8E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619BA2E-BE08-4CC6-A47A-E0D61256D833}" type="pres">
      <dgm:prSet presAssocID="{9F0E073A-640B-4BF5-88C9-D781341EFD8E}" presName="parSh" presStyleLbl="node1" presStyleIdx="0" presStyleCnt="3"/>
      <dgm:spPr/>
      <dgm:t>
        <a:bodyPr/>
        <a:lstStyle/>
        <a:p>
          <a:endParaRPr lang="en-US"/>
        </a:p>
      </dgm:t>
    </dgm:pt>
    <dgm:pt modelId="{494C6FA9-0797-49D7-AC78-22EFD31C0947}" type="pres">
      <dgm:prSet presAssocID="{9F0E073A-640B-4BF5-88C9-D781341EFD8E}" presName="desTx" presStyleLbl="fgAcc1" presStyleIdx="0" presStyleCnt="3">
        <dgm:presLayoutVars>
          <dgm:bulletEnabled val="1"/>
        </dgm:presLayoutVars>
      </dgm:prSet>
      <dgm:spPr/>
      <dgm:t>
        <a:bodyPr/>
        <a:lstStyle/>
        <a:p>
          <a:endParaRPr lang="fi-FI"/>
        </a:p>
      </dgm:t>
    </dgm:pt>
    <dgm:pt modelId="{ECD0A5E5-A6BB-45C6-B0AA-112A708C7D3A}" type="pres">
      <dgm:prSet presAssocID="{80DDFE8E-AD40-4262-8ED8-EE25603E7DEA}" presName="sibTrans" presStyleLbl="sibTrans2D1" presStyleIdx="0" presStyleCnt="2"/>
      <dgm:spPr/>
      <dgm:t>
        <a:bodyPr/>
        <a:lstStyle/>
        <a:p>
          <a:endParaRPr lang="en-US"/>
        </a:p>
      </dgm:t>
    </dgm:pt>
    <dgm:pt modelId="{F6DD8874-8DAC-4417-A6C1-97589456A657}" type="pres">
      <dgm:prSet presAssocID="{80DDFE8E-AD40-4262-8ED8-EE25603E7DEA}" presName="connTx" presStyleLbl="sibTrans2D1" presStyleIdx="0" presStyleCnt="2"/>
      <dgm:spPr/>
      <dgm:t>
        <a:bodyPr/>
        <a:lstStyle/>
        <a:p>
          <a:endParaRPr lang="en-US"/>
        </a:p>
      </dgm:t>
    </dgm:pt>
    <dgm:pt modelId="{1EEAA572-1D38-44BC-9192-8110A1732768}" type="pres">
      <dgm:prSet presAssocID="{5C1C9C49-9D29-428B-B8FC-2E999A0DEBE9}" presName="composite" presStyleCnt="0"/>
      <dgm:spPr/>
    </dgm:pt>
    <dgm:pt modelId="{551F2636-F6B7-47D6-97C8-BE70EB6C5BE1}" type="pres">
      <dgm:prSet presAssocID="{5C1C9C49-9D29-428B-B8FC-2E999A0DEBE9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i-FI"/>
        </a:p>
      </dgm:t>
    </dgm:pt>
    <dgm:pt modelId="{4E0D7149-43FB-4772-961E-7B949F764B77}" type="pres">
      <dgm:prSet presAssocID="{5C1C9C49-9D29-428B-B8FC-2E999A0DEBE9}" presName="parSh" presStyleLbl="node1" presStyleIdx="1" presStyleCnt="3"/>
      <dgm:spPr/>
      <dgm:t>
        <a:bodyPr/>
        <a:lstStyle/>
        <a:p>
          <a:endParaRPr lang="fi-FI"/>
        </a:p>
      </dgm:t>
    </dgm:pt>
    <dgm:pt modelId="{5D626858-44C3-4F70-B731-89D7137D3000}" type="pres">
      <dgm:prSet presAssocID="{5C1C9C49-9D29-428B-B8FC-2E999A0DEBE9}" presName="desTx" presStyleLbl="fgAcc1" presStyleIdx="1" presStyleCnt="3">
        <dgm:presLayoutVars>
          <dgm:bulletEnabled val="1"/>
        </dgm:presLayoutVars>
      </dgm:prSet>
      <dgm:spPr/>
      <dgm:t>
        <a:bodyPr/>
        <a:lstStyle/>
        <a:p>
          <a:endParaRPr lang="fi-FI"/>
        </a:p>
      </dgm:t>
    </dgm:pt>
    <dgm:pt modelId="{C3F39163-B775-4C27-9F1D-0FE9D17D7250}" type="pres">
      <dgm:prSet presAssocID="{8D24CDA5-24DF-492F-85C2-FCB4570674A4}" presName="sibTrans" presStyleLbl="sibTrans2D1" presStyleIdx="1" presStyleCnt="2"/>
      <dgm:spPr/>
      <dgm:t>
        <a:bodyPr/>
        <a:lstStyle/>
        <a:p>
          <a:endParaRPr lang="en-US"/>
        </a:p>
      </dgm:t>
    </dgm:pt>
    <dgm:pt modelId="{741AC030-9FE2-408E-93A1-F290A76E526D}" type="pres">
      <dgm:prSet presAssocID="{8D24CDA5-24DF-492F-85C2-FCB4570674A4}" presName="connTx" presStyleLbl="sibTrans2D1" presStyleIdx="1" presStyleCnt="2"/>
      <dgm:spPr/>
      <dgm:t>
        <a:bodyPr/>
        <a:lstStyle/>
        <a:p>
          <a:endParaRPr lang="en-US"/>
        </a:p>
      </dgm:t>
    </dgm:pt>
    <dgm:pt modelId="{965753DB-B765-44D1-88E9-4ACEA6D4E2A5}" type="pres">
      <dgm:prSet presAssocID="{D7C9A7BE-2417-428B-9524-31D170AA44D3}" presName="composite" presStyleCnt="0"/>
      <dgm:spPr/>
    </dgm:pt>
    <dgm:pt modelId="{F3156236-7221-446C-894E-CF837B996F59}" type="pres">
      <dgm:prSet presAssocID="{D7C9A7BE-2417-428B-9524-31D170AA44D3}" presName="parTx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574652-5298-44E5-A829-C7FC8CE7AF2C}" type="pres">
      <dgm:prSet presAssocID="{D7C9A7BE-2417-428B-9524-31D170AA44D3}" presName="parSh" presStyleLbl="node1" presStyleIdx="2" presStyleCnt="3"/>
      <dgm:spPr/>
      <dgm:t>
        <a:bodyPr/>
        <a:lstStyle/>
        <a:p>
          <a:endParaRPr lang="en-US"/>
        </a:p>
      </dgm:t>
    </dgm:pt>
    <dgm:pt modelId="{6D2D5376-477E-4C50-9A39-2D5013F247E3}" type="pres">
      <dgm:prSet presAssocID="{D7C9A7BE-2417-428B-9524-31D170AA44D3}" presName="desTx" presStyleLbl="fgAcc1" presStyleIdx="2" presStyleCnt="3">
        <dgm:presLayoutVars>
          <dgm:bulletEnabled val="1"/>
        </dgm:presLayoutVars>
      </dgm:prSet>
      <dgm:spPr/>
      <dgm:t>
        <a:bodyPr/>
        <a:lstStyle/>
        <a:p>
          <a:endParaRPr lang="fi-FI"/>
        </a:p>
      </dgm:t>
    </dgm:pt>
  </dgm:ptLst>
  <dgm:cxnLst>
    <dgm:cxn modelId="{53969597-839D-41FE-8F09-7645D94275C1}" srcId="{5C1C9C49-9D29-428B-B8FC-2E999A0DEBE9}" destId="{592E6204-DE1C-4ABC-A59D-E7696CAD8E9F}" srcOrd="0" destOrd="0" parTransId="{214BCB3B-3B82-47AF-8C7A-C8263E0B9B8B}" sibTransId="{68705A3D-2BC7-497D-9BED-47B2E9350867}"/>
    <dgm:cxn modelId="{B6C34A62-EF08-4961-B00D-0C6C706D0E68}" srcId="{D7C9A7BE-2417-428B-9524-31D170AA44D3}" destId="{E47301C1-5CCB-4056-B1EA-D12FF7E9F61E}" srcOrd="0" destOrd="0" parTransId="{986194D5-51A3-4B1F-9A2F-41AB6B207A0B}" sibTransId="{EAE78C0B-4664-4C28-B562-ECB8D2F7A72A}"/>
    <dgm:cxn modelId="{89774B2D-B364-4652-8A20-6AF3C747A9DD}" srcId="{D7C9A7BE-2417-428B-9524-31D170AA44D3}" destId="{063B73BF-F252-4336-AD7D-0DBE2C6841A3}" srcOrd="1" destOrd="0" parTransId="{C4CD97B3-EC37-45FC-B831-D8984E338889}" sibTransId="{80CB20BB-76AE-4C20-A75E-3117A21DAA8A}"/>
    <dgm:cxn modelId="{B57E1CC1-75FD-4BF7-8C9A-ECBE84C60D77}" type="presOf" srcId="{592E6204-DE1C-4ABC-A59D-E7696CAD8E9F}" destId="{5D626858-44C3-4F70-B731-89D7137D3000}" srcOrd="0" destOrd="0" presId="urn:microsoft.com/office/officeart/2005/8/layout/process3"/>
    <dgm:cxn modelId="{F41043E6-05EC-4C9A-985C-A2AAF9852048}" srcId="{5C1C9C49-9D29-428B-B8FC-2E999A0DEBE9}" destId="{D9D0F459-4D3B-495E-A5C6-D6A1BE061048}" srcOrd="1" destOrd="0" parTransId="{65E24E88-5C02-4F0B-8752-64799FC3424C}" sibTransId="{5C0D36D0-FCE7-400C-8CC5-C11623ECAB21}"/>
    <dgm:cxn modelId="{862FD4D1-81A1-4A78-8549-BC505F192170}" type="presOf" srcId="{5C1C9C49-9D29-428B-B8FC-2E999A0DEBE9}" destId="{4E0D7149-43FB-4772-961E-7B949F764B77}" srcOrd="1" destOrd="0" presId="urn:microsoft.com/office/officeart/2005/8/layout/process3"/>
    <dgm:cxn modelId="{EA726688-E6DD-4510-A03A-A53F651F5DC6}" type="presOf" srcId="{B787FE64-C2BB-4301-B7F2-BCE47EB5A8A1}" destId="{8AB1583F-9843-4E83-BB0A-FE994500197A}" srcOrd="0" destOrd="0" presId="urn:microsoft.com/office/officeart/2005/8/layout/process3"/>
    <dgm:cxn modelId="{75D3E539-38C2-44C7-8EC6-E3D157AD4CFD}" srcId="{9F0E073A-640B-4BF5-88C9-D781341EFD8E}" destId="{63AE6570-59A5-41D1-AD20-B5B9C0066A95}" srcOrd="0" destOrd="0" parTransId="{F7C70AAA-0EB3-45D4-B28B-704B1B34685E}" sibTransId="{19760A60-D84C-4A30-8980-DD95DE823024}"/>
    <dgm:cxn modelId="{749B6DFA-DD53-4D4F-9FC8-59E5789FE014}" type="presOf" srcId="{9F0E073A-640B-4BF5-88C9-D781341EFD8E}" destId="{8592E055-5121-413D-8221-CC13F3757FBB}" srcOrd="0" destOrd="0" presId="urn:microsoft.com/office/officeart/2005/8/layout/process3"/>
    <dgm:cxn modelId="{965BFDF9-1A00-49BF-ACE1-F72AF1768243}" type="presOf" srcId="{8D24CDA5-24DF-492F-85C2-FCB4570674A4}" destId="{C3F39163-B775-4C27-9F1D-0FE9D17D7250}" srcOrd="0" destOrd="0" presId="urn:microsoft.com/office/officeart/2005/8/layout/process3"/>
    <dgm:cxn modelId="{ED9B8BCC-0BD5-4E69-9C08-9187D7F5B379}" type="presOf" srcId="{9F0E073A-640B-4BF5-88C9-D781341EFD8E}" destId="{8619BA2E-BE08-4CC6-A47A-E0D61256D833}" srcOrd="1" destOrd="0" presId="urn:microsoft.com/office/officeart/2005/8/layout/process3"/>
    <dgm:cxn modelId="{B99D25B2-9EF1-40D1-8386-032405976F98}" type="presOf" srcId="{D7C9A7BE-2417-428B-9524-31D170AA44D3}" destId="{F3156236-7221-446C-894E-CF837B996F59}" srcOrd="0" destOrd="0" presId="urn:microsoft.com/office/officeart/2005/8/layout/process3"/>
    <dgm:cxn modelId="{C577BD2C-9B80-4DC3-A313-67F61ACFF44C}" type="presOf" srcId="{D9D0F459-4D3B-495E-A5C6-D6A1BE061048}" destId="{5D626858-44C3-4F70-B731-89D7137D3000}" srcOrd="0" destOrd="1" presId="urn:microsoft.com/office/officeart/2005/8/layout/process3"/>
    <dgm:cxn modelId="{E9FA360C-E08E-4920-9EDE-8B0EC3E68A68}" type="presOf" srcId="{D7C9A7BE-2417-428B-9524-31D170AA44D3}" destId="{88574652-5298-44E5-A829-C7FC8CE7AF2C}" srcOrd="1" destOrd="0" presId="urn:microsoft.com/office/officeart/2005/8/layout/process3"/>
    <dgm:cxn modelId="{3BFCA8AE-B8AA-43A0-A7B5-F7C8675D893F}" type="presOf" srcId="{80DDFE8E-AD40-4262-8ED8-EE25603E7DEA}" destId="{ECD0A5E5-A6BB-45C6-B0AA-112A708C7D3A}" srcOrd="0" destOrd="0" presId="urn:microsoft.com/office/officeart/2005/8/layout/process3"/>
    <dgm:cxn modelId="{EFDFADEC-C55A-4266-9F0B-2D879960871F}" type="presOf" srcId="{063B73BF-F252-4336-AD7D-0DBE2C6841A3}" destId="{6D2D5376-477E-4C50-9A39-2D5013F247E3}" srcOrd="0" destOrd="1" presId="urn:microsoft.com/office/officeart/2005/8/layout/process3"/>
    <dgm:cxn modelId="{A90E6E01-4DCF-4E6C-95A5-F8E30A14344C}" type="presOf" srcId="{63AE6570-59A5-41D1-AD20-B5B9C0066A95}" destId="{494C6FA9-0797-49D7-AC78-22EFD31C0947}" srcOrd="0" destOrd="0" presId="urn:microsoft.com/office/officeart/2005/8/layout/process3"/>
    <dgm:cxn modelId="{04D349E3-FAC3-4009-A16B-B0C54313383C}" srcId="{9F0E073A-640B-4BF5-88C9-D781341EFD8E}" destId="{96138742-60ED-44AE-892F-A90C11A8E995}" srcOrd="1" destOrd="0" parTransId="{F2D8563A-8DB5-49D2-A5CD-AF75AC7B815B}" sibTransId="{8F6A1A03-0C38-43AD-B343-3F58132B2E83}"/>
    <dgm:cxn modelId="{442EA19D-4F50-498C-BBEF-EBD3D215A39C}" srcId="{B787FE64-C2BB-4301-B7F2-BCE47EB5A8A1}" destId="{D7C9A7BE-2417-428B-9524-31D170AA44D3}" srcOrd="2" destOrd="0" parTransId="{EEBEB180-8409-49F8-B053-691255906D35}" sibTransId="{67B7C185-F0C4-4078-BD48-C99002C2EF6C}"/>
    <dgm:cxn modelId="{42D68D4E-7CD5-44D2-ACF0-374763D9D272}" type="presOf" srcId="{5C1C9C49-9D29-428B-B8FC-2E999A0DEBE9}" destId="{551F2636-F6B7-47D6-97C8-BE70EB6C5BE1}" srcOrd="0" destOrd="0" presId="urn:microsoft.com/office/officeart/2005/8/layout/process3"/>
    <dgm:cxn modelId="{A7CF6AF2-77E4-402C-AA38-712D78822A7A}" type="presOf" srcId="{80DDFE8E-AD40-4262-8ED8-EE25603E7DEA}" destId="{F6DD8874-8DAC-4417-A6C1-97589456A657}" srcOrd="1" destOrd="0" presId="urn:microsoft.com/office/officeart/2005/8/layout/process3"/>
    <dgm:cxn modelId="{CC4A8533-69F8-4BBD-8C43-4BF73DE40E48}" srcId="{B787FE64-C2BB-4301-B7F2-BCE47EB5A8A1}" destId="{9F0E073A-640B-4BF5-88C9-D781341EFD8E}" srcOrd="0" destOrd="0" parTransId="{89916C81-5C51-4407-BE2E-7FC1505F2520}" sibTransId="{80DDFE8E-AD40-4262-8ED8-EE25603E7DEA}"/>
    <dgm:cxn modelId="{344A8EE5-28A5-4BC6-A93F-8DEEF8721F09}" type="presOf" srcId="{8D24CDA5-24DF-492F-85C2-FCB4570674A4}" destId="{741AC030-9FE2-408E-93A1-F290A76E526D}" srcOrd="1" destOrd="0" presId="urn:microsoft.com/office/officeart/2005/8/layout/process3"/>
    <dgm:cxn modelId="{B543C497-DD4F-46A0-905F-C4AF03B2E759}" srcId="{B787FE64-C2BB-4301-B7F2-BCE47EB5A8A1}" destId="{5C1C9C49-9D29-428B-B8FC-2E999A0DEBE9}" srcOrd="1" destOrd="0" parTransId="{A16DCC53-40A6-4BEB-8C25-F8E56595A551}" sibTransId="{8D24CDA5-24DF-492F-85C2-FCB4570674A4}"/>
    <dgm:cxn modelId="{B1CF034C-AE3E-4C3F-9845-32590C3CADAB}" type="presOf" srcId="{96138742-60ED-44AE-892F-A90C11A8E995}" destId="{494C6FA9-0797-49D7-AC78-22EFD31C0947}" srcOrd="0" destOrd="1" presId="urn:microsoft.com/office/officeart/2005/8/layout/process3"/>
    <dgm:cxn modelId="{4BCAE7A7-5DEA-4B67-A748-F18EE3719E52}" type="presOf" srcId="{E47301C1-5CCB-4056-B1EA-D12FF7E9F61E}" destId="{6D2D5376-477E-4C50-9A39-2D5013F247E3}" srcOrd="0" destOrd="0" presId="urn:microsoft.com/office/officeart/2005/8/layout/process3"/>
    <dgm:cxn modelId="{A5D7B252-E36D-419E-BE18-04688FBA0FC8}" type="presParOf" srcId="{8AB1583F-9843-4E83-BB0A-FE994500197A}" destId="{09F29E2F-C511-4CD4-AACB-89D164589693}" srcOrd="0" destOrd="0" presId="urn:microsoft.com/office/officeart/2005/8/layout/process3"/>
    <dgm:cxn modelId="{8BB61474-BA65-4AB4-99CC-D7E21E2BECDD}" type="presParOf" srcId="{09F29E2F-C511-4CD4-AACB-89D164589693}" destId="{8592E055-5121-413D-8221-CC13F3757FBB}" srcOrd="0" destOrd="0" presId="urn:microsoft.com/office/officeart/2005/8/layout/process3"/>
    <dgm:cxn modelId="{F0BB44C5-A533-4FE6-98D7-005789A45F82}" type="presParOf" srcId="{09F29E2F-C511-4CD4-AACB-89D164589693}" destId="{8619BA2E-BE08-4CC6-A47A-E0D61256D833}" srcOrd="1" destOrd="0" presId="urn:microsoft.com/office/officeart/2005/8/layout/process3"/>
    <dgm:cxn modelId="{F389DC9B-D1D3-4BC0-9751-D0F5EB603F61}" type="presParOf" srcId="{09F29E2F-C511-4CD4-AACB-89D164589693}" destId="{494C6FA9-0797-49D7-AC78-22EFD31C0947}" srcOrd="2" destOrd="0" presId="urn:microsoft.com/office/officeart/2005/8/layout/process3"/>
    <dgm:cxn modelId="{DB8E5389-24CC-4E77-A923-03AFFAF63FA1}" type="presParOf" srcId="{8AB1583F-9843-4E83-BB0A-FE994500197A}" destId="{ECD0A5E5-A6BB-45C6-B0AA-112A708C7D3A}" srcOrd="1" destOrd="0" presId="urn:microsoft.com/office/officeart/2005/8/layout/process3"/>
    <dgm:cxn modelId="{5B3207F3-BBBC-40EB-976C-D22A8D694D27}" type="presParOf" srcId="{ECD0A5E5-A6BB-45C6-B0AA-112A708C7D3A}" destId="{F6DD8874-8DAC-4417-A6C1-97589456A657}" srcOrd="0" destOrd="0" presId="urn:microsoft.com/office/officeart/2005/8/layout/process3"/>
    <dgm:cxn modelId="{4AD969FD-FB2E-46AA-A984-944DBF4A36FA}" type="presParOf" srcId="{8AB1583F-9843-4E83-BB0A-FE994500197A}" destId="{1EEAA572-1D38-44BC-9192-8110A1732768}" srcOrd="2" destOrd="0" presId="urn:microsoft.com/office/officeart/2005/8/layout/process3"/>
    <dgm:cxn modelId="{A7032ABD-707B-4C50-9A63-DE4387317541}" type="presParOf" srcId="{1EEAA572-1D38-44BC-9192-8110A1732768}" destId="{551F2636-F6B7-47D6-97C8-BE70EB6C5BE1}" srcOrd="0" destOrd="0" presId="urn:microsoft.com/office/officeart/2005/8/layout/process3"/>
    <dgm:cxn modelId="{E9A5B39E-1A12-4A0C-92C4-F8297C3B88B6}" type="presParOf" srcId="{1EEAA572-1D38-44BC-9192-8110A1732768}" destId="{4E0D7149-43FB-4772-961E-7B949F764B77}" srcOrd="1" destOrd="0" presId="urn:microsoft.com/office/officeart/2005/8/layout/process3"/>
    <dgm:cxn modelId="{7B17B1EE-6431-4ABC-BA96-FBAFF531C943}" type="presParOf" srcId="{1EEAA572-1D38-44BC-9192-8110A1732768}" destId="{5D626858-44C3-4F70-B731-89D7137D3000}" srcOrd="2" destOrd="0" presId="urn:microsoft.com/office/officeart/2005/8/layout/process3"/>
    <dgm:cxn modelId="{9B136760-C88E-4AB1-93C5-327E3E34508B}" type="presParOf" srcId="{8AB1583F-9843-4E83-BB0A-FE994500197A}" destId="{C3F39163-B775-4C27-9F1D-0FE9D17D7250}" srcOrd="3" destOrd="0" presId="urn:microsoft.com/office/officeart/2005/8/layout/process3"/>
    <dgm:cxn modelId="{95D4C86F-DB3D-4BF6-BE9B-986891DFB6B0}" type="presParOf" srcId="{C3F39163-B775-4C27-9F1D-0FE9D17D7250}" destId="{741AC030-9FE2-408E-93A1-F290A76E526D}" srcOrd="0" destOrd="0" presId="urn:microsoft.com/office/officeart/2005/8/layout/process3"/>
    <dgm:cxn modelId="{9FE553A0-202B-484B-B7BF-2FB205359F2B}" type="presParOf" srcId="{8AB1583F-9843-4E83-BB0A-FE994500197A}" destId="{965753DB-B765-44D1-88E9-4ACEA6D4E2A5}" srcOrd="4" destOrd="0" presId="urn:microsoft.com/office/officeart/2005/8/layout/process3"/>
    <dgm:cxn modelId="{F4CCD265-A86B-41AB-9F33-72CDDBAF8DF1}" type="presParOf" srcId="{965753DB-B765-44D1-88E9-4ACEA6D4E2A5}" destId="{F3156236-7221-446C-894E-CF837B996F59}" srcOrd="0" destOrd="0" presId="urn:microsoft.com/office/officeart/2005/8/layout/process3"/>
    <dgm:cxn modelId="{F3B0A81D-3740-436E-9FEE-AF851E8F43C5}" type="presParOf" srcId="{965753DB-B765-44D1-88E9-4ACEA6D4E2A5}" destId="{88574652-5298-44E5-A829-C7FC8CE7AF2C}" srcOrd="1" destOrd="0" presId="urn:microsoft.com/office/officeart/2005/8/layout/process3"/>
    <dgm:cxn modelId="{E13B4509-8140-4583-AB81-9C4A04D5308D}" type="presParOf" srcId="{965753DB-B765-44D1-88E9-4ACEA6D4E2A5}" destId="{6D2D5376-477E-4C50-9A39-2D5013F247E3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19BA2E-BE08-4CC6-A47A-E0D61256D833}">
      <dsp:nvSpPr>
        <dsp:cNvPr id="0" name=""/>
        <dsp:cNvSpPr/>
      </dsp:nvSpPr>
      <dsp:spPr>
        <a:xfrm>
          <a:off x="4093" y="625380"/>
          <a:ext cx="1861062" cy="9438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i-FI" sz="1600" kern="1200" smtClean="0"/>
            <a:t>1. Lead qualification</a:t>
          </a:r>
          <a:endParaRPr lang="fi-FI" sz="1600" kern="1200"/>
        </a:p>
      </dsp:txBody>
      <dsp:txXfrm>
        <a:off x="4093" y="625380"/>
        <a:ext cx="1861062" cy="629202"/>
      </dsp:txXfrm>
    </dsp:sp>
    <dsp:sp modelId="{494C6FA9-0797-49D7-AC78-22EFD31C0947}">
      <dsp:nvSpPr>
        <dsp:cNvPr id="0" name=""/>
        <dsp:cNvSpPr/>
      </dsp:nvSpPr>
      <dsp:spPr>
        <a:xfrm>
          <a:off x="385274" y="1254582"/>
          <a:ext cx="1861062" cy="2646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i-FI" sz="1600" kern="1200" dirty="0" smtClean="0"/>
            <a:t>Streamline data entry for leads on existing accounts &amp; contacts</a:t>
          </a:r>
          <a:endParaRPr lang="fi-FI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i-FI" sz="1600" kern="1200" dirty="0" smtClean="0"/>
            <a:t>Convert leads to influencers instead of new opportunities</a:t>
          </a:r>
          <a:endParaRPr lang="fi-FI" sz="1600" kern="1200" dirty="0"/>
        </a:p>
      </dsp:txBody>
      <dsp:txXfrm>
        <a:off x="439783" y="1309091"/>
        <a:ext cx="1752044" cy="2536982"/>
      </dsp:txXfrm>
    </dsp:sp>
    <dsp:sp modelId="{ECD0A5E5-A6BB-45C6-B0AA-112A708C7D3A}">
      <dsp:nvSpPr>
        <dsp:cNvPr id="0" name=""/>
        <dsp:cNvSpPr/>
      </dsp:nvSpPr>
      <dsp:spPr>
        <a:xfrm>
          <a:off x="2147286" y="708306"/>
          <a:ext cx="598116" cy="4633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i-FI" sz="1300" kern="1200"/>
        </a:p>
      </dsp:txBody>
      <dsp:txXfrm>
        <a:off x="2147286" y="800976"/>
        <a:ext cx="459111" cy="278010"/>
      </dsp:txXfrm>
    </dsp:sp>
    <dsp:sp modelId="{4E0D7149-43FB-4772-961E-7B949F764B77}">
      <dsp:nvSpPr>
        <dsp:cNvPr id="0" name=""/>
        <dsp:cNvSpPr/>
      </dsp:nvSpPr>
      <dsp:spPr>
        <a:xfrm>
          <a:off x="2993677" y="625380"/>
          <a:ext cx="1861062" cy="9438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i-FI" sz="1600" kern="1200" dirty="0" smtClean="0"/>
            <a:t>2. </a:t>
          </a:r>
          <a:r>
            <a:rPr lang="fi-FI" sz="1600" kern="1200" smtClean="0"/>
            <a:t>Opportunity revenue estimation</a:t>
          </a:r>
          <a:endParaRPr lang="fi-FI" sz="1600" kern="1200" dirty="0"/>
        </a:p>
      </dsp:txBody>
      <dsp:txXfrm>
        <a:off x="2993677" y="625380"/>
        <a:ext cx="1861062" cy="629202"/>
      </dsp:txXfrm>
    </dsp:sp>
    <dsp:sp modelId="{5D626858-44C3-4F70-B731-89D7137D3000}">
      <dsp:nvSpPr>
        <dsp:cNvPr id="0" name=""/>
        <dsp:cNvSpPr/>
      </dsp:nvSpPr>
      <dsp:spPr>
        <a:xfrm>
          <a:off x="3374859" y="1254582"/>
          <a:ext cx="1861062" cy="2646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i-FI" sz="1600" kern="1200" dirty="0" smtClean="0"/>
            <a:t>Replace opportunity product lines with predefined cost estimate fields</a:t>
          </a:r>
          <a:endParaRPr lang="fi-FI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i-FI" sz="1600" kern="1200" dirty="0" smtClean="0"/>
            <a:t>Calculate opportunity total value from day &amp; rate fields</a:t>
          </a:r>
          <a:endParaRPr lang="fi-FI" sz="1600" kern="1200" dirty="0"/>
        </a:p>
      </dsp:txBody>
      <dsp:txXfrm>
        <a:off x="3429368" y="1309091"/>
        <a:ext cx="1752044" cy="2536982"/>
      </dsp:txXfrm>
    </dsp:sp>
    <dsp:sp modelId="{C3F39163-B775-4C27-9F1D-0FE9D17D7250}">
      <dsp:nvSpPr>
        <dsp:cNvPr id="0" name=""/>
        <dsp:cNvSpPr/>
      </dsp:nvSpPr>
      <dsp:spPr>
        <a:xfrm>
          <a:off x="5136871" y="708306"/>
          <a:ext cx="598116" cy="4633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i-FI" sz="1300" kern="1200"/>
        </a:p>
      </dsp:txBody>
      <dsp:txXfrm>
        <a:off x="5136871" y="800976"/>
        <a:ext cx="459111" cy="278010"/>
      </dsp:txXfrm>
    </dsp:sp>
    <dsp:sp modelId="{88574652-5298-44E5-A829-C7FC8CE7AF2C}">
      <dsp:nvSpPr>
        <dsp:cNvPr id="0" name=""/>
        <dsp:cNvSpPr/>
      </dsp:nvSpPr>
      <dsp:spPr>
        <a:xfrm>
          <a:off x="5983262" y="625380"/>
          <a:ext cx="1861062" cy="9438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i-FI" sz="1600" kern="1200" smtClean="0"/>
            <a:t>3. Pipeline development</a:t>
          </a:r>
          <a:endParaRPr lang="fi-FI" sz="1600" kern="1200"/>
        </a:p>
      </dsp:txBody>
      <dsp:txXfrm>
        <a:off x="5983262" y="625380"/>
        <a:ext cx="1861062" cy="629202"/>
      </dsp:txXfrm>
    </dsp:sp>
    <dsp:sp modelId="{6D2D5376-477E-4C50-9A39-2D5013F247E3}">
      <dsp:nvSpPr>
        <dsp:cNvPr id="0" name=""/>
        <dsp:cNvSpPr/>
      </dsp:nvSpPr>
      <dsp:spPr>
        <a:xfrm>
          <a:off x="6364443" y="1254582"/>
          <a:ext cx="1861062" cy="2646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i-FI" sz="1600" kern="1200" dirty="0" smtClean="0"/>
            <a:t>Capture opportunity count and revenue per sales stage</a:t>
          </a:r>
          <a:endParaRPr lang="fi-FI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i-FI" sz="1600" kern="1200" dirty="0" smtClean="0"/>
            <a:t>Schedule data snapshots of historical pipeline size</a:t>
          </a:r>
          <a:endParaRPr lang="fi-FI" sz="1600" kern="1200" dirty="0"/>
        </a:p>
      </dsp:txBody>
      <dsp:txXfrm>
        <a:off x="6418952" y="1309091"/>
        <a:ext cx="1752044" cy="25369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lätunnisteen paikkamerkki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 dirty="0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2C073C-CA0F-4B51-86D5-B13E2695F0A1}" type="datetimeFigureOut">
              <a:rPr lang="fi-FI" smtClean="0"/>
              <a:pPr/>
              <a:t>20.5.2015</a:t>
            </a:fld>
            <a:endParaRPr lang="fi-FI" dirty="0"/>
          </a:p>
        </p:txBody>
      </p:sp>
      <p:sp>
        <p:nvSpPr>
          <p:cNvPr id="4" name="Dian kuvan paikkamerkki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 dirty="0"/>
          </a:p>
        </p:txBody>
      </p:sp>
      <p:sp>
        <p:nvSpPr>
          <p:cNvPr id="5" name="Huomautusten paikkamerkki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191832-BE51-4C5E-BE95-1D56B9C29E95}" type="slidenum">
              <a:rPr lang="fi-FI" smtClean="0"/>
              <a:pPr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153675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722313" y="1772816"/>
            <a:ext cx="7772400" cy="1362075"/>
          </a:xfrm>
        </p:spPr>
        <p:txBody>
          <a:bodyPr anchor="t"/>
          <a:lstStyle>
            <a:lvl1pPr algn="ctr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fi-FI" dirty="0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722313" y="3501008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3E524-6BC0-4787-95C5-C72B8592B78C}" type="datetimeFigureOut">
              <a:rPr lang="fi-FI" smtClean="0"/>
              <a:pPr/>
              <a:t>20.5.2015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1371600" y="3645024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3E524-6BC0-4787-95C5-C72B8592B78C}" type="datetimeFigureOut">
              <a:rPr lang="fi-FI" smtClean="0"/>
              <a:pPr/>
              <a:t>20.5.2015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3E524-6BC0-4787-95C5-C72B8592B78C}" type="datetimeFigureOut">
              <a:rPr lang="fi-FI" smtClean="0"/>
              <a:pPr/>
              <a:t>20.5.2015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5" name="Tekstin paikkamerkki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Sisällön paikkamerkk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7" name="Päivämäärän paikkamerkki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3E524-6BC0-4787-95C5-C72B8592B78C}" type="datetimeFigureOut">
              <a:rPr lang="fi-FI" smtClean="0"/>
              <a:pPr/>
              <a:t>20.5.2015</a:t>
            </a:fld>
            <a:endParaRPr lang="fi-FI" dirty="0"/>
          </a:p>
        </p:txBody>
      </p:sp>
      <p:sp>
        <p:nvSpPr>
          <p:cNvPr id="8" name="Alatunnisteen paikkamerk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9" name="Dian numeron paikkamerkki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3E524-6BC0-4787-95C5-C72B8592B78C}" type="datetimeFigureOut">
              <a:rPr lang="fi-FI" smtClean="0"/>
              <a:pPr/>
              <a:t>20.5.2015</a:t>
            </a:fld>
            <a:endParaRPr lang="fi-FI" dirty="0"/>
          </a:p>
        </p:txBody>
      </p:sp>
      <p:sp>
        <p:nvSpPr>
          <p:cNvPr id="4" name="Alatunnisteen paikkamerk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5" name="Dian numeron paikkamerkki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3E524-6BC0-4787-95C5-C72B8592B78C}" type="datetimeFigureOut">
              <a:rPr lang="fi-FI" smtClean="0"/>
              <a:pPr/>
              <a:t>20.5.2015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tsiko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3E524-6BC0-4787-95C5-C72B8592B78C}" type="datetimeFigureOut">
              <a:rPr lang="fi-FI" smtClean="0"/>
              <a:pPr/>
              <a:t>20.5.2015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tsiko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Kuvan paikkamerkki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fi-FI" dirty="0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3E524-6BC0-4787-95C5-C72B8592B78C}" type="datetimeFigureOut">
              <a:rPr lang="fi-FI" smtClean="0"/>
              <a:pPr/>
              <a:t>20.5.2015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3E524-6BC0-4787-95C5-C72B8592B78C}" type="datetimeFigureOut">
              <a:rPr lang="fi-FI" smtClean="0"/>
              <a:pPr/>
              <a:t>20.5.2015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3E524-6BC0-4787-95C5-C72B8592B78C}" type="datetimeFigureOut">
              <a:rPr lang="fi-FI" smtClean="0"/>
              <a:pPr/>
              <a:t>20.5.2015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 smtClean="0"/>
              <a:t>Muokkaa alaotsikon perustyyliä napsautt.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20.5.2015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563072" cy="1143000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</a:defRPr>
            </a:lvl1pPr>
          </a:lstStyle>
          <a:p>
            <a:r>
              <a:rPr lang="fi-FI" dirty="0" smtClean="0"/>
              <a:t>Muokkaa </a:t>
            </a:r>
            <a:r>
              <a:rPr lang="fi-FI" dirty="0" err="1" smtClean="0"/>
              <a:t>perustyyl</a:t>
            </a:r>
            <a:r>
              <a:rPr lang="fi-FI" dirty="0" smtClean="0"/>
              <a:t>. </a:t>
            </a:r>
            <a:r>
              <a:rPr lang="fi-FI" dirty="0" err="1" smtClean="0"/>
              <a:t>napsautt</a:t>
            </a:r>
            <a:r>
              <a:rPr lang="fi-FI" dirty="0" smtClean="0"/>
              <a:t>.</a:t>
            </a:r>
            <a:endParaRPr lang="fi-FI" dirty="0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i-FI" dirty="0" smtClean="0"/>
              <a:t>Muokkaa tekstin perustyylejä napsauttamalla</a:t>
            </a:r>
          </a:p>
          <a:p>
            <a:pPr lvl="1"/>
            <a:r>
              <a:rPr lang="fi-FI" dirty="0" smtClean="0"/>
              <a:t>toinen taso</a:t>
            </a:r>
          </a:p>
          <a:p>
            <a:pPr lvl="2"/>
            <a:r>
              <a:rPr lang="fi-FI" dirty="0" smtClean="0"/>
              <a:t>kolmas taso</a:t>
            </a:r>
          </a:p>
          <a:p>
            <a:pPr lvl="3"/>
            <a:r>
              <a:rPr lang="fi-FI" dirty="0" smtClean="0"/>
              <a:t>neljäs taso</a:t>
            </a:r>
          </a:p>
          <a:p>
            <a:pPr lvl="4"/>
            <a:r>
              <a:rPr lang="fi-FI" dirty="0" smtClean="0"/>
              <a:t>viides taso</a:t>
            </a:r>
            <a:endParaRPr lang="fi-FI" dirty="0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20.5.2015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20.5.2015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20.5.2015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5" name="Tekstin paikkamerkki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6" name="Sisällön paikkamerkk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7" name="Päivämäärän paikkamerkki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20.5.2015</a:t>
            </a:fld>
            <a:endParaRPr lang="fi-FI" dirty="0"/>
          </a:p>
        </p:txBody>
      </p:sp>
      <p:sp>
        <p:nvSpPr>
          <p:cNvPr id="8" name="Alatunnisteen paikkamerk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9" name="Dian numeron paikkamerkki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20.5.2015</a:t>
            </a:fld>
            <a:endParaRPr lang="fi-FI" dirty="0"/>
          </a:p>
        </p:txBody>
      </p:sp>
      <p:sp>
        <p:nvSpPr>
          <p:cNvPr id="4" name="Alatunnisteen paikkamerk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5" name="Dian numeron paikkamerkki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20.5.2015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tsiko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20.5.2015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tsiko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Kuvan paikkamerkki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 dirty="0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20.5.2015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20.5.2015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20.5.2015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kautettu asette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20.5.2015</a:t>
            </a:fld>
            <a:endParaRPr lang="fi-FI" dirty="0"/>
          </a:p>
        </p:txBody>
      </p:sp>
      <p:sp>
        <p:nvSpPr>
          <p:cNvPr id="4" name="Alatunnisteen paikkamerk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5" name="Dian numeron paikkamerkki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 smtClean="0"/>
              <a:t>Muokkaa alaotsikon perustyyliä napsautt.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20.5.2015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20.5.2015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20.5.2015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20.5.2015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5" name="Tekstin paikkamerkki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6" name="Sisällön paikkamerkk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7" name="Päivämäärän paikkamerkki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20.5.2015</a:t>
            </a:fld>
            <a:endParaRPr lang="fi-FI" dirty="0"/>
          </a:p>
        </p:txBody>
      </p:sp>
      <p:sp>
        <p:nvSpPr>
          <p:cNvPr id="8" name="Alatunnisteen paikkamerk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9" name="Dian numeron paikkamerkki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20.5.2015</a:t>
            </a:fld>
            <a:endParaRPr lang="fi-FI" dirty="0"/>
          </a:p>
        </p:txBody>
      </p:sp>
      <p:sp>
        <p:nvSpPr>
          <p:cNvPr id="4" name="Alatunnisteen paikkamerk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5" name="Dian numeron paikkamerkki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20.5.2015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tsiko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20.5.2015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tsiko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Kuvan paikkamerkki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 dirty="0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20.5.2015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20.5.2015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20.5.2015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 smtClean="0"/>
              <a:t>Muokkaa alaotsikon perustyyliä napsautt.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20.5.2015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20.5.2015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20.5.2015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20.5.2015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5" name="Tekstin paikkamerkki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6" name="Sisällön paikkamerkk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7" name="Päivämäärän paikkamerkki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20.5.2015</a:t>
            </a:fld>
            <a:endParaRPr lang="fi-FI" dirty="0"/>
          </a:p>
        </p:txBody>
      </p:sp>
      <p:sp>
        <p:nvSpPr>
          <p:cNvPr id="8" name="Alatunnisteen paikkamerk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9" name="Dian numeron paikkamerkki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20.5.2015</a:t>
            </a:fld>
            <a:endParaRPr lang="fi-FI" dirty="0"/>
          </a:p>
        </p:txBody>
      </p:sp>
      <p:sp>
        <p:nvSpPr>
          <p:cNvPr id="4" name="Alatunnisteen paikkamerk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5" name="Dian numeron paikkamerkki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20.5.2015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tsiko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20.5.2015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tsiko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Kuvan paikkamerkki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 dirty="0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20.5.2015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20.5.2015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20.5.2015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B6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uva 7" descr="cloud.png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-252536" y="4778077"/>
            <a:ext cx="2705100" cy="1819275"/>
          </a:xfrm>
          <a:prstGeom prst="rect">
            <a:avLst/>
          </a:prstGeom>
        </p:spPr>
      </p:pic>
      <p:sp>
        <p:nvSpPr>
          <p:cNvPr id="2" name="Otsikon paikkamerkki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05901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 dirty="0" smtClean="0"/>
              <a:t>Muokkaa </a:t>
            </a:r>
            <a:r>
              <a:rPr lang="fi-FI" dirty="0" err="1" smtClean="0"/>
              <a:t>perustyyl</a:t>
            </a:r>
            <a:r>
              <a:rPr lang="fi-FI" dirty="0" smtClean="0"/>
              <a:t>. </a:t>
            </a:r>
            <a:r>
              <a:rPr lang="fi-FI" dirty="0" err="1" smtClean="0"/>
              <a:t>napsautt</a:t>
            </a:r>
            <a:r>
              <a:rPr lang="fi-FI" dirty="0" smtClean="0"/>
              <a:t>.</a:t>
            </a:r>
            <a:endParaRPr lang="fi-FI" dirty="0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A3E524-6BC0-4787-95C5-C72B8592B78C}" type="datetimeFigureOut">
              <a:rPr lang="fi-FI" smtClean="0"/>
              <a:pPr/>
              <a:t>20.5.2015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  <p:pic>
        <p:nvPicPr>
          <p:cNvPr id="7" name="Kuva 6" descr="city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5376624"/>
            <a:ext cx="9144000" cy="1508760"/>
          </a:xfrm>
          <a:prstGeom prst="rect">
            <a:avLst/>
          </a:prstGeom>
        </p:spPr>
      </p:pic>
      <p:pic>
        <p:nvPicPr>
          <p:cNvPr id="9" name="Kuva 8" descr="logo_bc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4067944" y="-323225"/>
            <a:ext cx="5687616" cy="3896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0B6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 dirty="0" smtClean="0"/>
              <a:t>Muokkaa </a:t>
            </a:r>
            <a:r>
              <a:rPr lang="fi-FI" dirty="0" err="1" smtClean="0"/>
              <a:t>perustyyl</a:t>
            </a:r>
            <a:r>
              <a:rPr lang="fi-FI" dirty="0" smtClean="0"/>
              <a:t>. </a:t>
            </a:r>
            <a:r>
              <a:rPr lang="fi-FI" dirty="0" err="1" smtClean="0"/>
              <a:t>napsautt</a:t>
            </a:r>
            <a:r>
              <a:rPr lang="fi-FI" dirty="0" smtClean="0"/>
              <a:t>.</a:t>
            </a:r>
            <a:endParaRPr lang="fi-FI" dirty="0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 dirty="0" smtClean="0"/>
              <a:t>Muokkaa tekstin perustyylejä napsauttamalla</a:t>
            </a:r>
          </a:p>
          <a:p>
            <a:pPr lvl="1"/>
            <a:r>
              <a:rPr lang="fi-FI" dirty="0" smtClean="0"/>
              <a:t>toinen taso</a:t>
            </a:r>
          </a:p>
          <a:p>
            <a:pPr lvl="2"/>
            <a:r>
              <a:rPr lang="fi-FI" dirty="0" smtClean="0"/>
              <a:t>kolmas taso</a:t>
            </a:r>
          </a:p>
          <a:p>
            <a:pPr lvl="3"/>
            <a:r>
              <a:rPr lang="fi-FI" dirty="0" smtClean="0"/>
              <a:t>neljäs taso</a:t>
            </a:r>
          </a:p>
          <a:p>
            <a:pPr lvl="4"/>
            <a:r>
              <a:rPr lang="fi-FI" dirty="0" smtClean="0"/>
              <a:t>viides taso</a:t>
            </a:r>
            <a:endParaRPr lang="fi-FI" dirty="0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8EE37C-AC12-4BDA-B7AE-D0C3DB4B341E}" type="datetimeFigureOut">
              <a:rPr lang="fi-FI" smtClean="0"/>
              <a:pPr/>
              <a:t>20.5.2015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  <p:pic>
        <p:nvPicPr>
          <p:cNvPr id="7" name="Kuva 6" descr="logo_bc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5796136" y="-243408"/>
            <a:ext cx="3815408" cy="261370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77909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 dirty="0" smtClean="0"/>
              <a:t>Muokkaa tekstin perustyylejä napsauttamalla</a:t>
            </a:r>
          </a:p>
          <a:p>
            <a:pPr lvl="1"/>
            <a:r>
              <a:rPr lang="fi-FI" dirty="0" smtClean="0"/>
              <a:t>toinen taso</a:t>
            </a:r>
          </a:p>
          <a:p>
            <a:pPr lvl="2"/>
            <a:r>
              <a:rPr lang="fi-FI" dirty="0" smtClean="0"/>
              <a:t>kolmas taso</a:t>
            </a:r>
          </a:p>
          <a:p>
            <a:pPr lvl="3"/>
            <a:r>
              <a:rPr lang="fi-FI" dirty="0" smtClean="0"/>
              <a:t>neljäs taso</a:t>
            </a:r>
          </a:p>
          <a:p>
            <a:pPr lvl="4"/>
            <a:r>
              <a:rPr lang="fi-FI" dirty="0" smtClean="0"/>
              <a:t>viides taso</a:t>
            </a:r>
            <a:endParaRPr lang="fi-FI" dirty="0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28542-833B-490F-A2E7-8CA93ACE653C}" type="datetimeFigureOut">
              <a:rPr lang="fi-FI" smtClean="0"/>
              <a:t>20.5.2015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  <p:pic>
        <p:nvPicPr>
          <p:cNvPr id="8" name="Kuva 7" descr="logo_bc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5796136" y="-243408"/>
            <a:ext cx="3815408" cy="2613705"/>
          </a:xfrm>
          <a:prstGeom prst="rect">
            <a:avLst/>
          </a:prstGeom>
        </p:spPr>
      </p:pic>
      <p:pic>
        <p:nvPicPr>
          <p:cNvPr id="9" name="Kuva 8" descr="city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0" y="5376624"/>
            <a:ext cx="9144000" cy="150876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b="1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orakulmio 9"/>
          <p:cNvSpPr/>
          <p:nvPr/>
        </p:nvSpPr>
        <p:spPr>
          <a:xfrm>
            <a:off x="0" y="0"/>
            <a:ext cx="9144000" cy="1196752"/>
          </a:xfrm>
          <a:prstGeom prst="rect">
            <a:avLst/>
          </a:prstGeom>
          <a:solidFill>
            <a:srgbClr val="52C2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2" name="Otsikon paikkamerkki 1"/>
          <p:cNvSpPr>
            <a:spLocks noGrp="1"/>
          </p:cNvSpPr>
          <p:nvPr>
            <p:ph type="title"/>
          </p:nvPr>
        </p:nvSpPr>
        <p:spPr>
          <a:xfrm>
            <a:off x="1321296" y="44624"/>
            <a:ext cx="598700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i-FI" dirty="0" smtClean="0"/>
              <a:t>Muokkaa </a:t>
            </a:r>
            <a:r>
              <a:rPr lang="fi-FI" dirty="0" err="1" smtClean="0"/>
              <a:t>perustyyl</a:t>
            </a:r>
            <a:r>
              <a:rPr lang="fi-FI" dirty="0" smtClean="0"/>
              <a:t>. </a:t>
            </a:r>
            <a:r>
              <a:rPr lang="fi-FI" dirty="0" err="1" smtClean="0"/>
              <a:t>napsautt</a:t>
            </a:r>
            <a:r>
              <a:rPr lang="fi-FI" dirty="0" smtClean="0"/>
              <a:t>.</a:t>
            </a:r>
            <a:endParaRPr lang="fi-FI" dirty="0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 dirty="0" smtClean="0"/>
              <a:t>Muokkaa tekstin perustyylejä napsauttamalla</a:t>
            </a:r>
          </a:p>
          <a:p>
            <a:pPr lvl="1"/>
            <a:r>
              <a:rPr lang="fi-FI" dirty="0" smtClean="0"/>
              <a:t>toinen taso</a:t>
            </a:r>
          </a:p>
          <a:p>
            <a:pPr lvl="2"/>
            <a:r>
              <a:rPr lang="fi-FI" dirty="0" smtClean="0"/>
              <a:t>kolmas taso</a:t>
            </a:r>
          </a:p>
          <a:p>
            <a:pPr lvl="3"/>
            <a:r>
              <a:rPr lang="fi-FI" dirty="0" smtClean="0"/>
              <a:t>neljäs taso</a:t>
            </a:r>
          </a:p>
          <a:p>
            <a:pPr lvl="4"/>
            <a:r>
              <a:rPr lang="fi-FI" dirty="0" smtClean="0"/>
              <a:t>viides taso</a:t>
            </a:r>
            <a:endParaRPr lang="fi-FI" dirty="0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28542-833B-490F-A2E7-8CA93ACE653C}" type="datetimeFigureOut">
              <a:rPr lang="fi-FI" smtClean="0"/>
              <a:t>20.5.2015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  <p:pic>
        <p:nvPicPr>
          <p:cNvPr id="8" name="Kuva 7" descr="logo_bc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5796136" y="-243408"/>
            <a:ext cx="3815408" cy="2613705"/>
          </a:xfrm>
          <a:prstGeom prst="rect">
            <a:avLst/>
          </a:prstGeom>
        </p:spPr>
      </p:pic>
      <p:sp>
        <p:nvSpPr>
          <p:cNvPr id="11" name="Suorakulmio 10"/>
          <p:cNvSpPr/>
          <p:nvPr/>
        </p:nvSpPr>
        <p:spPr>
          <a:xfrm>
            <a:off x="0" y="6696744"/>
            <a:ext cx="9144000" cy="18864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pic>
        <p:nvPicPr>
          <p:cNvPr id="12" name="Kuva 11" descr="cloud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0" y="116632"/>
            <a:ext cx="1656184" cy="111384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survivingcrm.com/" TargetMode="External"/><Relationship Id="rId2" Type="http://schemas.openxmlformats.org/officeDocument/2006/relationships/hyperlink" Target="http://bit.ly/crm15salesprocess" TargetMode="External"/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urvivingcrm.com/" TargetMode="External"/><Relationship Id="rId2" Type="http://schemas.openxmlformats.org/officeDocument/2006/relationships/hyperlink" Target="http://www.digitalillustrated.com/" TargetMode="External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4.jpg"/><Relationship Id="rId4" Type="http://schemas.openxmlformats.org/officeDocument/2006/relationships/hyperlink" Target="https://twitter.com/jukkan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9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twitter.com/jukkan" TargetMode="External"/><Relationship Id="rId2" Type="http://schemas.openxmlformats.org/officeDocument/2006/relationships/hyperlink" Target="http://survivingcrm.com/" TargetMode="External"/><Relationship Id="rId1" Type="http://schemas.openxmlformats.org/officeDocument/2006/relationships/slideLayout" Target="../slideLayouts/slideLayout35.xml"/><Relationship Id="rId4" Type="http://schemas.openxmlformats.org/officeDocument/2006/relationships/hyperlink" Target="http://msdynamicsworld.com/webcast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685800" y="2133600"/>
            <a:ext cx="7772400" cy="2362200"/>
          </a:xfrm>
        </p:spPr>
        <p:txBody>
          <a:bodyPr>
            <a:normAutofit fontScale="90000"/>
          </a:bodyPr>
          <a:lstStyle/>
          <a:p>
            <a:r>
              <a:rPr lang="en-US" dirty="0"/>
              <a:t>A Non-Developer's Guide </a:t>
            </a:r>
            <a:r>
              <a:rPr lang="en-US" dirty="0" smtClean="0"/>
              <a:t>to</a:t>
            </a:r>
            <a:br>
              <a:rPr lang="en-US" dirty="0" smtClean="0"/>
            </a:br>
            <a:r>
              <a:rPr lang="en-US" dirty="0" smtClean="0"/>
              <a:t>Smarter </a:t>
            </a:r>
            <a:r>
              <a:rPr lang="en-US" dirty="0"/>
              <a:t>Sales Processes </a:t>
            </a:r>
            <a:r>
              <a:rPr lang="en-US" dirty="0" smtClean="0"/>
              <a:t>in</a:t>
            </a:r>
            <a:br>
              <a:rPr lang="en-US" dirty="0" smtClean="0"/>
            </a:br>
            <a:r>
              <a:rPr lang="en-US" dirty="0" smtClean="0"/>
              <a:t>Microsoft </a:t>
            </a:r>
            <a:r>
              <a:rPr lang="en-US" dirty="0"/>
              <a:t>Dynamics CRM </a:t>
            </a:r>
            <a:r>
              <a:rPr lang="en-US" dirty="0" smtClean="0"/>
              <a:t>2015</a:t>
            </a:r>
            <a:br>
              <a:rPr lang="en-US" dirty="0" smtClean="0"/>
            </a:br>
            <a:r>
              <a:rPr lang="en-US" dirty="0"/>
              <a:t>-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Part </a:t>
            </a:r>
            <a:r>
              <a:rPr lang="en-US" b="1" dirty="0" smtClean="0"/>
              <a:t>2: Revenue Estimation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fi-FI" b="1" dirty="0"/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1371600" y="4572000"/>
            <a:ext cx="6400800" cy="825624"/>
          </a:xfrm>
        </p:spPr>
        <p:txBody>
          <a:bodyPr>
            <a:normAutofit fontScale="77500" lnSpcReduction="20000"/>
          </a:bodyPr>
          <a:lstStyle/>
          <a:p>
            <a:r>
              <a:rPr lang="fi-FI" dirty="0" smtClean="0"/>
              <a:t>Jukka Niiranen</a:t>
            </a:r>
          </a:p>
          <a:p>
            <a:r>
              <a:rPr lang="fi-FI" dirty="0" smtClean="0"/>
              <a:t>2015-05-06</a:t>
            </a:r>
            <a:endParaRPr lang="fi-FI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About This </a:t>
            </a:r>
            <a:r>
              <a:rPr lang="fi-FI" dirty="0"/>
              <a:t>P</a:t>
            </a:r>
            <a:r>
              <a:rPr lang="fi-FI" dirty="0" smtClean="0"/>
              <a:t>resentation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smtClean="0"/>
              <a:t>These are the slides from a live webcast on MSDynamicsWorld.com, presented on May 6th 2015</a:t>
            </a:r>
          </a:p>
          <a:p>
            <a:r>
              <a:rPr lang="fi-FI" dirty="0" smtClean="0"/>
              <a:t>The webcast recording is available on </a:t>
            </a:r>
            <a:r>
              <a:rPr lang="fi-FI" dirty="0"/>
              <a:t>YouTube: </a:t>
            </a:r>
            <a:r>
              <a:rPr lang="fi-FI" dirty="0">
                <a:hlinkClick r:id="rId2"/>
              </a:rPr>
              <a:t>http://</a:t>
            </a:r>
            <a:r>
              <a:rPr lang="fi-FI" dirty="0" smtClean="0">
                <a:hlinkClick r:id="rId2"/>
              </a:rPr>
              <a:t>bit.ly/crm15salesprocess</a:t>
            </a:r>
            <a:r>
              <a:rPr lang="fi-FI" dirty="0" smtClean="0"/>
              <a:t> </a:t>
            </a:r>
          </a:p>
          <a:p>
            <a:r>
              <a:rPr lang="fi-FI" dirty="0"/>
              <a:t>The topics are covered in more detail in blog posts at </a:t>
            </a:r>
            <a:r>
              <a:rPr lang="fi-FI" dirty="0">
                <a:hlinkClick r:id="rId3"/>
              </a:rPr>
              <a:t>http://survivingcrm.com</a:t>
            </a:r>
            <a:r>
              <a:rPr lang="fi-FI" dirty="0" smtClean="0">
                <a:hlinkClick r:id="rId3"/>
              </a:rPr>
              <a:t>/</a:t>
            </a:r>
            <a:r>
              <a:rPr lang="fi-FI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544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About Me</a:t>
            </a:r>
            <a:endParaRPr lang="fi-FI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600201"/>
            <a:ext cx="6477000" cy="44958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Dynamics CRM consultant from </a:t>
            </a:r>
            <a:r>
              <a:rPr lang="en-US" dirty="0" smtClean="0"/>
              <a:t>Helsinki</a:t>
            </a:r>
          </a:p>
          <a:p>
            <a:r>
              <a:rPr lang="en-US" dirty="0" smtClean="0"/>
              <a:t>Working at </a:t>
            </a:r>
            <a:r>
              <a:rPr lang="en-US" dirty="0" smtClean="0">
                <a:hlinkClick r:id="rId2"/>
              </a:rPr>
              <a:t>Digital Illustrated Finland</a:t>
            </a:r>
            <a:endParaRPr lang="en-US" dirty="0"/>
          </a:p>
          <a:p>
            <a:r>
              <a:rPr lang="en-US" dirty="0" smtClean="0"/>
              <a:t>Dynamics CRM addict </a:t>
            </a:r>
            <a:r>
              <a:rPr lang="en-US" dirty="0"/>
              <a:t>since 2005</a:t>
            </a:r>
          </a:p>
          <a:p>
            <a:r>
              <a:rPr lang="en-US" dirty="0"/>
              <a:t>Frequent blogger &amp; #MSDYNCRM evangelist on social media</a:t>
            </a:r>
          </a:p>
          <a:p>
            <a:pPr lvl="1"/>
            <a:r>
              <a:rPr lang="en-US" dirty="0"/>
              <a:t>Blog: </a:t>
            </a:r>
            <a:r>
              <a:rPr lang="en-US" dirty="0" smtClean="0">
                <a:hlinkClick r:id="rId3"/>
              </a:rPr>
              <a:t>survivingcrm.com</a:t>
            </a:r>
            <a:endParaRPr lang="en-US" dirty="0"/>
          </a:p>
          <a:p>
            <a:pPr lvl="1"/>
            <a:r>
              <a:rPr lang="en-US" dirty="0">
                <a:hlinkClick r:id="rId4"/>
              </a:rPr>
              <a:t>@jukkan</a:t>
            </a:r>
            <a:r>
              <a:rPr lang="en-US" dirty="0"/>
              <a:t> on </a:t>
            </a:r>
            <a:r>
              <a:rPr lang="en-US" dirty="0" smtClean="0"/>
              <a:t>Twitter</a:t>
            </a:r>
          </a:p>
          <a:p>
            <a:r>
              <a:rPr lang="en-US" dirty="0" smtClean="0"/>
              <a:t>Microsoft </a:t>
            </a:r>
            <a:r>
              <a:rPr lang="en-US" dirty="0"/>
              <a:t>MVP </a:t>
            </a:r>
            <a:r>
              <a:rPr lang="en-US" dirty="0" smtClean="0"/>
              <a:t>since 2013</a:t>
            </a:r>
            <a:endParaRPr lang="en-US" dirty="0"/>
          </a:p>
          <a:p>
            <a:r>
              <a:rPr lang="en-US" dirty="0"/>
              <a:t>Focused on improving CRM solution usability &amp; information work </a:t>
            </a:r>
            <a:r>
              <a:rPr lang="en-US" dirty="0" smtClean="0"/>
              <a:t>efficiency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310" y="1617518"/>
            <a:ext cx="1849296" cy="18492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84818" y="3484132"/>
            <a:ext cx="25202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dirty="0" smtClean="0"/>
              <a:t>Jukka Niiranen</a:t>
            </a:r>
          </a:p>
          <a:p>
            <a:pPr algn="ctr"/>
            <a:r>
              <a:rPr lang="fi-FI" sz="1400" dirty="0" smtClean="0">
                <a:hlinkClick r:id="rId4"/>
              </a:rPr>
              <a:t>@jukkan</a:t>
            </a:r>
            <a:endParaRPr lang="fi-FI" sz="1400" dirty="0" smtClean="0"/>
          </a:p>
          <a:p>
            <a:pPr algn="ctr"/>
            <a:r>
              <a:rPr lang="fi-FI" sz="1400" dirty="0" smtClean="0"/>
              <a:t>Consultant @ Digital Illustrated</a:t>
            </a:r>
          </a:p>
          <a:p>
            <a:pPr algn="ctr"/>
            <a:r>
              <a:rPr lang="fi-FI" sz="1400" dirty="0" smtClean="0"/>
              <a:t>Microsoft Dynamics CRM MVP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18627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Customizing Dynamics CRM as a Non-Developer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i-FI" dirty="0"/>
              <a:t>Point &amp; click configuration/customization tools of Dynamics CRM have come a long way</a:t>
            </a:r>
          </a:p>
          <a:p>
            <a:r>
              <a:rPr lang="fi-FI" dirty="0"/>
              <a:t>The ratio of custom code vs. configuration in typical CRM solutions is decreasing</a:t>
            </a:r>
          </a:p>
          <a:p>
            <a:r>
              <a:rPr lang="fi-FI" dirty="0"/>
              <a:t>Solution delivery often requires the creative </a:t>
            </a:r>
            <a:r>
              <a:rPr lang="fi-FI" i="1" dirty="0"/>
              <a:t>combination</a:t>
            </a:r>
            <a:r>
              <a:rPr lang="fi-FI" dirty="0"/>
              <a:t> of several CRM configuration options</a:t>
            </a:r>
          </a:p>
          <a:p>
            <a:r>
              <a:rPr lang="fi-FI" dirty="0" smtClean="0"/>
              <a:t>The goal of this article series is to </a:t>
            </a:r>
            <a:r>
              <a:rPr lang="fi-FI" dirty="0"/>
              <a:t>demonstrate a few scenarios where such combinations are used for delivering new functionality for the CRM sales </a:t>
            </a:r>
            <a:r>
              <a:rPr lang="fi-FI" dirty="0" smtClean="0"/>
              <a:t>process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206279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352800" y="1295400"/>
            <a:ext cx="2514600" cy="44196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fi-FI" dirty="0" smtClean="0"/>
              <a:t>Part </a:t>
            </a:r>
            <a:r>
              <a:rPr lang="fi-FI" dirty="0" smtClean="0"/>
              <a:t>2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Customization Scenarios </a:t>
            </a:r>
            <a:r>
              <a:rPr lang="fi-FI" dirty="0"/>
              <a:t>E</a:t>
            </a:r>
            <a:r>
              <a:rPr lang="fi-FI" dirty="0" smtClean="0"/>
              <a:t>xplored in This </a:t>
            </a:r>
            <a:r>
              <a:rPr lang="fi-FI" dirty="0"/>
              <a:t>S</a:t>
            </a:r>
            <a:r>
              <a:rPr lang="fi-FI" dirty="0" smtClean="0"/>
              <a:t>eries</a:t>
            </a:r>
            <a:endParaRPr lang="fi-FI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8302557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25179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dirty="0" smtClean="0"/>
              <a:t>Opportunity Revenue Estimation</a:t>
            </a:r>
            <a:endParaRPr lang="fi-FI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501968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The Problem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fi-FI" dirty="0" smtClean="0"/>
              <a:t>Calculating estimated revenue with CRM can require a lot of clicks from the end user</a:t>
            </a:r>
          </a:p>
          <a:p>
            <a:r>
              <a:rPr lang="fi-FI" dirty="0" smtClean="0"/>
              <a:t>Managing detailed product and price information in CRM product catalog and price lists can be troublesome</a:t>
            </a:r>
          </a:p>
          <a:p>
            <a:r>
              <a:rPr lang="fi-FI" dirty="0" smtClean="0"/>
              <a:t>Cannot easily have a standard set of opportunity product line items included in all opportunities</a:t>
            </a:r>
          </a:p>
          <a:p>
            <a:r>
              <a:rPr lang="fi-FI" dirty="0" smtClean="0"/>
              <a:t>Opportunity product editable grid cannot be customized to optimize data entry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41972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Standard opportunity products grid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197921"/>
            <a:ext cx="7629852" cy="5364961"/>
          </a:xfrm>
          <a:prstGeom prst="rect">
            <a:avLst/>
          </a:prstGeom>
        </p:spPr>
      </p:pic>
      <p:sp>
        <p:nvSpPr>
          <p:cNvPr id="4" name="Rounded Rectangular Callout 3"/>
          <p:cNvSpPr/>
          <p:nvPr/>
        </p:nvSpPr>
        <p:spPr>
          <a:xfrm>
            <a:off x="6496377" y="2133600"/>
            <a:ext cx="1905000" cy="914400"/>
          </a:xfrm>
          <a:prstGeom prst="wedgeRoundRectCallout">
            <a:avLst>
              <a:gd name="adj1" fmla="val 34478"/>
              <a:gd name="adj2" fmla="val 76658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Users must add every line item manually</a:t>
            </a:r>
            <a:endParaRPr lang="fi-FI" dirty="0"/>
          </a:p>
        </p:txBody>
      </p:sp>
      <p:sp>
        <p:nvSpPr>
          <p:cNvPr id="5" name="Rounded Rectangular Callout 4"/>
          <p:cNvSpPr/>
          <p:nvPr/>
        </p:nvSpPr>
        <p:spPr>
          <a:xfrm>
            <a:off x="6248400" y="4191000"/>
            <a:ext cx="1905000" cy="914400"/>
          </a:xfrm>
          <a:prstGeom prst="wedgeRoundRectCallout">
            <a:avLst>
              <a:gd name="adj1" fmla="val 16978"/>
              <a:gd name="adj2" fmla="val -92092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No ability to disable Write-in Products</a:t>
            </a:r>
            <a:endParaRPr lang="fi-FI" dirty="0"/>
          </a:p>
        </p:txBody>
      </p:sp>
      <p:sp>
        <p:nvSpPr>
          <p:cNvPr id="6" name="Rounded Rectangular Callout 5"/>
          <p:cNvSpPr/>
          <p:nvPr/>
        </p:nvSpPr>
        <p:spPr>
          <a:xfrm>
            <a:off x="2524125" y="4648200"/>
            <a:ext cx="1905000" cy="914400"/>
          </a:xfrm>
          <a:prstGeom prst="wedgeRoundRectCallout">
            <a:avLst>
              <a:gd name="adj1" fmla="val 7478"/>
              <a:gd name="adj2" fmla="val -92092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Product pricing cannot be overriden in grid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925257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The 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smtClean="0"/>
              <a:t>Create fixed fields for recording the revenue components directly onto the opportunity entity, with no line items</a:t>
            </a:r>
          </a:p>
          <a:p>
            <a:r>
              <a:rPr lang="fi-FI" dirty="0" smtClean="0"/>
              <a:t>Use CRM 2015 Calculated Fields feature to sum up the estimated revenue across all the individual fields</a:t>
            </a:r>
          </a:p>
          <a:p>
            <a:r>
              <a:rPr lang="fi-FI" dirty="0" smtClean="0"/>
              <a:t>Use a Real-time workflow to update the Est. Revenue field for the opportunity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686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Example Revenue Components for Projects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fi-FI" dirty="0" smtClean="0"/>
              <a:t>Consulting</a:t>
            </a:r>
          </a:p>
          <a:p>
            <a:pPr lvl="1"/>
            <a:r>
              <a:rPr lang="fi-FI" dirty="0" smtClean="0"/>
              <a:t>Hours (decimal), Rate per hour (currency)</a:t>
            </a:r>
          </a:p>
          <a:p>
            <a:pPr lvl="1"/>
            <a:r>
              <a:rPr lang="fi-FI" dirty="0" smtClean="0"/>
              <a:t>Total = Hours * Rate (currency)</a:t>
            </a:r>
          </a:p>
          <a:p>
            <a:r>
              <a:rPr lang="fi-FI" dirty="0" smtClean="0"/>
              <a:t>Licenses</a:t>
            </a:r>
          </a:p>
          <a:p>
            <a:pPr lvl="1"/>
            <a:r>
              <a:rPr lang="fi-FI" dirty="0" smtClean="0"/>
              <a:t>Users (whole), Months (whole), Rate per month (currency)</a:t>
            </a:r>
          </a:p>
          <a:p>
            <a:pPr lvl="1"/>
            <a:r>
              <a:rPr lang="fi-FI" dirty="0" smtClean="0"/>
              <a:t>Total = Users * Months * Rate (currency)</a:t>
            </a:r>
          </a:p>
          <a:p>
            <a:r>
              <a:rPr lang="fi-FI" dirty="0" smtClean="0"/>
              <a:t>Other</a:t>
            </a:r>
          </a:p>
          <a:p>
            <a:pPr lvl="1"/>
            <a:r>
              <a:rPr lang="fi-FI" dirty="0" smtClean="0"/>
              <a:t>Other costs (currency)</a:t>
            </a:r>
          </a:p>
          <a:p>
            <a:r>
              <a:rPr lang="fi-FI" dirty="0" smtClean="0"/>
              <a:t>Total Amount</a:t>
            </a:r>
          </a:p>
          <a:p>
            <a:pPr lvl="1"/>
            <a:r>
              <a:rPr lang="fi-FI" dirty="0" smtClean="0"/>
              <a:t>Total = Consulting total + Licenses total + Other (currency)</a:t>
            </a:r>
          </a:p>
        </p:txBody>
      </p:sp>
    </p:spTree>
    <p:extLst>
      <p:ext uri="{BB962C8B-B14F-4D97-AF65-F5344CB8AC3E}">
        <p14:creationId xmlns:p14="http://schemas.microsoft.com/office/powerpoint/2010/main" val="1559231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Adding Custom Fields for Opportunity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7623"/>
            <a:ext cx="6248400" cy="5457235"/>
          </a:xfrm>
          <a:prstGeom prst="rect">
            <a:avLst/>
          </a:prstGeom>
        </p:spPr>
      </p:pic>
      <p:sp>
        <p:nvSpPr>
          <p:cNvPr id="6" name="Rounded Rectangular Callout 5"/>
          <p:cNvSpPr/>
          <p:nvPr/>
        </p:nvSpPr>
        <p:spPr>
          <a:xfrm>
            <a:off x="6934200" y="1752600"/>
            <a:ext cx="1905000" cy="914400"/>
          </a:xfrm>
          <a:prstGeom prst="wedgeRoundRectCallout">
            <a:avLst>
              <a:gd name="adj1" fmla="val -92022"/>
              <a:gd name="adj2" fmla="val 43324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Simple fields = standard CRM data types</a:t>
            </a:r>
            <a:endParaRPr lang="fi-FI" dirty="0"/>
          </a:p>
        </p:txBody>
      </p:sp>
      <p:sp>
        <p:nvSpPr>
          <p:cNvPr id="7" name="Rounded Rectangular Callout 6"/>
          <p:cNvSpPr/>
          <p:nvPr/>
        </p:nvSpPr>
        <p:spPr>
          <a:xfrm>
            <a:off x="6934200" y="3001840"/>
            <a:ext cx="1905000" cy="914400"/>
          </a:xfrm>
          <a:prstGeom prst="wedgeRoundRectCallout">
            <a:avLst>
              <a:gd name="adj1" fmla="val -88022"/>
              <a:gd name="adj2" fmla="val -2509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Calculated fields = new CRM 2015 field type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97672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Configuring the Calculated Field Formula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171" y="1295400"/>
            <a:ext cx="6171429" cy="1600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71" y="3003176"/>
            <a:ext cx="6393133" cy="3588060"/>
          </a:xfrm>
          <a:prstGeom prst="rect">
            <a:avLst/>
          </a:prstGeom>
        </p:spPr>
      </p:pic>
      <p:sp>
        <p:nvSpPr>
          <p:cNvPr id="6" name="Rounded Rectangular Callout 5"/>
          <p:cNvSpPr/>
          <p:nvPr/>
        </p:nvSpPr>
        <p:spPr>
          <a:xfrm>
            <a:off x="6172200" y="1524000"/>
            <a:ext cx="1981200" cy="838200"/>
          </a:xfrm>
          <a:prstGeom prst="wedgeRoundRectCallout">
            <a:avLst>
              <a:gd name="adj1" fmla="val -86253"/>
              <a:gd name="adj2" fmla="val -11221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In field definition window, </a:t>
            </a:r>
            <a:r>
              <a:rPr lang="fi-FI" dirty="0"/>
              <a:t>c</a:t>
            </a:r>
            <a:r>
              <a:rPr lang="fi-FI" dirty="0" smtClean="0"/>
              <a:t>lick Edit</a:t>
            </a:r>
            <a:endParaRPr lang="fi-FI" dirty="0"/>
          </a:p>
        </p:txBody>
      </p:sp>
      <p:sp>
        <p:nvSpPr>
          <p:cNvPr id="7" name="Rounded Rectangular Callout 6"/>
          <p:cNvSpPr/>
          <p:nvPr/>
        </p:nvSpPr>
        <p:spPr>
          <a:xfrm>
            <a:off x="3733800" y="3545901"/>
            <a:ext cx="2362200" cy="981075"/>
          </a:xfrm>
          <a:prstGeom prst="wedgeRoundRectCallout">
            <a:avLst>
              <a:gd name="adj1" fmla="val -83834"/>
              <a:gd name="adj2" fmla="val 29556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Determine conditions for when to perform the calculation</a:t>
            </a:r>
            <a:endParaRPr lang="fi-FI" dirty="0"/>
          </a:p>
        </p:txBody>
      </p:sp>
      <p:sp>
        <p:nvSpPr>
          <p:cNvPr id="8" name="Rounded Rectangular Callout 7"/>
          <p:cNvSpPr/>
          <p:nvPr/>
        </p:nvSpPr>
        <p:spPr>
          <a:xfrm>
            <a:off x="5334000" y="4821858"/>
            <a:ext cx="2590800" cy="981075"/>
          </a:xfrm>
          <a:prstGeom prst="wedgeRoundRectCallout">
            <a:avLst>
              <a:gd name="adj1" fmla="val -97437"/>
              <a:gd name="adj2" fmla="val 40236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Build calculation formula by picking the fields via ”Intellisense”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01523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Custom Opportunity Form for Project Sales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7624"/>
            <a:ext cx="7541234" cy="5517976"/>
          </a:xfrm>
          <a:prstGeom prst="rect">
            <a:avLst/>
          </a:prstGeom>
        </p:spPr>
      </p:pic>
      <p:sp>
        <p:nvSpPr>
          <p:cNvPr id="4" name="Rounded Rectangular Callout 3"/>
          <p:cNvSpPr/>
          <p:nvPr/>
        </p:nvSpPr>
        <p:spPr>
          <a:xfrm>
            <a:off x="6328720" y="2667000"/>
            <a:ext cx="1349613" cy="762000"/>
          </a:xfrm>
          <a:prstGeom prst="wedgeRoundRectCallout">
            <a:avLst>
              <a:gd name="adj1" fmla="val -92022"/>
              <a:gd name="adj2" fmla="val 43324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Consulting revenue</a:t>
            </a:r>
            <a:endParaRPr lang="fi-FI" dirty="0"/>
          </a:p>
        </p:txBody>
      </p:sp>
      <p:sp>
        <p:nvSpPr>
          <p:cNvPr id="5" name="Rounded Rectangular Callout 4"/>
          <p:cNvSpPr/>
          <p:nvPr/>
        </p:nvSpPr>
        <p:spPr>
          <a:xfrm>
            <a:off x="6324601" y="3946612"/>
            <a:ext cx="1349613" cy="762000"/>
          </a:xfrm>
          <a:prstGeom prst="wedgeRoundRectCallout">
            <a:avLst>
              <a:gd name="adj1" fmla="val -97515"/>
              <a:gd name="adj2" fmla="val 64946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License revenue</a:t>
            </a:r>
            <a:endParaRPr lang="fi-FI" dirty="0"/>
          </a:p>
        </p:txBody>
      </p:sp>
      <p:sp>
        <p:nvSpPr>
          <p:cNvPr id="6" name="Rounded Rectangular Callout 5"/>
          <p:cNvSpPr/>
          <p:nvPr/>
        </p:nvSpPr>
        <p:spPr>
          <a:xfrm>
            <a:off x="6324601" y="4845224"/>
            <a:ext cx="1349613" cy="762000"/>
          </a:xfrm>
          <a:prstGeom prst="wedgeRoundRectCallout">
            <a:avLst>
              <a:gd name="adj1" fmla="val -96905"/>
              <a:gd name="adj2" fmla="val 48730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Other revenue</a:t>
            </a:r>
            <a:endParaRPr lang="fi-FI" dirty="0"/>
          </a:p>
        </p:txBody>
      </p:sp>
      <p:sp>
        <p:nvSpPr>
          <p:cNvPr id="7" name="Rounded Rectangular Callout 6"/>
          <p:cNvSpPr/>
          <p:nvPr/>
        </p:nvSpPr>
        <p:spPr>
          <a:xfrm>
            <a:off x="6324600" y="5743836"/>
            <a:ext cx="1349613" cy="762000"/>
          </a:xfrm>
          <a:prstGeom prst="wedgeRoundRectCallout">
            <a:avLst>
              <a:gd name="adj1" fmla="val -96295"/>
              <a:gd name="adj2" fmla="val 30352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Total revenue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203662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Calculated Fields on the Opportunity Form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187624"/>
            <a:ext cx="9001125" cy="5490341"/>
          </a:xfrm>
          <a:prstGeom prst="rect">
            <a:avLst/>
          </a:prstGeom>
        </p:spPr>
      </p:pic>
      <p:sp>
        <p:nvSpPr>
          <p:cNvPr id="4" name="Rounded Rectangular Callout 3"/>
          <p:cNvSpPr/>
          <p:nvPr/>
        </p:nvSpPr>
        <p:spPr>
          <a:xfrm>
            <a:off x="646489" y="4724400"/>
            <a:ext cx="1868111" cy="1219200"/>
          </a:xfrm>
          <a:prstGeom prst="wedgeRoundRectCallout">
            <a:avLst>
              <a:gd name="adj1" fmla="val 71647"/>
              <a:gd name="adj2" fmla="val 78480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Now we have a Total fields that get calculated on record save </a:t>
            </a:r>
            <a:endParaRPr lang="fi-FI" dirty="0"/>
          </a:p>
        </p:txBody>
      </p:sp>
      <p:sp>
        <p:nvSpPr>
          <p:cNvPr id="5" name="Rounded Rectangular Callout 4"/>
          <p:cNvSpPr/>
          <p:nvPr/>
        </p:nvSpPr>
        <p:spPr>
          <a:xfrm>
            <a:off x="6477000" y="3429000"/>
            <a:ext cx="1981200" cy="1219200"/>
          </a:xfrm>
          <a:prstGeom prst="wedgeRoundRectCallout">
            <a:avLst>
              <a:gd name="adj1" fmla="val -37968"/>
              <a:gd name="adj2" fmla="val -133239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...But the standard Est. Revenue field still remains blank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41483730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Setting the Est. Revenue field value (1)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763832" y="1600201"/>
            <a:ext cx="2922968" cy="3200400"/>
          </a:xfrm>
        </p:spPr>
        <p:txBody>
          <a:bodyPr>
            <a:normAutofit fontScale="85000" lnSpcReduction="20000"/>
          </a:bodyPr>
          <a:lstStyle/>
          <a:p>
            <a:r>
              <a:rPr lang="fi-FI" dirty="0" smtClean="0"/>
              <a:t>Business Rules won’t work for updating the Est. Revenue field</a:t>
            </a:r>
          </a:p>
          <a:p>
            <a:r>
              <a:rPr lang="fi-FI" dirty="0"/>
              <a:t>Y</a:t>
            </a:r>
            <a:r>
              <a:rPr lang="fi-FI" dirty="0" smtClean="0"/>
              <a:t>ou can’t set a standard field’s value to the value of a calculated field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371600"/>
            <a:ext cx="5611432" cy="4266543"/>
          </a:xfrm>
          <a:prstGeom prst="rect">
            <a:avLst/>
          </a:prstGeom>
        </p:spPr>
      </p:pic>
      <p:sp>
        <p:nvSpPr>
          <p:cNvPr id="7" name="Multiply 6"/>
          <p:cNvSpPr/>
          <p:nvPr/>
        </p:nvSpPr>
        <p:spPr>
          <a:xfrm>
            <a:off x="4953000" y="4648200"/>
            <a:ext cx="609600" cy="60960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200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Setting the Est. Revenue field value </a:t>
            </a:r>
            <a:r>
              <a:rPr lang="fi-FI" dirty="0" smtClean="0"/>
              <a:t>(2)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295400"/>
            <a:ext cx="5486400" cy="3700558"/>
          </a:xfrm>
          <a:prstGeom prst="rect">
            <a:avLst/>
          </a:prstGeom>
        </p:spPr>
      </p:pic>
      <p:sp>
        <p:nvSpPr>
          <p:cNvPr id="4" name="Content Placeholder 4"/>
          <p:cNvSpPr txBox="1">
            <a:spLocks/>
          </p:cNvSpPr>
          <p:nvPr/>
        </p:nvSpPr>
        <p:spPr>
          <a:xfrm>
            <a:off x="5638800" y="1600200"/>
            <a:ext cx="3276600" cy="488425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i-FI" sz="2400" dirty="0" smtClean="0"/>
              <a:t>Real-time workflows can, however, access the calculated field’s value</a:t>
            </a:r>
          </a:p>
          <a:p>
            <a:r>
              <a:rPr lang="fi-FI" sz="2400" dirty="0" smtClean="0"/>
              <a:t>Trigger the workflow on record create event and source field value change event</a:t>
            </a:r>
          </a:p>
          <a:p>
            <a:r>
              <a:rPr lang="fi-FI" sz="2400" dirty="0"/>
              <a:t>S</a:t>
            </a:r>
            <a:r>
              <a:rPr lang="fi-FI" sz="2400" dirty="0" smtClean="0"/>
              <a:t>et Est. Revenue to total cost</a:t>
            </a: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562" y="6219726"/>
            <a:ext cx="2895238" cy="27619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086" y="5164016"/>
            <a:ext cx="4485714" cy="8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6044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Est. Revenue Synchronized with Calculated Total Field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87624"/>
            <a:ext cx="8686800" cy="5476460"/>
          </a:xfrm>
          <a:prstGeom prst="rect">
            <a:avLst/>
          </a:prstGeom>
        </p:spPr>
      </p:pic>
      <p:sp>
        <p:nvSpPr>
          <p:cNvPr id="5" name="Rounded Rectangular Callout 4"/>
          <p:cNvSpPr/>
          <p:nvPr/>
        </p:nvSpPr>
        <p:spPr>
          <a:xfrm>
            <a:off x="5562600" y="3200400"/>
            <a:ext cx="2590800" cy="1219200"/>
          </a:xfrm>
          <a:prstGeom prst="wedgeRoundRectCallout">
            <a:avLst>
              <a:gd name="adj1" fmla="val -4347"/>
              <a:gd name="adj2" fmla="val -122196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Now the Est. Revenue field will automatically reflect the value from the calculated Total field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4713664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dirty="0" smtClean="0"/>
              <a:t>Final Notes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6473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Next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fi-FI" dirty="0"/>
              <a:t>Read more articles on Microsoft Dynamics CRM customization best practices at </a:t>
            </a:r>
            <a:r>
              <a:rPr lang="fi-FI" dirty="0">
                <a:hlinkClick r:id="rId2"/>
              </a:rPr>
              <a:t>http://survivingcrm.com</a:t>
            </a:r>
            <a:r>
              <a:rPr lang="fi-FI" dirty="0" smtClean="0">
                <a:hlinkClick r:id="rId2"/>
              </a:rPr>
              <a:t>/</a:t>
            </a:r>
            <a:r>
              <a:rPr lang="fi-FI" dirty="0" smtClean="0"/>
              <a:t> </a:t>
            </a:r>
          </a:p>
          <a:p>
            <a:r>
              <a:rPr lang="fi-FI" dirty="0" smtClean="0"/>
              <a:t>Follow </a:t>
            </a:r>
            <a:r>
              <a:rPr lang="fi-FI" dirty="0" smtClean="0">
                <a:hlinkClick r:id="rId3"/>
              </a:rPr>
              <a:t>@jukkan</a:t>
            </a:r>
            <a:r>
              <a:rPr lang="fi-FI" dirty="0" smtClean="0"/>
              <a:t> on Twitter for the latest #MSDynCRM related news and tips</a:t>
            </a:r>
          </a:p>
          <a:p>
            <a:r>
              <a:rPr lang="fi-FI" dirty="0" smtClean="0"/>
              <a:t>Check out the Dynamics CRM </a:t>
            </a:r>
            <a:r>
              <a:rPr lang="fi-FI" dirty="0"/>
              <a:t>webcasts series at </a:t>
            </a:r>
            <a:r>
              <a:rPr lang="fi-FI" dirty="0">
                <a:hlinkClick r:id="rId4"/>
              </a:rPr>
              <a:t>http://</a:t>
            </a:r>
            <a:r>
              <a:rPr lang="fi-FI" dirty="0" smtClean="0">
                <a:hlinkClick r:id="rId4"/>
              </a:rPr>
              <a:t>msdynamicsworld.com/webcasts</a:t>
            </a:r>
            <a:r>
              <a:rPr lang="fi-FI" dirty="0" smtClean="0"/>
              <a:t> </a:t>
            </a:r>
          </a:p>
          <a:p>
            <a:r>
              <a:rPr lang="fi-FI" dirty="0" smtClean="0"/>
              <a:t>Thanks for viewing these slides &amp; enjoy customizing your Dynamics CRM environment!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045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X_template.potx" id="{EB80BC65-1F7D-47FE-AE26-82DC4BBBDF8F}" vid="{45D77A42-99A4-4F29-A5C4-CC61A13B99E4}"/>
    </a:ext>
  </a:extLst>
</a:theme>
</file>

<file path=ppt/theme/theme2.xml><?xml version="1.0" encoding="utf-8"?>
<a:theme xmlns:a="http://schemas.openxmlformats.org/drawingml/2006/main" name="Mukautettu suunnittelumall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X_template.potx" id="{EB80BC65-1F7D-47FE-AE26-82DC4BBBDF8F}" vid="{FFC12EE9-4900-4D96-BC6D-BE1F8A703730}"/>
    </a:ext>
  </a:extLst>
</a:theme>
</file>

<file path=ppt/theme/theme3.xml><?xml version="1.0" encoding="utf-8"?>
<a:theme xmlns:a="http://schemas.openxmlformats.org/drawingml/2006/main" name="1_Mukautettu suunnittelumall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X_template.potx" id="{EB80BC65-1F7D-47FE-AE26-82DC4BBBDF8F}" vid="{9FBD5D33-D51F-43D9-93E4-80EF66E5D9C9}"/>
    </a:ext>
  </a:extLst>
</a:theme>
</file>

<file path=ppt/theme/theme4.xml><?xml version="1.0" encoding="utf-8"?>
<a:theme xmlns:a="http://schemas.openxmlformats.org/drawingml/2006/main" name="2_Mukautettu suunnittelumall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X_template.potx" id="{EB80BC65-1F7D-47FE-AE26-82DC4BBBDF8F}" vid="{DA1CC48D-9C7E-4C78-97C4-84668C6F7F9A}"/>
    </a:ext>
  </a:extLst>
</a:theme>
</file>

<file path=ppt/theme/theme5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I Document" ma:contentTypeID="0x010100E6A19B01B868244895E9E1DD18A8015F00CFEC1B033C0E194F9FCF606E5E4B8225" ma:contentTypeVersion="15" ma:contentTypeDescription="" ma:contentTypeScope="" ma:versionID="12b64278555ec8bb5fcf3b7a07c4f4ee">
  <xsd:schema xmlns:xsd="http://www.w3.org/2001/XMLSchema" xmlns:xs="http://www.w3.org/2001/XMLSchema" xmlns:p="http://schemas.microsoft.com/office/2006/metadata/properties" xmlns:ns2="a68957de-6112-48b5-9eb0-77d056a26262" targetNamespace="http://schemas.microsoft.com/office/2006/metadata/properties" ma:root="true" ma:fieldsID="e79fc47ad215c10967248eb4506130b9" ns2:_="">
    <xsd:import namespace="a68957de-6112-48b5-9eb0-77d056a26262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2:TaxKeyword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8957de-6112-48b5-9eb0-77d056a26262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580554e9-393c-4bd7-a20d-be8c0080392c}" ma:internalName="TaxCatchAll" ma:showField="CatchAllData" ma:web="1e923678-eea3-4704-b7fe-d4e44de166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580554e9-393c-4bd7-a20d-be8c0080392c}" ma:internalName="TaxCatchAllLabel" ma:readOnly="true" ma:showField="CatchAllDataLabel" ma:web="1e923678-eea3-4704-b7fe-d4e44de166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KeywordTaxHTField" ma:index="10" nillable="true" ma:taxonomy="true" ma:internalName="TaxKeywordTaxHTField" ma:taxonomyFieldName="TaxKeyword" ma:displayName="Enterprise Keywords" ma:fieldId="{23f27201-bee3-471e-b2e7-b64fd8b7ca38}" ma:taxonomyMulti="true" ma:sspId="649a360c-ce61-4166-b87e-c4cdda515172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68957de-6112-48b5-9eb0-77d056a26262"/>
    <TaxKeywordTaxHTField xmlns="a68957de-6112-48b5-9eb0-77d056a26262">
      <Terms xmlns="http://schemas.microsoft.com/office/infopath/2007/PartnerControls"/>
    </TaxKeywordTaxHTField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customXsn xmlns="http://schemas.microsoft.com/office/2006/metadata/customXsn">
  <xsnLocation/>
  <cached>True</cached>
  <openByDefault>True</openByDefault>
  <xsnScope/>
</customXsn>
</file>

<file path=customXml/itemProps1.xml><?xml version="1.0" encoding="utf-8"?>
<ds:datastoreItem xmlns:ds="http://schemas.openxmlformats.org/officeDocument/2006/customXml" ds:itemID="{950DE21F-524A-43A6-939F-D5CFAFB7F1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68957de-6112-48b5-9eb0-77d056a2626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8D6B094-557C-46E5-A62E-A99772DA6067}">
  <ds:schemaRefs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a68957de-6112-48b5-9eb0-77d056a26262"/>
    <ds:schemaRef ds:uri="http://purl.org/dc/elements/1.1/"/>
    <ds:schemaRef ds:uri="http://schemas.microsoft.com/office/2006/metadata/properties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268629B-9075-4505-ACC9-29DA7209EE62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AB020148-C318-41E1-8776-6CD8ABC444D8}">
  <ds:schemaRefs>
    <ds:schemaRef ds:uri="http://schemas.microsoft.com/office/2006/metadata/customXs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5103</TotalTime>
  <Words>711</Words>
  <Application>Microsoft Office PowerPoint</Application>
  <PresentationFormat>On-screen Show (4:3)</PresentationFormat>
  <Paragraphs>91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Office-teema</vt:lpstr>
      <vt:lpstr>Mukautettu suunnittelumalli</vt:lpstr>
      <vt:lpstr>1_Mukautettu suunnittelumalli</vt:lpstr>
      <vt:lpstr>2_Mukautettu suunnittelumalli</vt:lpstr>
      <vt:lpstr>A Non-Developer's Guide to Smarter Sales Processes in Microsoft Dynamics CRM 2015 - Part 2: Revenue Estimation </vt:lpstr>
      <vt:lpstr>About This Presentation</vt:lpstr>
      <vt:lpstr>About Me</vt:lpstr>
      <vt:lpstr>Customizing Dynamics CRM as a Non-Developer</vt:lpstr>
      <vt:lpstr>Customization Scenarios Explored in This Series</vt:lpstr>
      <vt:lpstr>Opportunity Revenue Estimation</vt:lpstr>
      <vt:lpstr>The Problem</vt:lpstr>
      <vt:lpstr>Standard opportunity products grid</vt:lpstr>
      <vt:lpstr>The Solution</vt:lpstr>
      <vt:lpstr>Example Revenue Components for Projects</vt:lpstr>
      <vt:lpstr>Adding Custom Fields for Opportunity</vt:lpstr>
      <vt:lpstr>Configuring the Calculated Field Formula</vt:lpstr>
      <vt:lpstr>Custom Opportunity Form for Project Sales</vt:lpstr>
      <vt:lpstr>Calculated Fields on the Opportunity Form</vt:lpstr>
      <vt:lpstr>Setting the Est. Revenue field value (1)</vt:lpstr>
      <vt:lpstr>Setting the Est. Revenue field value (2)</vt:lpstr>
      <vt:lpstr>Est. Revenue Synchronized with Calculated Total Field</vt:lpstr>
      <vt:lpstr>Final Notes</vt:lpstr>
      <vt:lpstr>Next Steps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Non-Developer's Guide toSmarter Sales Processes inMicrosoft Dynamics CRM 2015</dc:title>
  <dc:creator>Jukka Niiranen</dc:creator>
  <cp:lastModifiedBy>Jukka Niiranen</cp:lastModifiedBy>
  <cp:revision>132</cp:revision>
  <dcterms:created xsi:type="dcterms:W3CDTF">2015-03-31T15:47:57Z</dcterms:created>
  <dcterms:modified xsi:type="dcterms:W3CDTF">2015-05-20T16:57:00Z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0x010100E6A19B01B868244895E9E1DD18A8015F00CFEC1B033C0E194F9FCF606E5E4B8225</vt:lpwstr>
  </property>
  <property fmtid="{D5CDD505-2E9C-101B-9397-08002B2CF9AE}" pid="3" name="_dlc_DocIdItemGuid">
    <vt:lpwstr>0b637fa5-84ed-461a-b878-3934951bf2fc</vt:lpwstr>
  </property>
</Properties>
</file>