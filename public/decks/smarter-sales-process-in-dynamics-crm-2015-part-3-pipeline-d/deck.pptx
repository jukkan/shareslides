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60" r:id="rId6"/>
    <p:sldMasterId id="2147483673" r:id="rId7"/>
    <p:sldMasterId id="2147483685" r:id="rId8"/>
  </p:sldMasterIdLst>
  <p:notesMasterIdLst>
    <p:notesMasterId r:id="rId32"/>
  </p:notesMasterIdLst>
  <p:sldIdLst>
    <p:sldId id="256" r:id="rId9"/>
    <p:sldId id="301" r:id="rId10"/>
    <p:sldId id="286" r:id="rId11"/>
    <p:sldId id="300" r:id="rId12"/>
    <p:sldId id="258" r:id="rId13"/>
    <p:sldId id="316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02" r:id="rId30"/>
    <p:sldId id="303" r:id="rId31"/>
  </p:sldIdLst>
  <p:sldSz cx="9144000" cy="6858000" type="screen4x3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B6AE"/>
    <a:srgbClr val="52C2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>
      <p:cViewPr varScale="1">
        <p:scale>
          <a:sx n="116" d="100"/>
          <a:sy n="116" d="100"/>
        </p:scale>
        <p:origin x="150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87FE64-C2BB-4301-B7F2-BCE47EB5A8A1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</dgm:pt>
    <dgm:pt modelId="{9F0E073A-640B-4BF5-88C9-D781341EFD8E}">
      <dgm:prSet phldrT="[Text]"/>
      <dgm:spPr/>
      <dgm:t>
        <a:bodyPr/>
        <a:lstStyle/>
        <a:p>
          <a:r>
            <a:rPr lang="fi-FI" smtClean="0"/>
            <a:t>1. Lead qualification</a:t>
          </a:r>
          <a:endParaRPr lang="fi-FI"/>
        </a:p>
      </dgm:t>
    </dgm:pt>
    <dgm:pt modelId="{89916C81-5C51-4407-BE2E-7FC1505F2520}" type="parTrans" cxnId="{CC4A8533-69F8-4BBD-8C43-4BF73DE40E48}">
      <dgm:prSet/>
      <dgm:spPr/>
      <dgm:t>
        <a:bodyPr/>
        <a:lstStyle/>
        <a:p>
          <a:endParaRPr lang="fi-FI"/>
        </a:p>
      </dgm:t>
    </dgm:pt>
    <dgm:pt modelId="{80DDFE8E-AD40-4262-8ED8-EE25603E7DEA}" type="sibTrans" cxnId="{CC4A8533-69F8-4BBD-8C43-4BF73DE40E48}">
      <dgm:prSet/>
      <dgm:spPr/>
      <dgm:t>
        <a:bodyPr/>
        <a:lstStyle/>
        <a:p>
          <a:endParaRPr lang="fi-FI"/>
        </a:p>
      </dgm:t>
    </dgm:pt>
    <dgm:pt modelId="{5C1C9C49-9D29-428B-B8FC-2E999A0DEBE9}">
      <dgm:prSet phldrT="[Text]"/>
      <dgm:spPr/>
      <dgm:t>
        <a:bodyPr/>
        <a:lstStyle/>
        <a:p>
          <a:r>
            <a:rPr lang="fi-FI" dirty="0" smtClean="0"/>
            <a:t>2. </a:t>
          </a:r>
          <a:r>
            <a:rPr lang="fi-FI" smtClean="0"/>
            <a:t>Opportunity revenue estimation</a:t>
          </a:r>
          <a:endParaRPr lang="fi-FI" dirty="0"/>
        </a:p>
      </dgm:t>
    </dgm:pt>
    <dgm:pt modelId="{A16DCC53-40A6-4BEB-8C25-F8E56595A551}" type="parTrans" cxnId="{B543C497-DD4F-46A0-905F-C4AF03B2E759}">
      <dgm:prSet/>
      <dgm:spPr/>
      <dgm:t>
        <a:bodyPr/>
        <a:lstStyle/>
        <a:p>
          <a:endParaRPr lang="fi-FI"/>
        </a:p>
      </dgm:t>
    </dgm:pt>
    <dgm:pt modelId="{8D24CDA5-24DF-492F-85C2-FCB4570674A4}" type="sibTrans" cxnId="{B543C497-DD4F-46A0-905F-C4AF03B2E759}">
      <dgm:prSet/>
      <dgm:spPr/>
      <dgm:t>
        <a:bodyPr/>
        <a:lstStyle/>
        <a:p>
          <a:endParaRPr lang="fi-FI"/>
        </a:p>
      </dgm:t>
    </dgm:pt>
    <dgm:pt modelId="{96138742-60ED-44AE-892F-A90C11A8E995}">
      <dgm:prSet phldrT="[Text]"/>
      <dgm:spPr/>
      <dgm:t>
        <a:bodyPr/>
        <a:lstStyle/>
        <a:p>
          <a:r>
            <a:rPr lang="fi-FI" dirty="0" smtClean="0"/>
            <a:t>Convert leads to influencers instead of new opportunities</a:t>
          </a:r>
          <a:endParaRPr lang="fi-FI" dirty="0"/>
        </a:p>
      </dgm:t>
    </dgm:pt>
    <dgm:pt modelId="{F2D8563A-8DB5-49D2-A5CD-AF75AC7B815B}" type="parTrans" cxnId="{04D349E3-FAC3-4009-A16B-B0C54313383C}">
      <dgm:prSet/>
      <dgm:spPr/>
      <dgm:t>
        <a:bodyPr/>
        <a:lstStyle/>
        <a:p>
          <a:endParaRPr lang="fi-FI"/>
        </a:p>
      </dgm:t>
    </dgm:pt>
    <dgm:pt modelId="{8F6A1A03-0C38-43AD-B343-3F58132B2E83}" type="sibTrans" cxnId="{04D349E3-FAC3-4009-A16B-B0C54313383C}">
      <dgm:prSet/>
      <dgm:spPr/>
      <dgm:t>
        <a:bodyPr/>
        <a:lstStyle/>
        <a:p>
          <a:endParaRPr lang="fi-FI"/>
        </a:p>
      </dgm:t>
    </dgm:pt>
    <dgm:pt modelId="{D9D0F459-4D3B-495E-A5C6-D6A1BE061048}">
      <dgm:prSet phldrT="[Text]"/>
      <dgm:spPr/>
      <dgm:t>
        <a:bodyPr/>
        <a:lstStyle/>
        <a:p>
          <a:r>
            <a:rPr lang="fi-FI" dirty="0" smtClean="0"/>
            <a:t>Calculate opportunity total value from day &amp; rate fields</a:t>
          </a:r>
          <a:endParaRPr lang="fi-FI" dirty="0"/>
        </a:p>
      </dgm:t>
    </dgm:pt>
    <dgm:pt modelId="{65E24E88-5C02-4F0B-8752-64799FC3424C}" type="parTrans" cxnId="{F41043E6-05EC-4C9A-985C-A2AAF9852048}">
      <dgm:prSet/>
      <dgm:spPr/>
      <dgm:t>
        <a:bodyPr/>
        <a:lstStyle/>
        <a:p>
          <a:endParaRPr lang="fi-FI"/>
        </a:p>
      </dgm:t>
    </dgm:pt>
    <dgm:pt modelId="{5C0D36D0-FCE7-400C-8CC5-C11623ECAB21}" type="sibTrans" cxnId="{F41043E6-05EC-4C9A-985C-A2AAF9852048}">
      <dgm:prSet/>
      <dgm:spPr/>
      <dgm:t>
        <a:bodyPr/>
        <a:lstStyle/>
        <a:p>
          <a:endParaRPr lang="fi-FI"/>
        </a:p>
      </dgm:t>
    </dgm:pt>
    <dgm:pt modelId="{D7C9A7BE-2417-428B-9524-31D170AA44D3}">
      <dgm:prSet phldrT="[Text]"/>
      <dgm:spPr/>
      <dgm:t>
        <a:bodyPr/>
        <a:lstStyle/>
        <a:p>
          <a:r>
            <a:rPr lang="fi-FI" smtClean="0"/>
            <a:t>3. Pipeline development</a:t>
          </a:r>
          <a:endParaRPr lang="fi-FI"/>
        </a:p>
      </dgm:t>
    </dgm:pt>
    <dgm:pt modelId="{EEBEB180-8409-49F8-B053-691255906D35}" type="parTrans" cxnId="{442EA19D-4F50-498C-BBEF-EBD3D215A39C}">
      <dgm:prSet/>
      <dgm:spPr/>
      <dgm:t>
        <a:bodyPr/>
        <a:lstStyle/>
        <a:p>
          <a:endParaRPr lang="fi-FI"/>
        </a:p>
      </dgm:t>
    </dgm:pt>
    <dgm:pt modelId="{67B7C185-F0C4-4078-BD48-C99002C2EF6C}" type="sibTrans" cxnId="{442EA19D-4F50-498C-BBEF-EBD3D215A39C}">
      <dgm:prSet/>
      <dgm:spPr/>
      <dgm:t>
        <a:bodyPr/>
        <a:lstStyle/>
        <a:p>
          <a:endParaRPr lang="fi-FI"/>
        </a:p>
      </dgm:t>
    </dgm:pt>
    <dgm:pt modelId="{E47301C1-5CCB-4056-B1EA-D12FF7E9F61E}">
      <dgm:prSet phldrT="[Text]"/>
      <dgm:spPr/>
      <dgm:t>
        <a:bodyPr/>
        <a:lstStyle/>
        <a:p>
          <a:r>
            <a:rPr lang="fi-FI" dirty="0" smtClean="0"/>
            <a:t>Capture opportunity count and revenue per sales stage</a:t>
          </a:r>
          <a:endParaRPr lang="fi-FI" dirty="0"/>
        </a:p>
      </dgm:t>
    </dgm:pt>
    <dgm:pt modelId="{986194D5-51A3-4B1F-9A2F-41AB6B207A0B}" type="parTrans" cxnId="{B6C34A62-EF08-4961-B00D-0C6C706D0E68}">
      <dgm:prSet/>
      <dgm:spPr/>
      <dgm:t>
        <a:bodyPr/>
        <a:lstStyle/>
        <a:p>
          <a:endParaRPr lang="fi-FI"/>
        </a:p>
      </dgm:t>
    </dgm:pt>
    <dgm:pt modelId="{EAE78C0B-4664-4C28-B562-ECB8D2F7A72A}" type="sibTrans" cxnId="{B6C34A62-EF08-4961-B00D-0C6C706D0E68}">
      <dgm:prSet/>
      <dgm:spPr/>
      <dgm:t>
        <a:bodyPr/>
        <a:lstStyle/>
        <a:p>
          <a:endParaRPr lang="fi-FI"/>
        </a:p>
      </dgm:t>
    </dgm:pt>
    <dgm:pt modelId="{63AE6570-59A5-41D1-AD20-B5B9C0066A95}">
      <dgm:prSet phldrT="[Text]"/>
      <dgm:spPr/>
      <dgm:t>
        <a:bodyPr/>
        <a:lstStyle/>
        <a:p>
          <a:r>
            <a:rPr lang="fi-FI" dirty="0" smtClean="0"/>
            <a:t>Streamline data entry for leads on existing accounts &amp; contacts</a:t>
          </a:r>
          <a:endParaRPr lang="fi-FI" dirty="0"/>
        </a:p>
      </dgm:t>
    </dgm:pt>
    <dgm:pt modelId="{F7C70AAA-0EB3-45D4-B28B-704B1B34685E}" type="parTrans" cxnId="{75D3E539-38C2-44C7-8EC6-E3D157AD4CFD}">
      <dgm:prSet/>
      <dgm:spPr/>
      <dgm:t>
        <a:bodyPr/>
        <a:lstStyle/>
        <a:p>
          <a:endParaRPr lang="en-US"/>
        </a:p>
      </dgm:t>
    </dgm:pt>
    <dgm:pt modelId="{19760A60-D84C-4A30-8980-DD95DE823024}" type="sibTrans" cxnId="{75D3E539-38C2-44C7-8EC6-E3D157AD4CFD}">
      <dgm:prSet/>
      <dgm:spPr/>
      <dgm:t>
        <a:bodyPr/>
        <a:lstStyle/>
        <a:p>
          <a:endParaRPr lang="en-US"/>
        </a:p>
      </dgm:t>
    </dgm:pt>
    <dgm:pt modelId="{063B73BF-F252-4336-AD7D-0DBE2C6841A3}">
      <dgm:prSet phldrT="[Text]"/>
      <dgm:spPr/>
      <dgm:t>
        <a:bodyPr/>
        <a:lstStyle/>
        <a:p>
          <a:r>
            <a:rPr lang="fi-FI" dirty="0" smtClean="0"/>
            <a:t>Schedule data snapshots of historical pipeline size</a:t>
          </a:r>
          <a:endParaRPr lang="fi-FI" dirty="0"/>
        </a:p>
      </dgm:t>
    </dgm:pt>
    <dgm:pt modelId="{C4CD97B3-EC37-45FC-B831-D8984E338889}" type="parTrans" cxnId="{89774B2D-B364-4652-8A20-6AF3C747A9DD}">
      <dgm:prSet/>
      <dgm:spPr/>
      <dgm:t>
        <a:bodyPr/>
        <a:lstStyle/>
        <a:p>
          <a:endParaRPr lang="en-US"/>
        </a:p>
      </dgm:t>
    </dgm:pt>
    <dgm:pt modelId="{80CB20BB-76AE-4C20-A75E-3117A21DAA8A}" type="sibTrans" cxnId="{89774B2D-B364-4652-8A20-6AF3C747A9DD}">
      <dgm:prSet/>
      <dgm:spPr/>
      <dgm:t>
        <a:bodyPr/>
        <a:lstStyle/>
        <a:p>
          <a:endParaRPr lang="en-US"/>
        </a:p>
      </dgm:t>
    </dgm:pt>
    <dgm:pt modelId="{592E6204-DE1C-4ABC-A59D-E7696CAD8E9F}">
      <dgm:prSet phldrT="[Text]"/>
      <dgm:spPr/>
      <dgm:t>
        <a:bodyPr/>
        <a:lstStyle/>
        <a:p>
          <a:r>
            <a:rPr lang="fi-FI" dirty="0" smtClean="0"/>
            <a:t>Replace opportunity product lines with predefined cost estimate fields</a:t>
          </a:r>
          <a:endParaRPr lang="fi-FI" dirty="0"/>
        </a:p>
      </dgm:t>
    </dgm:pt>
    <dgm:pt modelId="{214BCB3B-3B82-47AF-8C7A-C8263E0B9B8B}" type="parTrans" cxnId="{53969597-839D-41FE-8F09-7645D94275C1}">
      <dgm:prSet/>
      <dgm:spPr/>
      <dgm:t>
        <a:bodyPr/>
        <a:lstStyle/>
        <a:p>
          <a:endParaRPr lang="en-US"/>
        </a:p>
      </dgm:t>
    </dgm:pt>
    <dgm:pt modelId="{68705A3D-2BC7-497D-9BED-47B2E9350867}" type="sibTrans" cxnId="{53969597-839D-41FE-8F09-7645D94275C1}">
      <dgm:prSet/>
      <dgm:spPr/>
      <dgm:t>
        <a:bodyPr/>
        <a:lstStyle/>
        <a:p>
          <a:endParaRPr lang="en-US"/>
        </a:p>
      </dgm:t>
    </dgm:pt>
    <dgm:pt modelId="{8AB1583F-9843-4E83-BB0A-FE994500197A}" type="pres">
      <dgm:prSet presAssocID="{B787FE64-C2BB-4301-B7F2-BCE47EB5A8A1}" presName="linearFlow" presStyleCnt="0">
        <dgm:presLayoutVars>
          <dgm:dir/>
          <dgm:animLvl val="lvl"/>
          <dgm:resizeHandles val="exact"/>
        </dgm:presLayoutVars>
      </dgm:prSet>
      <dgm:spPr/>
    </dgm:pt>
    <dgm:pt modelId="{09F29E2F-C511-4CD4-AACB-89D164589693}" type="pres">
      <dgm:prSet presAssocID="{9F0E073A-640B-4BF5-88C9-D781341EFD8E}" presName="composite" presStyleCnt="0"/>
      <dgm:spPr/>
    </dgm:pt>
    <dgm:pt modelId="{8592E055-5121-413D-8221-CC13F3757FBB}" type="pres">
      <dgm:prSet presAssocID="{9F0E073A-640B-4BF5-88C9-D781341EFD8E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19BA2E-BE08-4CC6-A47A-E0D61256D833}" type="pres">
      <dgm:prSet presAssocID="{9F0E073A-640B-4BF5-88C9-D781341EFD8E}" presName="parSh" presStyleLbl="node1" presStyleIdx="0" presStyleCnt="3"/>
      <dgm:spPr/>
      <dgm:t>
        <a:bodyPr/>
        <a:lstStyle/>
        <a:p>
          <a:endParaRPr lang="en-US"/>
        </a:p>
      </dgm:t>
    </dgm:pt>
    <dgm:pt modelId="{494C6FA9-0797-49D7-AC78-22EFD31C0947}" type="pres">
      <dgm:prSet presAssocID="{9F0E073A-640B-4BF5-88C9-D781341EFD8E}" presName="desTx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ECD0A5E5-A6BB-45C6-B0AA-112A708C7D3A}" type="pres">
      <dgm:prSet presAssocID="{80DDFE8E-AD40-4262-8ED8-EE25603E7DEA}" presName="sibTrans" presStyleLbl="sibTrans2D1" presStyleIdx="0" presStyleCnt="2"/>
      <dgm:spPr/>
      <dgm:t>
        <a:bodyPr/>
        <a:lstStyle/>
        <a:p>
          <a:endParaRPr lang="en-US"/>
        </a:p>
      </dgm:t>
    </dgm:pt>
    <dgm:pt modelId="{F6DD8874-8DAC-4417-A6C1-97589456A657}" type="pres">
      <dgm:prSet presAssocID="{80DDFE8E-AD40-4262-8ED8-EE25603E7DEA}" presName="connTx" presStyleLbl="sibTrans2D1" presStyleIdx="0" presStyleCnt="2"/>
      <dgm:spPr/>
      <dgm:t>
        <a:bodyPr/>
        <a:lstStyle/>
        <a:p>
          <a:endParaRPr lang="en-US"/>
        </a:p>
      </dgm:t>
    </dgm:pt>
    <dgm:pt modelId="{1EEAA572-1D38-44BC-9192-8110A1732768}" type="pres">
      <dgm:prSet presAssocID="{5C1C9C49-9D29-428B-B8FC-2E999A0DEBE9}" presName="composite" presStyleCnt="0"/>
      <dgm:spPr/>
    </dgm:pt>
    <dgm:pt modelId="{551F2636-F6B7-47D6-97C8-BE70EB6C5BE1}" type="pres">
      <dgm:prSet presAssocID="{5C1C9C49-9D29-428B-B8FC-2E999A0DEBE9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4E0D7149-43FB-4772-961E-7B949F764B77}" type="pres">
      <dgm:prSet presAssocID="{5C1C9C49-9D29-428B-B8FC-2E999A0DEBE9}" presName="parSh" presStyleLbl="node1" presStyleIdx="1" presStyleCnt="3"/>
      <dgm:spPr/>
      <dgm:t>
        <a:bodyPr/>
        <a:lstStyle/>
        <a:p>
          <a:endParaRPr lang="fi-FI"/>
        </a:p>
      </dgm:t>
    </dgm:pt>
    <dgm:pt modelId="{5D626858-44C3-4F70-B731-89D7137D3000}" type="pres">
      <dgm:prSet presAssocID="{5C1C9C49-9D29-428B-B8FC-2E999A0DEBE9}" presName="desTx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fi-FI"/>
        </a:p>
      </dgm:t>
    </dgm:pt>
    <dgm:pt modelId="{C3F39163-B775-4C27-9F1D-0FE9D17D7250}" type="pres">
      <dgm:prSet presAssocID="{8D24CDA5-24DF-492F-85C2-FCB4570674A4}" presName="sibTrans" presStyleLbl="sibTrans2D1" presStyleIdx="1" presStyleCnt="2"/>
      <dgm:spPr/>
      <dgm:t>
        <a:bodyPr/>
        <a:lstStyle/>
        <a:p>
          <a:endParaRPr lang="en-US"/>
        </a:p>
      </dgm:t>
    </dgm:pt>
    <dgm:pt modelId="{741AC030-9FE2-408E-93A1-F290A76E526D}" type="pres">
      <dgm:prSet presAssocID="{8D24CDA5-24DF-492F-85C2-FCB4570674A4}" presName="connTx" presStyleLbl="sibTrans2D1" presStyleIdx="1" presStyleCnt="2"/>
      <dgm:spPr/>
      <dgm:t>
        <a:bodyPr/>
        <a:lstStyle/>
        <a:p>
          <a:endParaRPr lang="en-US"/>
        </a:p>
      </dgm:t>
    </dgm:pt>
    <dgm:pt modelId="{965753DB-B765-44D1-88E9-4ACEA6D4E2A5}" type="pres">
      <dgm:prSet presAssocID="{D7C9A7BE-2417-428B-9524-31D170AA44D3}" presName="composite" presStyleCnt="0"/>
      <dgm:spPr/>
    </dgm:pt>
    <dgm:pt modelId="{F3156236-7221-446C-894E-CF837B996F59}" type="pres">
      <dgm:prSet presAssocID="{D7C9A7BE-2417-428B-9524-31D170AA44D3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574652-5298-44E5-A829-C7FC8CE7AF2C}" type="pres">
      <dgm:prSet presAssocID="{D7C9A7BE-2417-428B-9524-31D170AA44D3}" presName="parSh" presStyleLbl="node1" presStyleIdx="2" presStyleCnt="3"/>
      <dgm:spPr/>
      <dgm:t>
        <a:bodyPr/>
        <a:lstStyle/>
        <a:p>
          <a:endParaRPr lang="en-US"/>
        </a:p>
      </dgm:t>
    </dgm:pt>
    <dgm:pt modelId="{6D2D5376-477E-4C50-9A39-2D5013F247E3}" type="pres">
      <dgm:prSet presAssocID="{D7C9A7BE-2417-428B-9524-31D170AA44D3}" presName="desTx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fi-FI"/>
        </a:p>
      </dgm:t>
    </dgm:pt>
  </dgm:ptLst>
  <dgm:cxnLst>
    <dgm:cxn modelId="{53969597-839D-41FE-8F09-7645D94275C1}" srcId="{5C1C9C49-9D29-428B-B8FC-2E999A0DEBE9}" destId="{592E6204-DE1C-4ABC-A59D-E7696CAD8E9F}" srcOrd="0" destOrd="0" parTransId="{214BCB3B-3B82-47AF-8C7A-C8263E0B9B8B}" sibTransId="{68705A3D-2BC7-497D-9BED-47B2E9350867}"/>
    <dgm:cxn modelId="{B6C34A62-EF08-4961-B00D-0C6C706D0E68}" srcId="{D7C9A7BE-2417-428B-9524-31D170AA44D3}" destId="{E47301C1-5CCB-4056-B1EA-D12FF7E9F61E}" srcOrd="0" destOrd="0" parTransId="{986194D5-51A3-4B1F-9A2F-41AB6B207A0B}" sibTransId="{EAE78C0B-4664-4C28-B562-ECB8D2F7A72A}"/>
    <dgm:cxn modelId="{89774B2D-B364-4652-8A20-6AF3C747A9DD}" srcId="{D7C9A7BE-2417-428B-9524-31D170AA44D3}" destId="{063B73BF-F252-4336-AD7D-0DBE2C6841A3}" srcOrd="1" destOrd="0" parTransId="{C4CD97B3-EC37-45FC-B831-D8984E338889}" sibTransId="{80CB20BB-76AE-4C20-A75E-3117A21DAA8A}"/>
    <dgm:cxn modelId="{B57E1CC1-75FD-4BF7-8C9A-ECBE84C60D77}" type="presOf" srcId="{592E6204-DE1C-4ABC-A59D-E7696CAD8E9F}" destId="{5D626858-44C3-4F70-B731-89D7137D3000}" srcOrd="0" destOrd="0" presId="urn:microsoft.com/office/officeart/2005/8/layout/process3"/>
    <dgm:cxn modelId="{F41043E6-05EC-4C9A-985C-A2AAF9852048}" srcId="{5C1C9C49-9D29-428B-B8FC-2E999A0DEBE9}" destId="{D9D0F459-4D3B-495E-A5C6-D6A1BE061048}" srcOrd="1" destOrd="0" parTransId="{65E24E88-5C02-4F0B-8752-64799FC3424C}" sibTransId="{5C0D36D0-FCE7-400C-8CC5-C11623ECAB21}"/>
    <dgm:cxn modelId="{862FD4D1-81A1-4A78-8549-BC505F192170}" type="presOf" srcId="{5C1C9C49-9D29-428B-B8FC-2E999A0DEBE9}" destId="{4E0D7149-43FB-4772-961E-7B949F764B77}" srcOrd="1" destOrd="0" presId="urn:microsoft.com/office/officeart/2005/8/layout/process3"/>
    <dgm:cxn modelId="{EA726688-E6DD-4510-A03A-A53F651F5DC6}" type="presOf" srcId="{B787FE64-C2BB-4301-B7F2-BCE47EB5A8A1}" destId="{8AB1583F-9843-4E83-BB0A-FE994500197A}" srcOrd="0" destOrd="0" presId="urn:microsoft.com/office/officeart/2005/8/layout/process3"/>
    <dgm:cxn modelId="{75D3E539-38C2-44C7-8EC6-E3D157AD4CFD}" srcId="{9F0E073A-640B-4BF5-88C9-D781341EFD8E}" destId="{63AE6570-59A5-41D1-AD20-B5B9C0066A95}" srcOrd="0" destOrd="0" parTransId="{F7C70AAA-0EB3-45D4-B28B-704B1B34685E}" sibTransId="{19760A60-D84C-4A30-8980-DD95DE823024}"/>
    <dgm:cxn modelId="{749B6DFA-DD53-4D4F-9FC8-59E5789FE014}" type="presOf" srcId="{9F0E073A-640B-4BF5-88C9-D781341EFD8E}" destId="{8592E055-5121-413D-8221-CC13F3757FBB}" srcOrd="0" destOrd="0" presId="urn:microsoft.com/office/officeart/2005/8/layout/process3"/>
    <dgm:cxn modelId="{965BFDF9-1A00-49BF-ACE1-F72AF1768243}" type="presOf" srcId="{8D24CDA5-24DF-492F-85C2-FCB4570674A4}" destId="{C3F39163-B775-4C27-9F1D-0FE9D17D7250}" srcOrd="0" destOrd="0" presId="urn:microsoft.com/office/officeart/2005/8/layout/process3"/>
    <dgm:cxn modelId="{ED9B8BCC-0BD5-4E69-9C08-9187D7F5B379}" type="presOf" srcId="{9F0E073A-640B-4BF5-88C9-D781341EFD8E}" destId="{8619BA2E-BE08-4CC6-A47A-E0D61256D833}" srcOrd="1" destOrd="0" presId="urn:microsoft.com/office/officeart/2005/8/layout/process3"/>
    <dgm:cxn modelId="{B99D25B2-9EF1-40D1-8386-032405976F98}" type="presOf" srcId="{D7C9A7BE-2417-428B-9524-31D170AA44D3}" destId="{F3156236-7221-446C-894E-CF837B996F59}" srcOrd="0" destOrd="0" presId="urn:microsoft.com/office/officeart/2005/8/layout/process3"/>
    <dgm:cxn modelId="{C577BD2C-9B80-4DC3-A313-67F61ACFF44C}" type="presOf" srcId="{D9D0F459-4D3B-495E-A5C6-D6A1BE061048}" destId="{5D626858-44C3-4F70-B731-89D7137D3000}" srcOrd="0" destOrd="1" presId="urn:microsoft.com/office/officeart/2005/8/layout/process3"/>
    <dgm:cxn modelId="{E9FA360C-E08E-4920-9EDE-8B0EC3E68A68}" type="presOf" srcId="{D7C9A7BE-2417-428B-9524-31D170AA44D3}" destId="{88574652-5298-44E5-A829-C7FC8CE7AF2C}" srcOrd="1" destOrd="0" presId="urn:microsoft.com/office/officeart/2005/8/layout/process3"/>
    <dgm:cxn modelId="{3BFCA8AE-B8AA-43A0-A7B5-F7C8675D893F}" type="presOf" srcId="{80DDFE8E-AD40-4262-8ED8-EE25603E7DEA}" destId="{ECD0A5E5-A6BB-45C6-B0AA-112A708C7D3A}" srcOrd="0" destOrd="0" presId="urn:microsoft.com/office/officeart/2005/8/layout/process3"/>
    <dgm:cxn modelId="{EFDFADEC-C55A-4266-9F0B-2D879960871F}" type="presOf" srcId="{063B73BF-F252-4336-AD7D-0DBE2C6841A3}" destId="{6D2D5376-477E-4C50-9A39-2D5013F247E3}" srcOrd="0" destOrd="1" presId="urn:microsoft.com/office/officeart/2005/8/layout/process3"/>
    <dgm:cxn modelId="{A90E6E01-4DCF-4E6C-95A5-F8E30A14344C}" type="presOf" srcId="{63AE6570-59A5-41D1-AD20-B5B9C0066A95}" destId="{494C6FA9-0797-49D7-AC78-22EFD31C0947}" srcOrd="0" destOrd="0" presId="urn:microsoft.com/office/officeart/2005/8/layout/process3"/>
    <dgm:cxn modelId="{04D349E3-FAC3-4009-A16B-B0C54313383C}" srcId="{9F0E073A-640B-4BF5-88C9-D781341EFD8E}" destId="{96138742-60ED-44AE-892F-A90C11A8E995}" srcOrd="1" destOrd="0" parTransId="{F2D8563A-8DB5-49D2-A5CD-AF75AC7B815B}" sibTransId="{8F6A1A03-0C38-43AD-B343-3F58132B2E83}"/>
    <dgm:cxn modelId="{442EA19D-4F50-498C-BBEF-EBD3D215A39C}" srcId="{B787FE64-C2BB-4301-B7F2-BCE47EB5A8A1}" destId="{D7C9A7BE-2417-428B-9524-31D170AA44D3}" srcOrd="2" destOrd="0" parTransId="{EEBEB180-8409-49F8-B053-691255906D35}" sibTransId="{67B7C185-F0C4-4078-BD48-C99002C2EF6C}"/>
    <dgm:cxn modelId="{42D68D4E-7CD5-44D2-ACF0-374763D9D272}" type="presOf" srcId="{5C1C9C49-9D29-428B-B8FC-2E999A0DEBE9}" destId="{551F2636-F6B7-47D6-97C8-BE70EB6C5BE1}" srcOrd="0" destOrd="0" presId="urn:microsoft.com/office/officeart/2005/8/layout/process3"/>
    <dgm:cxn modelId="{A7CF6AF2-77E4-402C-AA38-712D78822A7A}" type="presOf" srcId="{80DDFE8E-AD40-4262-8ED8-EE25603E7DEA}" destId="{F6DD8874-8DAC-4417-A6C1-97589456A657}" srcOrd="1" destOrd="0" presId="urn:microsoft.com/office/officeart/2005/8/layout/process3"/>
    <dgm:cxn modelId="{CC4A8533-69F8-4BBD-8C43-4BF73DE40E48}" srcId="{B787FE64-C2BB-4301-B7F2-BCE47EB5A8A1}" destId="{9F0E073A-640B-4BF5-88C9-D781341EFD8E}" srcOrd="0" destOrd="0" parTransId="{89916C81-5C51-4407-BE2E-7FC1505F2520}" sibTransId="{80DDFE8E-AD40-4262-8ED8-EE25603E7DEA}"/>
    <dgm:cxn modelId="{344A8EE5-28A5-4BC6-A93F-8DEEF8721F09}" type="presOf" srcId="{8D24CDA5-24DF-492F-85C2-FCB4570674A4}" destId="{741AC030-9FE2-408E-93A1-F290A76E526D}" srcOrd="1" destOrd="0" presId="urn:microsoft.com/office/officeart/2005/8/layout/process3"/>
    <dgm:cxn modelId="{B543C497-DD4F-46A0-905F-C4AF03B2E759}" srcId="{B787FE64-C2BB-4301-B7F2-BCE47EB5A8A1}" destId="{5C1C9C49-9D29-428B-B8FC-2E999A0DEBE9}" srcOrd="1" destOrd="0" parTransId="{A16DCC53-40A6-4BEB-8C25-F8E56595A551}" sibTransId="{8D24CDA5-24DF-492F-85C2-FCB4570674A4}"/>
    <dgm:cxn modelId="{B1CF034C-AE3E-4C3F-9845-32590C3CADAB}" type="presOf" srcId="{96138742-60ED-44AE-892F-A90C11A8E995}" destId="{494C6FA9-0797-49D7-AC78-22EFD31C0947}" srcOrd="0" destOrd="1" presId="urn:microsoft.com/office/officeart/2005/8/layout/process3"/>
    <dgm:cxn modelId="{4BCAE7A7-5DEA-4B67-A748-F18EE3719E52}" type="presOf" srcId="{E47301C1-5CCB-4056-B1EA-D12FF7E9F61E}" destId="{6D2D5376-477E-4C50-9A39-2D5013F247E3}" srcOrd="0" destOrd="0" presId="urn:microsoft.com/office/officeart/2005/8/layout/process3"/>
    <dgm:cxn modelId="{A5D7B252-E36D-419E-BE18-04688FBA0FC8}" type="presParOf" srcId="{8AB1583F-9843-4E83-BB0A-FE994500197A}" destId="{09F29E2F-C511-4CD4-AACB-89D164589693}" srcOrd="0" destOrd="0" presId="urn:microsoft.com/office/officeart/2005/8/layout/process3"/>
    <dgm:cxn modelId="{8BB61474-BA65-4AB4-99CC-D7E21E2BECDD}" type="presParOf" srcId="{09F29E2F-C511-4CD4-AACB-89D164589693}" destId="{8592E055-5121-413D-8221-CC13F3757FBB}" srcOrd="0" destOrd="0" presId="urn:microsoft.com/office/officeart/2005/8/layout/process3"/>
    <dgm:cxn modelId="{F0BB44C5-A533-4FE6-98D7-005789A45F82}" type="presParOf" srcId="{09F29E2F-C511-4CD4-AACB-89D164589693}" destId="{8619BA2E-BE08-4CC6-A47A-E0D61256D833}" srcOrd="1" destOrd="0" presId="urn:microsoft.com/office/officeart/2005/8/layout/process3"/>
    <dgm:cxn modelId="{F389DC9B-D1D3-4BC0-9751-D0F5EB603F61}" type="presParOf" srcId="{09F29E2F-C511-4CD4-AACB-89D164589693}" destId="{494C6FA9-0797-49D7-AC78-22EFD31C0947}" srcOrd="2" destOrd="0" presId="urn:microsoft.com/office/officeart/2005/8/layout/process3"/>
    <dgm:cxn modelId="{DB8E5389-24CC-4E77-A923-03AFFAF63FA1}" type="presParOf" srcId="{8AB1583F-9843-4E83-BB0A-FE994500197A}" destId="{ECD0A5E5-A6BB-45C6-B0AA-112A708C7D3A}" srcOrd="1" destOrd="0" presId="urn:microsoft.com/office/officeart/2005/8/layout/process3"/>
    <dgm:cxn modelId="{5B3207F3-BBBC-40EB-976C-D22A8D694D27}" type="presParOf" srcId="{ECD0A5E5-A6BB-45C6-B0AA-112A708C7D3A}" destId="{F6DD8874-8DAC-4417-A6C1-97589456A657}" srcOrd="0" destOrd="0" presId="urn:microsoft.com/office/officeart/2005/8/layout/process3"/>
    <dgm:cxn modelId="{4AD969FD-FB2E-46AA-A984-944DBF4A36FA}" type="presParOf" srcId="{8AB1583F-9843-4E83-BB0A-FE994500197A}" destId="{1EEAA572-1D38-44BC-9192-8110A1732768}" srcOrd="2" destOrd="0" presId="urn:microsoft.com/office/officeart/2005/8/layout/process3"/>
    <dgm:cxn modelId="{A7032ABD-707B-4C50-9A63-DE4387317541}" type="presParOf" srcId="{1EEAA572-1D38-44BC-9192-8110A1732768}" destId="{551F2636-F6B7-47D6-97C8-BE70EB6C5BE1}" srcOrd="0" destOrd="0" presId="urn:microsoft.com/office/officeart/2005/8/layout/process3"/>
    <dgm:cxn modelId="{E9A5B39E-1A12-4A0C-92C4-F8297C3B88B6}" type="presParOf" srcId="{1EEAA572-1D38-44BC-9192-8110A1732768}" destId="{4E0D7149-43FB-4772-961E-7B949F764B77}" srcOrd="1" destOrd="0" presId="urn:microsoft.com/office/officeart/2005/8/layout/process3"/>
    <dgm:cxn modelId="{7B17B1EE-6431-4ABC-BA96-FBAFF531C943}" type="presParOf" srcId="{1EEAA572-1D38-44BC-9192-8110A1732768}" destId="{5D626858-44C3-4F70-B731-89D7137D3000}" srcOrd="2" destOrd="0" presId="urn:microsoft.com/office/officeart/2005/8/layout/process3"/>
    <dgm:cxn modelId="{9B136760-C88E-4AB1-93C5-327E3E34508B}" type="presParOf" srcId="{8AB1583F-9843-4E83-BB0A-FE994500197A}" destId="{C3F39163-B775-4C27-9F1D-0FE9D17D7250}" srcOrd="3" destOrd="0" presId="urn:microsoft.com/office/officeart/2005/8/layout/process3"/>
    <dgm:cxn modelId="{95D4C86F-DB3D-4BF6-BE9B-986891DFB6B0}" type="presParOf" srcId="{C3F39163-B775-4C27-9F1D-0FE9D17D7250}" destId="{741AC030-9FE2-408E-93A1-F290A76E526D}" srcOrd="0" destOrd="0" presId="urn:microsoft.com/office/officeart/2005/8/layout/process3"/>
    <dgm:cxn modelId="{9FE553A0-202B-484B-B7BF-2FB205359F2B}" type="presParOf" srcId="{8AB1583F-9843-4E83-BB0A-FE994500197A}" destId="{965753DB-B765-44D1-88E9-4ACEA6D4E2A5}" srcOrd="4" destOrd="0" presId="urn:microsoft.com/office/officeart/2005/8/layout/process3"/>
    <dgm:cxn modelId="{F4CCD265-A86B-41AB-9F33-72CDDBAF8DF1}" type="presParOf" srcId="{965753DB-B765-44D1-88E9-4ACEA6D4E2A5}" destId="{F3156236-7221-446C-894E-CF837B996F59}" srcOrd="0" destOrd="0" presId="urn:microsoft.com/office/officeart/2005/8/layout/process3"/>
    <dgm:cxn modelId="{F3B0A81D-3740-436E-9FEE-AF851E8F43C5}" type="presParOf" srcId="{965753DB-B765-44D1-88E9-4ACEA6D4E2A5}" destId="{88574652-5298-44E5-A829-C7FC8CE7AF2C}" srcOrd="1" destOrd="0" presId="urn:microsoft.com/office/officeart/2005/8/layout/process3"/>
    <dgm:cxn modelId="{E13B4509-8140-4583-AB81-9C4A04D5308D}" type="presParOf" srcId="{965753DB-B765-44D1-88E9-4ACEA6D4E2A5}" destId="{6D2D5376-477E-4C50-9A39-2D5013F247E3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19BA2E-BE08-4CC6-A47A-E0D61256D833}">
      <dsp:nvSpPr>
        <dsp:cNvPr id="0" name=""/>
        <dsp:cNvSpPr/>
      </dsp:nvSpPr>
      <dsp:spPr>
        <a:xfrm>
          <a:off x="4093" y="625380"/>
          <a:ext cx="1861062" cy="9438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600" kern="1200" smtClean="0"/>
            <a:t>1. Lead qualification</a:t>
          </a:r>
          <a:endParaRPr lang="fi-FI" sz="1600" kern="1200"/>
        </a:p>
      </dsp:txBody>
      <dsp:txXfrm>
        <a:off x="4093" y="625380"/>
        <a:ext cx="1861062" cy="629202"/>
      </dsp:txXfrm>
    </dsp:sp>
    <dsp:sp modelId="{494C6FA9-0797-49D7-AC78-22EFD31C0947}">
      <dsp:nvSpPr>
        <dsp:cNvPr id="0" name=""/>
        <dsp:cNvSpPr/>
      </dsp:nvSpPr>
      <dsp:spPr>
        <a:xfrm>
          <a:off x="385274" y="1254582"/>
          <a:ext cx="1861062" cy="2646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Streamline data entry for leads on existing accounts &amp; contacts</a:t>
          </a:r>
          <a:endParaRPr lang="fi-FI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Convert leads to influencers instead of new opportunities</a:t>
          </a:r>
          <a:endParaRPr lang="fi-FI" sz="1600" kern="1200" dirty="0"/>
        </a:p>
      </dsp:txBody>
      <dsp:txXfrm>
        <a:off x="439783" y="1309091"/>
        <a:ext cx="1752044" cy="2536982"/>
      </dsp:txXfrm>
    </dsp:sp>
    <dsp:sp modelId="{ECD0A5E5-A6BB-45C6-B0AA-112A708C7D3A}">
      <dsp:nvSpPr>
        <dsp:cNvPr id="0" name=""/>
        <dsp:cNvSpPr/>
      </dsp:nvSpPr>
      <dsp:spPr>
        <a:xfrm>
          <a:off x="2147286" y="708306"/>
          <a:ext cx="598116" cy="4633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i-FI" sz="1300" kern="1200"/>
        </a:p>
      </dsp:txBody>
      <dsp:txXfrm>
        <a:off x="2147286" y="800976"/>
        <a:ext cx="459111" cy="278010"/>
      </dsp:txXfrm>
    </dsp:sp>
    <dsp:sp modelId="{4E0D7149-43FB-4772-961E-7B949F764B77}">
      <dsp:nvSpPr>
        <dsp:cNvPr id="0" name=""/>
        <dsp:cNvSpPr/>
      </dsp:nvSpPr>
      <dsp:spPr>
        <a:xfrm>
          <a:off x="2993677" y="625380"/>
          <a:ext cx="1861062" cy="9438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600" kern="1200" dirty="0" smtClean="0"/>
            <a:t>2. </a:t>
          </a:r>
          <a:r>
            <a:rPr lang="fi-FI" sz="1600" kern="1200" smtClean="0"/>
            <a:t>Opportunity revenue estimation</a:t>
          </a:r>
          <a:endParaRPr lang="fi-FI" sz="1600" kern="1200" dirty="0"/>
        </a:p>
      </dsp:txBody>
      <dsp:txXfrm>
        <a:off x="2993677" y="625380"/>
        <a:ext cx="1861062" cy="629202"/>
      </dsp:txXfrm>
    </dsp:sp>
    <dsp:sp modelId="{5D626858-44C3-4F70-B731-89D7137D3000}">
      <dsp:nvSpPr>
        <dsp:cNvPr id="0" name=""/>
        <dsp:cNvSpPr/>
      </dsp:nvSpPr>
      <dsp:spPr>
        <a:xfrm>
          <a:off x="3374859" y="1254582"/>
          <a:ext cx="1861062" cy="2646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Replace opportunity product lines with predefined cost estimate fields</a:t>
          </a:r>
          <a:endParaRPr lang="fi-FI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Calculate opportunity total value from day &amp; rate fields</a:t>
          </a:r>
          <a:endParaRPr lang="fi-FI" sz="1600" kern="1200" dirty="0"/>
        </a:p>
      </dsp:txBody>
      <dsp:txXfrm>
        <a:off x="3429368" y="1309091"/>
        <a:ext cx="1752044" cy="2536982"/>
      </dsp:txXfrm>
    </dsp:sp>
    <dsp:sp modelId="{C3F39163-B775-4C27-9F1D-0FE9D17D7250}">
      <dsp:nvSpPr>
        <dsp:cNvPr id="0" name=""/>
        <dsp:cNvSpPr/>
      </dsp:nvSpPr>
      <dsp:spPr>
        <a:xfrm>
          <a:off x="5136871" y="708306"/>
          <a:ext cx="598116" cy="4633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i-FI" sz="1300" kern="1200"/>
        </a:p>
      </dsp:txBody>
      <dsp:txXfrm>
        <a:off x="5136871" y="800976"/>
        <a:ext cx="459111" cy="278010"/>
      </dsp:txXfrm>
    </dsp:sp>
    <dsp:sp modelId="{88574652-5298-44E5-A829-C7FC8CE7AF2C}">
      <dsp:nvSpPr>
        <dsp:cNvPr id="0" name=""/>
        <dsp:cNvSpPr/>
      </dsp:nvSpPr>
      <dsp:spPr>
        <a:xfrm>
          <a:off x="5983262" y="625380"/>
          <a:ext cx="1861062" cy="9438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600" kern="1200" smtClean="0"/>
            <a:t>3. Pipeline development</a:t>
          </a:r>
          <a:endParaRPr lang="fi-FI" sz="1600" kern="1200"/>
        </a:p>
      </dsp:txBody>
      <dsp:txXfrm>
        <a:off x="5983262" y="625380"/>
        <a:ext cx="1861062" cy="629202"/>
      </dsp:txXfrm>
    </dsp:sp>
    <dsp:sp modelId="{6D2D5376-477E-4C50-9A39-2D5013F247E3}">
      <dsp:nvSpPr>
        <dsp:cNvPr id="0" name=""/>
        <dsp:cNvSpPr/>
      </dsp:nvSpPr>
      <dsp:spPr>
        <a:xfrm>
          <a:off x="6364443" y="1254582"/>
          <a:ext cx="1861062" cy="2646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Capture opportunity count and revenue per sales stage</a:t>
          </a:r>
          <a:endParaRPr lang="fi-FI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1600" kern="1200" dirty="0" smtClean="0"/>
            <a:t>Schedule data snapshots of historical pipeline size</a:t>
          </a:r>
          <a:endParaRPr lang="fi-FI" sz="1600" kern="1200" dirty="0"/>
        </a:p>
      </dsp:txBody>
      <dsp:txXfrm>
        <a:off x="6418952" y="1309091"/>
        <a:ext cx="1752044" cy="25369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 dirty="0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C073C-CA0F-4B51-86D5-B13E2695F0A1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 dirty="0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91832-BE51-4C5E-BE95-1D56B9C29E95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53675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1772816"/>
            <a:ext cx="77724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3501008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645024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 smtClean="0"/>
              <a:t>Muokkaa alaotsikon perustyyliä napsautt.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563072" cy="1143000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kautettu asette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 smtClean="0"/>
              <a:t>Muokkaa alaotsikon perustyyliä napsautt.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 smtClean="0"/>
              <a:t>Muokkaa alaotsikon perustyyliä napsautt.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B6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uva 7" descr="cloud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-252536" y="4778077"/>
            <a:ext cx="2705100" cy="1819275"/>
          </a:xfrm>
          <a:prstGeom prst="rect">
            <a:avLst/>
          </a:prstGeom>
        </p:spPr>
      </p:pic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0590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3E524-6BC0-4787-95C5-C72B8592B78C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  <p:pic>
        <p:nvPicPr>
          <p:cNvPr id="7" name="Kuva 6" descr="city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5376624"/>
            <a:ext cx="9144000" cy="1508760"/>
          </a:xfrm>
          <a:prstGeom prst="rect">
            <a:avLst/>
          </a:prstGeom>
        </p:spPr>
      </p:pic>
      <p:pic>
        <p:nvPicPr>
          <p:cNvPr id="9" name="Kuva 8" descr="logo_bc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067944" y="-323225"/>
            <a:ext cx="5687616" cy="3896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0B6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EE37C-AC12-4BDA-B7AE-D0C3DB4B341E}" type="datetimeFigureOut">
              <a:rPr lang="fi-FI" smtClean="0"/>
              <a:pPr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  <p:pic>
        <p:nvPicPr>
          <p:cNvPr id="7" name="Kuva 6" descr="logo_bc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796136" y="-243408"/>
            <a:ext cx="3815408" cy="26137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77909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  <p:pic>
        <p:nvPicPr>
          <p:cNvPr id="8" name="Kuva 7" descr="logo_bc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796136" y="-243408"/>
            <a:ext cx="3815408" cy="2613705"/>
          </a:xfrm>
          <a:prstGeom prst="rect">
            <a:avLst/>
          </a:prstGeom>
        </p:spPr>
      </p:pic>
      <p:pic>
        <p:nvPicPr>
          <p:cNvPr id="9" name="Kuva 8" descr="city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0" y="5376624"/>
            <a:ext cx="9144000" cy="15087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b="1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orakulmio 9"/>
          <p:cNvSpPr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rgbClr val="52C2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1321296" y="44624"/>
            <a:ext cx="598700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28542-833B-490F-A2E7-8CA93ACE653C}" type="datetimeFigureOut">
              <a:rPr lang="fi-FI" smtClean="0"/>
              <a:t>3.6.2015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  <p:pic>
        <p:nvPicPr>
          <p:cNvPr id="8" name="Kuva 7" descr="logo_bc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796136" y="-243408"/>
            <a:ext cx="3815408" cy="2613705"/>
          </a:xfrm>
          <a:prstGeom prst="rect">
            <a:avLst/>
          </a:prstGeom>
        </p:spPr>
      </p:pic>
      <p:sp>
        <p:nvSpPr>
          <p:cNvPr id="11" name="Suorakulmio 10"/>
          <p:cNvSpPr/>
          <p:nvPr/>
        </p:nvSpPr>
        <p:spPr>
          <a:xfrm>
            <a:off x="0" y="6696744"/>
            <a:ext cx="9144000" cy="18864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pic>
        <p:nvPicPr>
          <p:cNvPr id="12" name="Kuva 11" descr="cloud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0" y="116632"/>
            <a:ext cx="1656184" cy="11138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urvivingcrm.com/" TargetMode="External"/><Relationship Id="rId2" Type="http://schemas.openxmlformats.org/officeDocument/2006/relationships/hyperlink" Target="http://bit.ly/crm15salesprocess" TargetMode="External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urvivingcrm.com/" TargetMode="External"/><Relationship Id="rId2" Type="http://schemas.openxmlformats.org/officeDocument/2006/relationships/hyperlink" Target="http://www.digitalillustrated.com/" TargetMode="Externa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4.jpg"/><Relationship Id="rId4" Type="http://schemas.openxmlformats.org/officeDocument/2006/relationships/hyperlink" Target="https://twitter.com/jukkan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www.alexanderdevelopment.net/" TargetMode="External"/><Relationship Id="rId1" Type="http://schemas.openxmlformats.org/officeDocument/2006/relationships/slideLayout" Target="../slideLayouts/slideLayout35.xml"/><Relationship Id="rId4" Type="http://schemas.openxmlformats.org/officeDocument/2006/relationships/hyperlink" Target="http://bit.ly/crmschedwf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twitter.com/jukkan" TargetMode="External"/><Relationship Id="rId2" Type="http://schemas.openxmlformats.org/officeDocument/2006/relationships/hyperlink" Target="http://survivingcrm.com/" TargetMode="External"/><Relationship Id="rId1" Type="http://schemas.openxmlformats.org/officeDocument/2006/relationships/slideLayout" Target="../slideLayouts/slideLayout35.xml"/><Relationship Id="rId4" Type="http://schemas.openxmlformats.org/officeDocument/2006/relationships/hyperlink" Target="http://msdynamicsworld.com/webcas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3600"/>
            <a:ext cx="7772400" cy="2362200"/>
          </a:xfrm>
        </p:spPr>
        <p:txBody>
          <a:bodyPr>
            <a:normAutofit fontScale="90000"/>
          </a:bodyPr>
          <a:lstStyle/>
          <a:p>
            <a:r>
              <a:rPr lang="en-US" dirty="0"/>
              <a:t>A Non-Developer's Guide </a:t>
            </a:r>
            <a:r>
              <a:rPr lang="en-US" dirty="0" smtClean="0"/>
              <a:t>to</a:t>
            </a:r>
            <a:br>
              <a:rPr lang="en-US" dirty="0" smtClean="0"/>
            </a:br>
            <a:r>
              <a:rPr lang="en-US" dirty="0" smtClean="0"/>
              <a:t>Smarter </a:t>
            </a:r>
            <a:r>
              <a:rPr lang="en-US" dirty="0"/>
              <a:t>Sales Processes </a:t>
            </a:r>
            <a:r>
              <a:rPr lang="en-US" dirty="0" smtClean="0"/>
              <a:t>in</a:t>
            </a:r>
            <a:br>
              <a:rPr lang="en-US" dirty="0" smtClean="0"/>
            </a:br>
            <a:r>
              <a:rPr lang="en-US" dirty="0" smtClean="0"/>
              <a:t>Microsoft </a:t>
            </a:r>
            <a:r>
              <a:rPr lang="en-US" dirty="0"/>
              <a:t>Dynamics CRM </a:t>
            </a:r>
            <a:r>
              <a:rPr lang="en-US" dirty="0" smtClean="0"/>
              <a:t>2015</a:t>
            </a:r>
            <a:br>
              <a:rPr lang="en-US" dirty="0" smtClean="0"/>
            </a:br>
            <a:r>
              <a:rPr lang="en-US" dirty="0"/>
              <a:t>-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Part </a:t>
            </a:r>
            <a:r>
              <a:rPr lang="en-US" b="1" dirty="0" smtClean="0"/>
              <a:t>3: Pipeline Development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fi-FI" b="1" dirty="0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4572000"/>
            <a:ext cx="6400800" cy="825624"/>
          </a:xfrm>
        </p:spPr>
        <p:txBody>
          <a:bodyPr>
            <a:normAutofit fontScale="77500" lnSpcReduction="20000"/>
          </a:bodyPr>
          <a:lstStyle/>
          <a:p>
            <a:r>
              <a:rPr lang="fi-FI" dirty="0" smtClean="0"/>
              <a:t>Jukka Niiranen</a:t>
            </a:r>
          </a:p>
          <a:p>
            <a:r>
              <a:rPr lang="fi-FI" dirty="0" smtClean="0"/>
              <a:t>2015-05-06</a:t>
            </a:r>
            <a:endParaRPr lang="fi-FI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About This </a:t>
            </a:r>
            <a:r>
              <a:rPr lang="fi-FI" dirty="0"/>
              <a:t>P</a:t>
            </a:r>
            <a:r>
              <a:rPr lang="fi-FI" dirty="0" smtClean="0"/>
              <a:t>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These are the slides from a live webcast on MSDynamicsWorld.com, presented on May 6th 2015</a:t>
            </a:r>
          </a:p>
          <a:p>
            <a:r>
              <a:rPr lang="fi-FI" dirty="0" smtClean="0"/>
              <a:t>The webcast recording is available on </a:t>
            </a:r>
            <a:r>
              <a:rPr lang="fi-FI" dirty="0"/>
              <a:t>YouTube: </a:t>
            </a:r>
            <a:r>
              <a:rPr lang="fi-FI" dirty="0">
                <a:hlinkClick r:id="rId2"/>
              </a:rPr>
              <a:t>http://</a:t>
            </a:r>
            <a:r>
              <a:rPr lang="fi-FI" dirty="0" smtClean="0">
                <a:hlinkClick r:id="rId2"/>
              </a:rPr>
              <a:t>bit.ly/crm15salesprocess</a:t>
            </a:r>
            <a:r>
              <a:rPr lang="fi-FI" dirty="0" smtClean="0"/>
              <a:t> </a:t>
            </a:r>
          </a:p>
          <a:p>
            <a:r>
              <a:rPr lang="fi-FI" dirty="0"/>
              <a:t>The topics are covered in more detail in blog posts at </a:t>
            </a:r>
            <a:r>
              <a:rPr lang="fi-FI" dirty="0">
                <a:hlinkClick r:id="rId3"/>
              </a:rPr>
              <a:t>http://survivingcrm.com</a:t>
            </a:r>
            <a:r>
              <a:rPr lang="fi-FI" dirty="0" smtClean="0">
                <a:hlinkClick r:id="rId3"/>
              </a:rPr>
              <a:t>/</a:t>
            </a:r>
            <a:r>
              <a:rPr lang="fi-FI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544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About Me</a:t>
            </a:r>
            <a:endParaRPr lang="fi-FI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1"/>
            <a:ext cx="6477000" cy="44958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Dynamics CRM consultant from </a:t>
            </a:r>
            <a:r>
              <a:rPr lang="en-US" dirty="0" smtClean="0"/>
              <a:t>Helsinki</a:t>
            </a:r>
          </a:p>
          <a:p>
            <a:r>
              <a:rPr lang="en-US" dirty="0" smtClean="0"/>
              <a:t>Working at </a:t>
            </a:r>
            <a:r>
              <a:rPr lang="en-US" dirty="0" smtClean="0">
                <a:hlinkClick r:id="rId2"/>
              </a:rPr>
              <a:t>Digital Illustrated Finland</a:t>
            </a:r>
            <a:endParaRPr lang="en-US" dirty="0"/>
          </a:p>
          <a:p>
            <a:r>
              <a:rPr lang="en-US" dirty="0" smtClean="0"/>
              <a:t>Dynamics CRM addict </a:t>
            </a:r>
            <a:r>
              <a:rPr lang="en-US" dirty="0"/>
              <a:t>since 2005</a:t>
            </a:r>
          </a:p>
          <a:p>
            <a:r>
              <a:rPr lang="en-US" dirty="0"/>
              <a:t>Frequent blogger &amp; #MSDYNCRM evangelist on social media</a:t>
            </a:r>
          </a:p>
          <a:p>
            <a:pPr lvl="1"/>
            <a:r>
              <a:rPr lang="en-US" dirty="0"/>
              <a:t>Blog: </a:t>
            </a:r>
            <a:r>
              <a:rPr lang="en-US" dirty="0" smtClean="0">
                <a:hlinkClick r:id="rId3"/>
              </a:rPr>
              <a:t>survivingcrm.com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@jukkan</a:t>
            </a:r>
            <a:r>
              <a:rPr lang="en-US" dirty="0"/>
              <a:t> on </a:t>
            </a:r>
            <a:r>
              <a:rPr lang="en-US" dirty="0" smtClean="0"/>
              <a:t>Twitter</a:t>
            </a:r>
          </a:p>
          <a:p>
            <a:r>
              <a:rPr lang="en-US" dirty="0" smtClean="0"/>
              <a:t>Microsoft </a:t>
            </a:r>
            <a:r>
              <a:rPr lang="en-US" dirty="0"/>
              <a:t>MVP </a:t>
            </a:r>
            <a:r>
              <a:rPr lang="en-US" dirty="0" smtClean="0"/>
              <a:t>since 2013</a:t>
            </a:r>
            <a:endParaRPr lang="en-US" dirty="0"/>
          </a:p>
          <a:p>
            <a:r>
              <a:rPr lang="en-US" dirty="0"/>
              <a:t>Focused on improving CRM solution usability &amp; information work </a:t>
            </a:r>
            <a:r>
              <a:rPr lang="en-US" dirty="0" smtClean="0"/>
              <a:t>efficiency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310" y="1617518"/>
            <a:ext cx="1849296" cy="1849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84818" y="3484132"/>
            <a:ext cx="25202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Jukka Niiranen</a:t>
            </a:r>
          </a:p>
          <a:p>
            <a:pPr algn="ctr"/>
            <a:r>
              <a:rPr lang="fi-FI" sz="1400" dirty="0" smtClean="0">
                <a:hlinkClick r:id="rId4"/>
              </a:rPr>
              <a:t>@jukkan</a:t>
            </a:r>
            <a:endParaRPr lang="fi-FI" sz="1400" dirty="0" smtClean="0"/>
          </a:p>
          <a:p>
            <a:pPr algn="ctr"/>
            <a:r>
              <a:rPr lang="fi-FI" sz="1400" dirty="0" smtClean="0"/>
              <a:t>Consultant @ Digital Illustrated</a:t>
            </a:r>
          </a:p>
          <a:p>
            <a:pPr algn="ctr"/>
            <a:r>
              <a:rPr lang="fi-FI" sz="1400" dirty="0" smtClean="0"/>
              <a:t>Microsoft Dynamics CRM MVP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18627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Customizing Dynamics CRM as a Non-Developer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/>
              <a:t>Point &amp; click configuration/customization tools of Dynamics CRM have come a long way</a:t>
            </a:r>
          </a:p>
          <a:p>
            <a:r>
              <a:rPr lang="fi-FI" dirty="0"/>
              <a:t>The ratio of custom code vs. configuration in typical CRM solutions is decreasing</a:t>
            </a:r>
          </a:p>
          <a:p>
            <a:r>
              <a:rPr lang="fi-FI" dirty="0"/>
              <a:t>Solution delivery often requires the creative </a:t>
            </a:r>
            <a:r>
              <a:rPr lang="fi-FI" i="1" dirty="0"/>
              <a:t>combination</a:t>
            </a:r>
            <a:r>
              <a:rPr lang="fi-FI" dirty="0"/>
              <a:t> of several CRM configuration options</a:t>
            </a:r>
          </a:p>
          <a:p>
            <a:r>
              <a:rPr lang="fi-FI" dirty="0" smtClean="0"/>
              <a:t>The goal of this article series is to </a:t>
            </a:r>
            <a:r>
              <a:rPr lang="fi-FI" dirty="0"/>
              <a:t>demonstrate a few scenarios where such combinations are used for delivering new functionality for the CRM sales </a:t>
            </a:r>
            <a:r>
              <a:rPr lang="fi-FI" dirty="0" smtClean="0"/>
              <a:t>process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20627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324600" y="1295400"/>
            <a:ext cx="2514600" cy="44196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i-FI" dirty="0" smtClean="0"/>
              <a:t>Part </a:t>
            </a:r>
            <a:r>
              <a:rPr lang="fi-FI" dirty="0" smtClean="0"/>
              <a:t>3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Customization Scenarios </a:t>
            </a:r>
            <a:r>
              <a:rPr lang="fi-FI" dirty="0"/>
              <a:t>E</a:t>
            </a:r>
            <a:r>
              <a:rPr lang="fi-FI" dirty="0" smtClean="0"/>
              <a:t>xplored in This </a:t>
            </a:r>
            <a:r>
              <a:rPr lang="fi-FI" dirty="0"/>
              <a:t>S</a:t>
            </a:r>
            <a:r>
              <a:rPr lang="fi-FI" dirty="0" smtClean="0"/>
              <a:t>eries</a:t>
            </a:r>
            <a:endParaRPr lang="fi-FI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830255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5179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smtClean="0"/>
              <a:t>Pipeline Development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7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The </a:t>
            </a:r>
            <a:r>
              <a:rPr lang="fi-FI" dirty="0" smtClean="0"/>
              <a:t>Problem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 smtClean="0"/>
              <a:t>CRM gives an up-to-date status of the current sales pipeline by opportunity sales stage</a:t>
            </a:r>
          </a:p>
          <a:p>
            <a:r>
              <a:rPr lang="fi-FI" dirty="0" smtClean="0"/>
              <a:t>Won or lost opportunities create a permanent record of when the deals were closed</a:t>
            </a:r>
          </a:p>
          <a:p>
            <a:r>
              <a:rPr lang="fi-FI" dirty="0" smtClean="0"/>
              <a:t>This is however not sufficient data to project what the size of the pipeline was at a </a:t>
            </a:r>
            <a:r>
              <a:rPr lang="fi-FI" i="1" dirty="0" smtClean="0"/>
              <a:t>previous </a:t>
            </a:r>
            <a:r>
              <a:rPr lang="fi-FI" dirty="0" smtClean="0"/>
              <a:t>point in time</a:t>
            </a:r>
          </a:p>
          <a:p>
            <a:r>
              <a:rPr lang="fi-FI" dirty="0" smtClean="0"/>
              <a:t>Therefore, it’s not possible to see the development </a:t>
            </a:r>
            <a:r>
              <a:rPr lang="fi-FI" i="1" dirty="0" smtClean="0"/>
              <a:t>trend </a:t>
            </a:r>
            <a:r>
              <a:rPr lang="fi-FI" dirty="0" smtClean="0"/>
              <a:t>of the open opportunity pipeline from the standard CRM data model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692174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Current Pipeline View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7624"/>
            <a:ext cx="9144000" cy="4514850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2971800" y="4838961"/>
            <a:ext cx="3048000" cy="1409439"/>
          </a:xfrm>
          <a:prstGeom prst="wedgeRoundRectCallout">
            <a:avLst>
              <a:gd name="adj1" fmla="val 92859"/>
              <a:gd name="adj2" fmla="val -50707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i="1" dirty="0" smtClean="0"/>
              <a:t>”Hmm, I wonder if our sales pipeline is healthier now than it was last month? Wish I would have taken a screenshot...”</a:t>
            </a:r>
            <a:endParaRPr lang="fi-FI" i="1" dirty="0"/>
          </a:p>
        </p:txBody>
      </p:sp>
    </p:spTree>
    <p:extLst>
      <p:ext uri="{BB962C8B-B14F-4D97-AF65-F5344CB8AC3E}">
        <p14:creationId xmlns:p14="http://schemas.microsoft.com/office/powerpoint/2010/main" val="195288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The </a:t>
            </a:r>
            <a:r>
              <a:rPr lang="fi-FI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 smtClean="0"/>
              <a:t>Create a custom entity ”Process Stage” to represent each stage in the opportunity business process flow</a:t>
            </a:r>
          </a:p>
          <a:p>
            <a:r>
              <a:rPr lang="fi-FI" dirty="0" smtClean="0"/>
              <a:t>Use Rollup Fields (new in CRM 2015) to collect information about open opportunity count and value in each stage onto this new entity</a:t>
            </a:r>
          </a:p>
          <a:p>
            <a:r>
              <a:rPr lang="fi-FI" dirty="0" smtClean="0"/>
              <a:t>Create a custom entity ”Snapshot” </a:t>
            </a:r>
            <a:r>
              <a:rPr lang="fi-FI" dirty="0"/>
              <a:t>to </a:t>
            </a:r>
            <a:r>
              <a:rPr lang="fi-FI" dirty="0" smtClean="0"/>
              <a:t>store historical data of the Rollup Field values</a:t>
            </a:r>
          </a:p>
          <a:p>
            <a:r>
              <a:rPr lang="fi-FI" dirty="0" smtClean="0"/>
              <a:t>Schedule a recurring workflow process to create new Snapshots once a week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13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Pipeline Snapshots: Solution Architecture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2036885" y="3200400"/>
            <a:ext cx="1524000" cy="6858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Process Stage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310181" y="4343400"/>
            <a:ext cx="1524000" cy="6858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Opportunity</a:t>
            </a:r>
            <a:endParaRPr lang="en-US" dirty="0"/>
          </a:p>
        </p:txBody>
      </p:sp>
      <p:cxnSp>
        <p:nvCxnSpPr>
          <p:cNvPr id="6" name="Elbow Connector 5"/>
          <p:cNvCxnSpPr>
            <a:stCxn id="4" idx="3"/>
            <a:endCxn id="3" idx="2"/>
          </p:cNvCxnSpPr>
          <p:nvPr/>
        </p:nvCxnSpPr>
        <p:spPr>
          <a:xfrm flipV="1">
            <a:off x="1834181" y="3886200"/>
            <a:ext cx="964704" cy="8001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65685" y="4343400"/>
            <a:ext cx="1524000" cy="6858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Snapshot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4018085" y="4495800"/>
            <a:ext cx="1524000" cy="6858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Snapshot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170485" y="4648200"/>
            <a:ext cx="1524000" cy="6858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Snapshot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590925"/>
            <a:ext cx="2535115" cy="2009543"/>
          </a:xfrm>
          <a:prstGeom prst="rect">
            <a:avLst/>
          </a:prstGeom>
        </p:spPr>
      </p:pic>
      <p:sp>
        <p:nvSpPr>
          <p:cNvPr id="16" name="Curved Down Arrow 15"/>
          <p:cNvSpPr/>
          <p:nvPr/>
        </p:nvSpPr>
        <p:spPr>
          <a:xfrm rot="19520373">
            <a:off x="429470" y="3462363"/>
            <a:ext cx="1676400" cy="381000"/>
          </a:xfrm>
          <a:prstGeom prst="curved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Down Arrow 16"/>
          <p:cNvSpPr/>
          <p:nvPr/>
        </p:nvSpPr>
        <p:spPr>
          <a:xfrm rot="2323604">
            <a:off x="3527689" y="3479900"/>
            <a:ext cx="1676400" cy="381000"/>
          </a:xfrm>
          <a:prstGeom prst="curved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urved Down Arrow 17"/>
          <p:cNvSpPr/>
          <p:nvPr/>
        </p:nvSpPr>
        <p:spPr>
          <a:xfrm rot="20467500">
            <a:off x="5629929" y="3953777"/>
            <a:ext cx="1676400" cy="381000"/>
          </a:xfrm>
          <a:prstGeom prst="curved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9405" y="1854374"/>
            <a:ext cx="2128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smtClean="0"/>
              <a:t>1. Rollup Fields automatically collect the metrics from open opportunities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715975" y="1866113"/>
            <a:ext cx="2128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</a:t>
            </a:r>
            <a:r>
              <a:rPr lang="fi-FI" dirty="0" smtClean="0"/>
              <a:t>. Recurring workflow creates historical snapshots of these metrics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666318" y="1866113"/>
            <a:ext cx="2128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smtClean="0"/>
              <a:t>3. Snapshots are visualized via charts to show weekly pipeline trend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802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Two Custom Entities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9682"/>
            <a:ext cx="5181600" cy="5441827"/>
          </a:xfrm>
          <a:prstGeom prst="rect">
            <a:avLst/>
          </a:prstGeom>
        </p:spPr>
      </p:pic>
      <p:sp>
        <p:nvSpPr>
          <p:cNvPr id="5" name="Rounded Rectangular Callout 4"/>
          <p:cNvSpPr/>
          <p:nvPr/>
        </p:nvSpPr>
        <p:spPr>
          <a:xfrm>
            <a:off x="5638800" y="1676400"/>
            <a:ext cx="2446218" cy="1981200"/>
          </a:xfrm>
          <a:prstGeom prst="wedgeRoundRectCallout">
            <a:avLst>
              <a:gd name="adj1" fmla="val -102059"/>
              <a:gd name="adj2" fmla="val 52667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Process Stage will be used as a lookup field on the opportunity records, to enable counting the Rollup Field values from related opportunities</a:t>
            </a:r>
            <a:endParaRPr lang="fi-FI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5638800" y="4038600"/>
            <a:ext cx="2446218" cy="1600200"/>
          </a:xfrm>
          <a:prstGeom prst="wedgeRoundRectCallout">
            <a:avLst>
              <a:gd name="adj1" fmla="val -100712"/>
              <a:gd name="adj2" fmla="val -8821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Snapshot will be used for capturing copies of the Rollup Fields values from Process Stage entity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548645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Two Rollup Fields on Process Stage Entity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314448"/>
            <a:ext cx="3000000" cy="38380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1" y="1295400"/>
            <a:ext cx="2971429" cy="3857143"/>
          </a:xfrm>
          <a:prstGeom prst="rect">
            <a:avLst/>
          </a:prstGeom>
        </p:spPr>
      </p:pic>
      <p:sp>
        <p:nvSpPr>
          <p:cNvPr id="6" name="Rounded Rectangular Callout 5"/>
          <p:cNvSpPr/>
          <p:nvPr/>
        </p:nvSpPr>
        <p:spPr>
          <a:xfrm>
            <a:off x="98187" y="2133600"/>
            <a:ext cx="2446218" cy="1600200"/>
          </a:xfrm>
          <a:prstGeom prst="wedgeRoundRectCallout">
            <a:avLst>
              <a:gd name="adj1" fmla="val 72171"/>
              <a:gd name="adj2" fmla="val 3143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Create Rollup Fields that retrieve data from the open child opportunities related to each process stage</a:t>
            </a:r>
            <a:endParaRPr lang="fi-FI" dirty="0"/>
          </a:p>
        </p:txBody>
      </p:sp>
      <p:sp>
        <p:nvSpPr>
          <p:cNvPr id="7" name="Rounded Rectangular Callout 6"/>
          <p:cNvSpPr/>
          <p:nvPr/>
        </p:nvSpPr>
        <p:spPr>
          <a:xfrm>
            <a:off x="1752600" y="5562600"/>
            <a:ext cx="2446218" cy="990600"/>
          </a:xfrm>
          <a:prstGeom prst="wedgeRoundRectCallout">
            <a:avLst>
              <a:gd name="adj1" fmla="val 14154"/>
              <a:gd name="adj2" fmla="val -97186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Use one Rollup Field to sum up the total estimated revenue</a:t>
            </a:r>
            <a:endParaRPr lang="fi-FI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5087867" y="5562600"/>
            <a:ext cx="2446218" cy="990600"/>
          </a:xfrm>
          <a:prstGeom prst="wedgeRoundRectCallout">
            <a:avLst>
              <a:gd name="adj1" fmla="val 14154"/>
              <a:gd name="adj2" fmla="val -97186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...And the other for counting the number of opportunities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531472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Linking Opportunities to Process Stages via Workflow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0"/>
            <a:ext cx="6096000" cy="3877149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5867400" y="3276600"/>
            <a:ext cx="2446218" cy="1147526"/>
          </a:xfrm>
          <a:prstGeom prst="wedgeRoundRectCallout">
            <a:avLst>
              <a:gd name="adj1" fmla="val -70341"/>
              <a:gd name="adj2" fmla="val -129558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Whenever the Opportunity’s BPF stage changes, run a workflow process...</a:t>
            </a:r>
            <a:endParaRPr lang="fi-FI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4419600" y="5315898"/>
            <a:ext cx="2446218" cy="1147526"/>
          </a:xfrm>
          <a:prstGeom prst="wedgeRoundRectCallout">
            <a:avLst>
              <a:gd name="adj1" fmla="val -154446"/>
              <a:gd name="adj2" fmla="val -81415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...Which updates the custom Process Stage field with a value that matches the BPF stage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48322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Process Stage with Related Opportunity data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10371"/>
            <a:ext cx="7969084" cy="3228429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990600" y="1295400"/>
            <a:ext cx="2446218" cy="1008651"/>
          </a:xfrm>
          <a:prstGeom prst="wedgeRoundRectCallout">
            <a:avLst>
              <a:gd name="adj1" fmla="val -12713"/>
              <a:gd name="adj2" fmla="val 20691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Use the standard Stage Category option set field to group data</a:t>
            </a:r>
            <a:endParaRPr lang="fi-FI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4862086" y="1274849"/>
            <a:ext cx="2446218" cy="1008651"/>
          </a:xfrm>
          <a:prstGeom prst="wedgeRoundRectCallout">
            <a:avLst>
              <a:gd name="adj1" fmla="val -47537"/>
              <a:gd name="adj2" fmla="val 217096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Related opportunity values roll up to the Process Stage form</a:t>
            </a:r>
            <a:endParaRPr lang="fi-FI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2438400" y="5867400"/>
            <a:ext cx="3352800" cy="703851"/>
          </a:xfrm>
          <a:prstGeom prst="wedgeRoundRectCallout">
            <a:avLst>
              <a:gd name="adj1" fmla="val -51318"/>
              <a:gd name="adj2" fmla="val -11443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Related opportunities shown in subgrid for quick reference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79355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Solution: “Scheduled Recurring Workflows”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790699"/>
          </a:xfrm>
        </p:spPr>
        <p:txBody>
          <a:bodyPr>
            <a:normAutofit fontScale="92500" lnSpcReduction="20000"/>
          </a:bodyPr>
          <a:lstStyle/>
          <a:p>
            <a:r>
              <a:rPr lang="fi-FI" dirty="0" smtClean="0"/>
              <a:t>Open source solution from </a:t>
            </a:r>
            <a:r>
              <a:rPr lang="fi-FI" dirty="0" smtClean="0">
                <a:hlinkClick r:id="rId2"/>
              </a:rPr>
              <a:t>Lucas Alexander</a:t>
            </a:r>
            <a:endParaRPr lang="fi-FI" dirty="0" smtClean="0"/>
          </a:p>
          <a:p>
            <a:r>
              <a:rPr lang="fi-FI" dirty="0" smtClean="0"/>
              <a:t>Contains one custom workflow activity that allows you to run a specific workflow process weekly/daily/hourly on specific records</a:t>
            </a:r>
            <a:endParaRPr lang="en-US" dirty="0"/>
          </a:p>
        </p:txBody>
      </p:sp>
      <p:pic>
        <p:nvPicPr>
          <p:cNvPr id="1026" name="Picture 2" descr="http://i1.code.msdn.s-msft.com/executing-dynamics-crm-93f3b52a/image/file/82332/1/scheduled_workflow_proces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05200"/>
            <a:ext cx="5366119" cy="307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2400" y="5821145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Download from: </a:t>
            </a:r>
            <a:r>
              <a:rPr lang="fi-FI" dirty="0">
                <a:hlinkClick r:id="rId4"/>
              </a:rPr>
              <a:t>http://</a:t>
            </a:r>
            <a:r>
              <a:rPr lang="fi-FI" dirty="0" smtClean="0">
                <a:hlinkClick r:id="rId4"/>
              </a:rPr>
              <a:t>bit.ly/crm</a:t>
            </a:r>
            <a:r>
              <a:rPr lang="fi-FI" b="1" dirty="0" smtClean="0">
                <a:hlinkClick r:id="rId4"/>
              </a:rPr>
              <a:t>sched</a:t>
            </a:r>
            <a:r>
              <a:rPr lang="fi-FI" dirty="0" smtClean="0">
                <a:hlinkClick r:id="rId4"/>
              </a:rPr>
              <a:t>wf</a:t>
            </a:r>
            <a:r>
              <a:rPr lang="fi-FI" dirty="0" smtClean="0"/>
              <a:t> 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6553200" y="3390899"/>
            <a:ext cx="1836618" cy="641175"/>
          </a:xfrm>
          <a:prstGeom prst="wedgeRoundRectCallout">
            <a:avLst>
              <a:gd name="adj1" fmla="val -130021"/>
              <a:gd name="adj2" fmla="val 12745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When this date is reached...</a:t>
            </a:r>
            <a:endParaRPr lang="fi-FI" dirty="0"/>
          </a:p>
        </p:txBody>
      </p:sp>
      <p:sp>
        <p:nvSpPr>
          <p:cNvPr id="7" name="Rounded Rectangular Callout 6"/>
          <p:cNvSpPr/>
          <p:nvPr/>
        </p:nvSpPr>
        <p:spPr>
          <a:xfrm>
            <a:off x="7010400" y="4568996"/>
            <a:ext cx="1836618" cy="641175"/>
          </a:xfrm>
          <a:prstGeom prst="wedgeRoundRectCallout">
            <a:avLst>
              <a:gd name="adj1" fmla="val -91125"/>
              <a:gd name="adj2" fmla="val 20173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Query for these records...</a:t>
            </a:r>
            <a:endParaRPr lang="fi-FI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6450132" y="5605041"/>
            <a:ext cx="2465268" cy="899720"/>
          </a:xfrm>
          <a:prstGeom prst="wedgeRoundRectCallout">
            <a:avLst>
              <a:gd name="adj1" fmla="val -74376"/>
              <a:gd name="adj2" fmla="val -69848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...And start a workflow process instance for each result 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91112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Configuring the Scheduled </a:t>
            </a:r>
            <a:r>
              <a:rPr lang="fi-FI" dirty="0"/>
              <a:t>P</a:t>
            </a:r>
            <a:r>
              <a:rPr lang="fi-FI" dirty="0" smtClean="0"/>
              <a:t>rocess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47800"/>
            <a:ext cx="6120450" cy="4999924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6705600" y="2286000"/>
            <a:ext cx="2209800" cy="907874"/>
          </a:xfrm>
          <a:prstGeom prst="wedgeRoundRectCallout">
            <a:avLst>
              <a:gd name="adj1" fmla="val -127004"/>
              <a:gd name="adj2" fmla="val 81989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Which workfow process do we want to schedule?</a:t>
            </a:r>
            <a:endParaRPr lang="fi-FI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6477000" y="3838313"/>
            <a:ext cx="2286000" cy="733687"/>
          </a:xfrm>
          <a:prstGeom prst="wedgeRoundRectCallout">
            <a:avLst>
              <a:gd name="adj1" fmla="val -90754"/>
              <a:gd name="adj2" fmla="val -3615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When should the process be executed?</a:t>
            </a:r>
            <a:endParaRPr lang="fi-FI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5638800" y="5029200"/>
            <a:ext cx="2438400" cy="997126"/>
          </a:xfrm>
          <a:prstGeom prst="wedgeRoundRectCallout">
            <a:avLst>
              <a:gd name="adj1" fmla="val -120832"/>
              <a:gd name="adj2" fmla="val -60987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What’s the (FetchXML) search crieria for records to run it on?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574985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Before Scheduling the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We’ll need the Fetch XML query criteria for the records the scheduled process will be searching for</a:t>
            </a:r>
          </a:p>
          <a:p>
            <a:pPr lvl="1"/>
            <a:r>
              <a:rPr lang="fi-FI" dirty="0" smtClean="0"/>
              <a:t>In our case, all active Process Stage records</a:t>
            </a:r>
          </a:p>
          <a:p>
            <a:r>
              <a:rPr lang="fi-FI" dirty="0" smtClean="0"/>
              <a:t>Then we’ll need the workflow process that we want to apply to all these records</a:t>
            </a:r>
          </a:p>
          <a:p>
            <a:pPr lvl="1"/>
            <a:r>
              <a:rPr lang="fi-FI" dirty="0" smtClean="0"/>
              <a:t>A workflow process to create a Snapshot record with the current pipeline values per each Process Stage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023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Grabbing the Query Criteria from Advanced Find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95400"/>
            <a:ext cx="6609524" cy="22952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429000"/>
            <a:ext cx="7028571" cy="3161905"/>
          </a:xfrm>
          <a:prstGeom prst="rect">
            <a:avLst/>
          </a:prstGeom>
        </p:spPr>
      </p:pic>
      <p:sp>
        <p:nvSpPr>
          <p:cNvPr id="5" name="Rounded Rectangular Callout 4"/>
          <p:cNvSpPr/>
          <p:nvPr/>
        </p:nvSpPr>
        <p:spPr>
          <a:xfrm>
            <a:off x="2466562" y="1295400"/>
            <a:ext cx="1981200" cy="762000"/>
          </a:xfrm>
          <a:prstGeom prst="wedgeRoundRectCallout">
            <a:avLst>
              <a:gd name="adj1" fmla="val -91427"/>
              <a:gd name="adj2" fmla="val 138239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Select the Process Stage entity</a:t>
            </a:r>
            <a:endParaRPr lang="fi-FI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6477000" y="1889212"/>
            <a:ext cx="1981200" cy="762000"/>
          </a:xfrm>
          <a:prstGeom prst="wedgeRoundRectCallout">
            <a:avLst>
              <a:gd name="adj1" fmla="val -101042"/>
              <a:gd name="adj2" fmla="val -2551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Select ”Download Fetch XML”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321191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Process Stage Snapshot Creation Workflow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105400"/>
            <a:ext cx="5700694" cy="14576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371601"/>
            <a:ext cx="6400800" cy="3344092"/>
          </a:xfrm>
          <a:prstGeom prst="rect">
            <a:avLst/>
          </a:prstGeom>
        </p:spPr>
      </p:pic>
      <p:sp>
        <p:nvSpPr>
          <p:cNvPr id="5" name="Rounded Rectangular Callout 4"/>
          <p:cNvSpPr/>
          <p:nvPr/>
        </p:nvSpPr>
        <p:spPr>
          <a:xfrm>
            <a:off x="6686550" y="1898737"/>
            <a:ext cx="2209800" cy="1219200"/>
          </a:xfrm>
          <a:prstGeom prst="wedgeRoundRectCallout">
            <a:avLst>
              <a:gd name="adj1" fmla="val -117952"/>
              <a:gd name="adj2" fmla="val -67229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Workflow is created agains the Process Stage entity, run as on-demand process</a:t>
            </a:r>
            <a:endParaRPr lang="fi-FI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6705600" y="4495800"/>
            <a:ext cx="2209800" cy="1752600"/>
          </a:xfrm>
          <a:prstGeom prst="wedgeRoundRectCallout">
            <a:avLst>
              <a:gd name="adj1" fmla="val -80021"/>
              <a:gd name="adj2" fmla="val 42485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Creates a new Snapshot record with values copied from the current Process Stage Rollup Fields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846823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Snapshots Created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447800"/>
            <a:ext cx="5923809" cy="5057143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5867400" y="3048000"/>
            <a:ext cx="2209800" cy="1752600"/>
          </a:xfrm>
          <a:prstGeom prst="wedgeRoundRectCallout">
            <a:avLst>
              <a:gd name="adj1" fmla="val -98555"/>
              <a:gd name="adj2" fmla="val -2871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The scheduled process will create new Snapshots for each Process Stage once a week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431071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Pipeline overview dashboard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19199"/>
            <a:ext cx="8153400" cy="5381975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6400800" y="4800600"/>
            <a:ext cx="2514600" cy="1524000"/>
          </a:xfrm>
          <a:prstGeom prst="wedgeRoundRectCallout">
            <a:avLst>
              <a:gd name="adj1" fmla="val 2581"/>
              <a:gd name="adj2" fmla="val -90586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Charts &amp; dashboards can be used for summarizing the pipeline development trends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189045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smtClean="0"/>
              <a:t>Final Notes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47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i-FI" dirty="0"/>
              <a:t>Read more articles on Microsoft Dynamics CRM customization best practices at </a:t>
            </a:r>
            <a:r>
              <a:rPr lang="fi-FI" dirty="0">
                <a:hlinkClick r:id="rId2"/>
              </a:rPr>
              <a:t>http://survivingcrm.com</a:t>
            </a:r>
            <a:r>
              <a:rPr lang="fi-FI" dirty="0" smtClean="0">
                <a:hlinkClick r:id="rId2"/>
              </a:rPr>
              <a:t>/</a:t>
            </a:r>
            <a:r>
              <a:rPr lang="fi-FI" dirty="0" smtClean="0"/>
              <a:t> </a:t>
            </a:r>
          </a:p>
          <a:p>
            <a:r>
              <a:rPr lang="fi-FI" dirty="0" smtClean="0"/>
              <a:t>Follow </a:t>
            </a:r>
            <a:r>
              <a:rPr lang="fi-FI" dirty="0" smtClean="0">
                <a:hlinkClick r:id="rId3"/>
              </a:rPr>
              <a:t>@jukkan</a:t>
            </a:r>
            <a:r>
              <a:rPr lang="fi-FI" dirty="0" smtClean="0"/>
              <a:t> on Twitter for the latest #MSDynCRM related news and tips</a:t>
            </a:r>
          </a:p>
          <a:p>
            <a:r>
              <a:rPr lang="fi-FI" dirty="0" smtClean="0"/>
              <a:t>Check out the Dynamics CRM </a:t>
            </a:r>
            <a:r>
              <a:rPr lang="fi-FI" dirty="0"/>
              <a:t>webcasts series at </a:t>
            </a:r>
            <a:r>
              <a:rPr lang="fi-FI" dirty="0">
                <a:hlinkClick r:id="rId4"/>
              </a:rPr>
              <a:t>http://</a:t>
            </a:r>
            <a:r>
              <a:rPr lang="fi-FI" dirty="0" smtClean="0">
                <a:hlinkClick r:id="rId4"/>
              </a:rPr>
              <a:t>msdynamicsworld.com/webcasts</a:t>
            </a:r>
            <a:r>
              <a:rPr lang="fi-FI" dirty="0" smtClean="0"/>
              <a:t> </a:t>
            </a:r>
          </a:p>
          <a:p>
            <a:r>
              <a:rPr lang="fi-FI" dirty="0" smtClean="0"/>
              <a:t>Thanks for viewing these slides &amp; enjoy customizing your Dynamics CRM environment!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045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45D77A42-99A4-4F29-A5C4-CC61A13B99E4}"/>
    </a:ext>
  </a:extLst>
</a:theme>
</file>

<file path=ppt/theme/theme2.xml><?xml version="1.0" encoding="utf-8"?>
<a:theme xmlns:a="http://schemas.openxmlformats.org/drawingml/2006/main" name="Mukautettu suunnittelumal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FFC12EE9-4900-4D96-BC6D-BE1F8A703730}"/>
    </a:ext>
  </a:extLst>
</a:theme>
</file>

<file path=ppt/theme/theme3.xml><?xml version="1.0" encoding="utf-8"?>
<a:theme xmlns:a="http://schemas.openxmlformats.org/drawingml/2006/main" name="1_Mukautettu suunnittelumal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9FBD5D33-D51F-43D9-93E4-80EF66E5D9C9}"/>
    </a:ext>
  </a:extLst>
</a:theme>
</file>

<file path=ppt/theme/theme4.xml><?xml version="1.0" encoding="utf-8"?>
<a:theme xmlns:a="http://schemas.openxmlformats.org/drawingml/2006/main" name="2_Mukautettu suunnittelumal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DA1CC48D-9C7E-4C78-97C4-84668C6F7F9A}"/>
    </a:ext>
  </a:extLst>
</a:theme>
</file>

<file path=ppt/theme/theme5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68957de-6112-48b5-9eb0-77d056a26262"/>
    <TaxKeywordTaxHTField xmlns="a68957de-6112-48b5-9eb0-77d056a26262">
      <Terms xmlns="http://schemas.microsoft.com/office/infopath/2007/PartnerControls"/>
    </TaxKeywordTaxHTFiel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I Document" ma:contentTypeID="0x010100E6A19B01B868244895E9E1DD18A8015F00CFEC1B033C0E194F9FCF606E5E4B8225" ma:contentTypeVersion="15" ma:contentTypeDescription="" ma:contentTypeScope="" ma:versionID="12b64278555ec8bb5fcf3b7a07c4f4ee">
  <xsd:schema xmlns:xsd="http://www.w3.org/2001/XMLSchema" xmlns:xs="http://www.w3.org/2001/XMLSchema" xmlns:p="http://schemas.microsoft.com/office/2006/metadata/properties" xmlns:ns2="a68957de-6112-48b5-9eb0-77d056a26262" targetNamespace="http://schemas.microsoft.com/office/2006/metadata/properties" ma:root="true" ma:fieldsID="e79fc47ad215c10967248eb4506130b9" ns2:_="">
    <xsd:import namespace="a68957de-6112-48b5-9eb0-77d056a2626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TaxKeyword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8957de-6112-48b5-9eb0-77d056a26262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580554e9-393c-4bd7-a20d-be8c0080392c}" ma:internalName="TaxCatchAll" ma:showField="CatchAllData" ma:web="1e923678-eea3-4704-b7fe-d4e44de166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580554e9-393c-4bd7-a20d-be8c0080392c}" ma:internalName="TaxCatchAllLabel" ma:readOnly="true" ma:showField="CatchAllDataLabel" ma:web="1e923678-eea3-4704-b7fe-d4e44de166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10" nillable="true" ma:taxonomy="true" ma:internalName="TaxKeywordTaxHTField" ma:taxonomyFieldName="TaxKeyword" ma:displayName="Enterprise Keywords" ma:fieldId="{23f27201-bee3-471e-b2e7-b64fd8b7ca38}" ma:taxonomyMulti="true" ma:sspId="649a360c-ce61-4166-b87e-c4cdda515172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Props1.xml><?xml version="1.0" encoding="utf-8"?>
<ds:datastoreItem xmlns:ds="http://schemas.openxmlformats.org/officeDocument/2006/customXml" ds:itemID="{3268629B-9075-4505-ACC9-29DA7209EE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D6B094-557C-46E5-A62E-A99772DA6067}">
  <ds:schemaRefs>
    <ds:schemaRef ds:uri="http://www.w3.org/XML/1998/namespace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a68957de-6112-48b5-9eb0-77d056a26262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50DE21F-524A-43A6-939F-D5CFAFB7F1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8957de-6112-48b5-9eb0-77d056a262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AB020148-C318-41E1-8776-6CD8ABC444D8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5105</TotalTime>
  <Words>924</Words>
  <Application>Microsoft Office PowerPoint</Application>
  <PresentationFormat>On-screen Show (4:3)</PresentationFormat>
  <Paragraphs>104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Office-teema</vt:lpstr>
      <vt:lpstr>Mukautettu suunnittelumalli</vt:lpstr>
      <vt:lpstr>1_Mukautettu suunnittelumalli</vt:lpstr>
      <vt:lpstr>2_Mukautettu suunnittelumalli</vt:lpstr>
      <vt:lpstr>A Non-Developer's Guide to Smarter Sales Processes in Microsoft Dynamics CRM 2015 - Part 3: Pipeline Development </vt:lpstr>
      <vt:lpstr>About This Presentation</vt:lpstr>
      <vt:lpstr>About Me</vt:lpstr>
      <vt:lpstr>Customizing Dynamics CRM as a Non-Developer</vt:lpstr>
      <vt:lpstr>Customization Scenarios Explored in This Series</vt:lpstr>
      <vt:lpstr>Pipeline Development</vt:lpstr>
      <vt:lpstr>The Problem</vt:lpstr>
      <vt:lpstr>Current Pipeline View</vt:lpstr>
      <vt:lpstr>The Solution</vt:lpstr>
      <vt:lpstr>Pipeline Snapshots: Solution Architecture</vt:lpstr>
      <vt:lpstr>Two Custom Entities</vt:lpstr>
      <vt:lpstr>Two Rollup Fields on Process Stage Entity</vt:lpstr>
      <vt:lpstr>Linking Opportunities to Process Stages via Workflow</vt:lpstr>
      <vt:lpstr>Process Stage with Related Opportunity data</vt:lpstr>
      <vt:lpstr>Solution: “Scheduled Recurring Workflows”</vt:lpstr>
      <vt:lpstr>Configuring the Scheduled Process</vt:lpstr>
      <vt:lpstr>Before Scheduling the Process</vt:lpstr>
      <vt:lpstr>Grabbing the Query Criteria from Advanced Find</vt:lpstr>
      <vt:lpstr>Process Stage Snapshot Creation Workflow</vt:lpstr>
      <vt:lpstr>Snapshots Created</vt:lpstr>
      <vt:lpstr>Pipeline overview dashboard</vt:lpstr>
      <vt:lpstr>Final Notes</vt:lpstr>
      <vt:lpstr>Next Steps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Non-Developer's Guide toSmarter Sales Processes inMicrosoft Dynamics CRM 2015</dc:title>
  <dc:creator>Jukka Niiranen</dc:creator>
  <cp:lastModifiedBy>Jukka Niiranen</cp:lastModifiedBy>
  <cp:revision>134</cp:revision>
  <dcterms:created xsi:type="dcterms:W3CDTF">2015-03-31T15:47:57Z</dcterms:created>
  <dcterms:modified xsi:type="dcterms:W3CDTF">2015-06-03T18:13:12Z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0x010100E6A19B01B868244895E9E1DD18A8015F00CFEC1B033C0E194F9FCF606E5E4B8225</vt:lpwstr>
  </property>
  <property fmtid="{D5CDD505-2E9C-101B-9397-08002B2CF9AE}" pid="3" name="_dlc_DocIdItemGuid">
    <vt:lpwstr>0b637fa5-84ed-461a-b878-3934951bf2fc</vt:lpwstr>
  </property>
</Properties>
</file>